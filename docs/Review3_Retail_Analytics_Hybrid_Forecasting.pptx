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7" r:id="rId31"/>
    <p:sldId id="285" r:id="rId32"/>
    <p:sldId id="286"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3A5F"/>
                </a:solidFill>
                <a:latin typeface="+mn-lt"/>
              </a:defRPr>
            </a:pPr>
            <a:r>
              <a:rPr lang="en-US" sz="1000" b="0" i="0" u="none" strike="noStrike">
                <a:solidFill>
                  <a:srgbClr val="1F3A5F"/>
                </a:solidFill>
                <a:latin typeface="+mn-lt"/>
              </a:rPr>
              <a:t>RMSE of the four hybrids (lower is better)</a:t>
            </a:r>
          </a:p>
        </c:rich>
      </c:tx>
      <c:overlay val="0"/>
    </c:title>
    <c:autoTitleDeleted val="0"/>
    <c:plotArea>
      <c:layout/>
      <c:barChart>
        <c:barDir val="col"/>
        <c:grouping val="clustered"/>
        <c:varyColors val="0"/>
        <c:ser>
          <c:idx val="0"/>
          <c:order val="0"/>
          <c:tx>
            <c:strRef>
              <c:f>Sheet1!$B$1</c:f>
              <c:strCache>
                <c:ptCount val="1"/>
                <c:pt idx="0">
                  <c:v>RMSE</c:v>
                </c:pt>
              </c:strCache>
            </c:strRef>
          </c:tx>
          <c:spPr>
            <a:solidFill>
              <a:srgbClr val="D9822B"/>
            </a:solidFill>
            <a:effectLst/>
          </c:spPr>
          <c:invertIfNegative val="0"/>
          <c:dPt>
            <c:idx val="0"/>
            <c:invertIfNegative val="0"/>
            <c:bubble3D val="0"/>
            <c:extLst>
              <c:ext xmlns:c16="http://schemas.microsoft.com/office/drawing/2014/chart" uri="{C3380CC4-5D6E-409C-BE32-E72D297353CC}">
                <c16:uniqueId val="{00000001-7D72-4831-A236-DBD7FE0DDA70}"/>
              </c:ext>
            </c:extLst>
          </c:dPt>
          <c:dPt>
            <c:idx val="1"/>
            <c:invertIfNegative val="0"/>
            <c:bubble3D val="0"/>
            <c:spPr>
              <a:solidFill>
                <a:srgbClr val="2E6FBA"/>
              </a:solidFill>
              <a:effectLst/>
            </c:spPr>
            <c:extLst>
              <c:ext xmlns:c16="http://schemas.microsoft.com/office/drawing/2014/chart" uri="{C3380CC4-5D6E-409C-BE32-E72D297353CC}">
                <c16:uniqueId val="{00000003-7D72-4831-A236-DBD7FE0DDA70}"/>
              </c:ext>
            </c:extLst>
          </c:dPt>
          <c:dPt>
            <c:idx val="2"/>
            <c:invertIfNegative val="0"/>
            <c:bubble3D val="0"/>
            <c:spPr>
              <a:solidFill>
                <a:srgbClr val="A9C4E8"/>
              </a:solidFill>
              <a:effectLst/>
            </c:spPr>
            <c:extLst>
              <c:ext xmlns:c16="http://schemas.microsoft.com/office/drawing/2014/chart" uri="{C3380CC4-5D6E-409C-BE32-E72D297353CC}">
                <c16:uniqueId val="{00000005-7D72-4831-A236-DBD7FE0DDA70}"/>
              </c:ext>
            </c:extLst>
          </c:dPt>
          <c:dPt>
            <c:idx val="3"/>
            <c:invertIfNegative val="0"/>
            <c:bubble3D val="0"/>
            <c:spPr>
              <a:solidFill>
                <a:srgbClr val="A9C4E8"/>
              </a:solidFill>
              <a:effectLst/>
            </c:spPr>
            <c:extLst>
              <c:ext xmlns:c16="http://schemas.microsoft.com/office/drawing/2014/chart" uri="{C3380CC4-5D6E-409C-BE32-E72D297353CC}">
                <c16:uniqueId val="{00000007-7D72-4831-A236-DBD7FE0DDA70}"/>
              </c:ext>
            </c:extLst>
          </c:dPt>
          <c:dLbls>
            <c:numFmt formatCode="0.00" sourceLinked="0"/>
            <c:spPr>
              <a:noFill/>
              <a:ln>
                <a:noFill/>
              </a:ln>
              <a:effectLst/>
            </c:spPr>
            <c:txPr>
              <a:bodyPr/>
              <a:lstStyle/>
              <a:p>
                <a:pPr>
                  <a:defRPr sz="800" b="0" i="0" u="none" strike="noStrike">
                    <a:solidFill>
                      <a:srgbClr val="1B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LSTM+XGB</c:v>
                </c:pt>
                <c:pt idx="1">
                  <c:v>GRU+XGB</c:v>
                </c:pt>
                <c:pt idx="2">
                  <c:v>LSTM+RF</c:v>
                </c:pt>
                <c:pt idx="3">
                  <c:v>GRU+RF</c:v>
                </c:pt>
              </c:strCache>
            </c:strRef>
          </c:cat>
          <c:val>
            <c:numRef>
              <c:f>Sheet1!$B$2:$B$5</c:f>
              <c:numCache>
                <c:formatCode>General</c:formatCode>
                <c:ptCount val="4"/>
                <c:pt idx="0">
                  <c:v>56.874499999999998</c:v>
                </c:pt>
                <c:pt idx="1">
                  <c:v>56.893000000000001</c:v>
                </c:pt>
                <c:pt idx="2">
                  <c:v>62.806600000000003</c:v>
                </c:pt>
                <c:pt idx="3">
                  <c:v>62.777799999999999</c:v>
                </c:pt>
              </c:numCache>
            </c:numRef>
          </c:val>
          <c:extLst>
            <c:ext xmlns:c16="http://schemas.microsoft.com/office/drawing/2014/chart" uri="{C3380CC4-5D6E-409C-BE32-E72D297353CC}">
              <c16:uniqueId val="{00000008-7D72-4831-A236-DBD7FE0DDA7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3A4650"/>
                </a:solidFill>
                <a:latin typeface="+mn-lt"/>
              </a:defRPr>
            </a:pPr>
            <a:endParaRPr lang="en-US"/>
          </a:p>
        </c:txPr>
        <c:crossAx val="2094734552"/>
        <c:crosses val="autoZero"/>
        <c:auto val="1"/>
        <c:lblAlgn val="ctr"/>
        <c:lblOffset val="100"/>
        <c:noMultiLvlLbl val="1"/>
      </c:catAx>
      <c:valAx>
        <c:axId val="2094734552"/>
        <c:scaling>
          <c:orientation val="minMax"/>
          <c:max val="66"/>
          <c:min val="50"/>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3A465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3A5F"/>
                </a:solidFill>
                <a:latin typeface="+mn-lt"/>
              </a:defRPr>
            </a:pPr>
            <a:r>
              <a:rPr lang="en-US" sz="1000" b="0" i="0" u="none" strike="noStrike">
                <a:solidFill>
                  <a:srgbClr val="1F3A5F"/>
                </a:solidFill>
                <a:latin typeface="+mn-lt"/>
              </a:rPr>
              <a:t>R2 (all 10; DL on monthly totals)</a:t>
            </a:r>
          </a:p>
        </c:rich>
      </c:tx>
      <c:overlay val="0"/>
    </c:title>
    <c:autoTitleDeleted val="0"/>
    <c:plotArea>
      <c:layout/>
      <c:barChart>
        <c:barDir val="col"/>
        <c:grouping val="clustered"/>
        <c:varyColors val="0"/>
        <c:ser>
          <c:idx val="0"/>
          <c:order val="0"/>
          <c:tx>
            <c:strRef>
              <c:f>Sheet1!$B$1</c:f>
              <c:strCache>
                <c:ptCount val="1"/>
                <c:pt idx="0">
                  <c:v>R2</c:v>
                </c:pt>
              </c:strCache>
            </c:strRef>
          </c:tx>
          <c:spPr>
            <a:solidFill>
              <a:srgbClr val="2E6FBA"/>
            </a:solidFill>
            <a:effectLst/>
          </c:spPr>
          <c:invertIfNegative val="0"/>
          <c:dPt>
            <c:idx val="0"/>
            <c:invertIfNegative val="0"/>
            <c:bubble3D val="0"/>
            <c:extLst>
              <c:ext xmlns:c16="http://schemas.microsoft.com/office/drawing/2014/chart" uri="{C3380CC4-5D6E-409C-BE32-E72D297353CC}">
                <c16:uniqueId val="{00000001-B378-4EE5-A183-FB8E1844959C}"/>
              </c:ext>
            </c:extLst>
          </c:dPt>
          <c:dPt>
            <c:idx val="1"/>
            <c:invertIfNegative val="0"/>
            <c:bubble3D val="0"/>
            <c:extLst>
              <c:ext xmlns:c16="http://schemas.microsoft.com/office/drawing/2014/chart" uri="{C3380CC4-5D6E-409C-BE32-E72D297353CC}">
                <c16:uniqueId val="{00000003-B378-4EE5-A183-FB8E1844959C}"/>
              </c:ext>
            </c:extLst>
          </c:dPt>
          <c:dPt>
            <c:idx val="2"/>
            <c:invertIfNegative val="0"/>
            <c:bubble3D val="0"/>
            <c:extLst>
              <c:ext xmlns:c16="http://schemas.microsoft.com/office/drawing/2014/chart" uri="{C3380CC4-5D6E-409C-BE32-E72D297353CC}">
                <c16:uniqueId val="{00000005-B378-4EE5-A183-FB8E1844959C}"/>
              </c:ext>
            </c:extLst>
          </c:dPt>
          <c:dPt>
            <c:idx val="3"/>
            <c:invertIfNegative val="0"/>
            <c:bubble3D val="0"/>
            <c:extLst>
              <c:ext xmlns:c16="http://schemas.microsoft.com/office/drawing/2014/chart" uri="{C3380CC4-5D6E-409C-BE32-E72D297353CC}">
                <c16:uniqueId val="{00000007-B378-4EE5-A183-FB8E1844959C}"/>
              </c:ext>
            </c:extLst>
          </c:dPt>
          <c:dPt>
            <c:idx val="4"/>
            <c:invertIfNegative val="0"/>
            <c:bubble3D val="0"/>
            <c:spPr>
              <a:solidFill>
                <a:srgbClr val="9AA5B1"/>
              </a:solidFill>
              <a:effectLst/>
            </c:spPr>
            <c:extLst>
              <c:ext xmlns:c16="http://schemas.microsoft.com/office/drawing/2014/chart" uri="{C3380CC4-5D6E-409C-BE32-E72D297353CC}">
                <c16:uniqueId val="{00000009-B378-4EE5-A183-FB8E1844959C}"/>
              </c:ext>
            </c:extLst>
          </c:dPt>
          <c:dPt>
            <c:idx val="5"/>
            <c:invertIfNegative val="0"/>
            <c:bubble3D val="0"/>
            <c:spPr>
              <a:solidFill>
                <a:srgbClr val="9AA5B1"/>
              </a:solidFill>
              <a:effectLst/>
            </c:spPr>
            <c:extLst>
              <c:ext xmlns:c16="http://schemas.microsoft.com/office/drawing/2014/chart" uri="{C3380CC4-5D6E-409C-BE32-E72D297353CC}">
                <c16:uniqueId val="{0000000B-B378-4EE5-A183-FB8E1844959C}"/>
              </c:ext>
            </c:extLst>
          </c:dPt>
          <c:dPt>
            <c:idx val="6"/>
            <c:invertIfNegative val="0"/>
            <c:bubble3D val="0"/>
            <c:spPr>
              <a:solidFill>
                <a:srgbClr val="D9822B"/>
              </a:solidFill>
              <a:effectLst/>
            </c:spPr>
            <c:extLst>
              <c:ext xmlns:c16="http://schemas.microsoft.com/office/drawing/2014/chart" uri="{C3380CC4-5D6E-409C-BE32-E72D297353CC}">
                <c16:uniqueId val="{0000000D-B378-4EE5-A183-FB8E1844959C}"/>
              </c:ext>
            </c:extLst>
          </c:dPt>
          <c:dPt>
            <c:idx val="7"/>
            <c:invertIfNegative val="0"/>
            <c:bubble3D val="0"/>
            <c:spPr>
              <a:solidFill>
                <a:srgbClr val="A9C4E8"/>
              </a:solidFill>
              <a:effectLst/>
            </c:spPr>
            <c:extLst>
              <c:ext xmlns:c16="http://schemas.microsoft.com/office/drawing/2014/chart" uri="{C3380CC4-5D6E-409C-BE32-E72D297353CC}">
                <c16:uniqueId val="{0000000F-B378-4EE5-A183-FB8E1844959C}"/>
              </c:ext>
            </c:extLst>
          </c:dPt>
          <c:dPt>
            <c:idx val="8"/>
            <c:invertIfNegative val="0"/>
            <c:bubble3D val="0"/>
            <c:spPr>
              <a:solidFill>
                <a:srgbClr val="A9C4E8"/>
              </a:solidFill>
              <a:effectLst/>
            </c:spPr>
            <c:extLst>
              <c:ext xmlns:c16="http://schemas.microsoft.com/office/drawing/2014/chart" uri="{C3380CC4-5D6E-409C-BE32-E72D297353CC}">
                <c16:uniqueId val="{00000011-B378-4EE5-A183-FB8E1844959C}"/>
              </c:ext>
            </c:extLst>
          </c:dPt>
          <c:dPt>
            <c:idx val="9"/>
            <c:invertIfNegative val="0"/>
            <c:bubble3D val="0"/>
            <c:spPr>
              <a:solidFill>
                <a:srgbClr val="A9C4E8"/>
              </a:solidFill>
              <a:effectLst/>
            </c:spPr>
            <c:extLst>
              <c:ext xmlns:c16="http://schemas.microsoft.com/office/drawing/2014/chart" uri="{C3380CC4-5D6E-409C-BE32-E72D297353CC}">
                <c16:uniqueId val="{00000013-B378-4EE5-A183-FB8E1844959C}"/>
              </c:ext>
            </c:extLst>
          </c:dPt>
          <c:dLbls>
            <c:numFmt formatCode="0.00" sourceLinked="0"/>
            <c:spPr>
              <a:noFill/>
              <a:ln>
                <a:noFill/>
              </a:ln>
              <a:effectLst/>
            </c:spPr>
            <c:txPr>
              <a:bodyPr/>
              <a:lstStyle/>
              <a:p>
                <a:pPr>
                  <a:defRPr sz="700" b="0" i="0" u="none" strike="noStrike">
                    <a:solidFill>
                      <a:srgbClr val="1B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LinReg</c:v>
                </c:pt>
                <c:pt idx="1">
                  <c:v>DT</c:v>
                </c:pt>
                <c:pt idx="2">
                  <c:v>RF</c:v>
                </c:pt>
                <c:pt idx="3">
                  <c:v>XGB</c:v>
                </c:pt>
                <c:pt idx="4">
                  <c:v>LSTM</c:v>
                </c:pt>
                <c:pt idx="5">
                  <c:v>GRU</c:v>
                </c:pt>
                <c:pt idx="6">
                  <c:v>LSTM+XGB</c:v>
                </c:pt>
                <c:pt idx="7">
                  <c:v>LSTM+RF</c:v>
                </c:pt>
                <c:pt idx="8">
                  <c:v>GRU+XGB</c:v>
                </c:pt>
                <c:pt idx="9">
                  <c:v>GRU+RF</c:v>
                </c:pt>
              </c:strCache>
            </c:strRef>
          </c:cat>
          <c:val>
            <c:numRef>
              <c:f>Sheet1!$B$2:$B$11</c:f>
              <c:numCache>
                <c:formatCode>General</c:formatCode>
                <c:ptCount val="10"/>
                <c:pt idx="0">
                  <c:v>0.67749999999999999</c:v>
                </c:pt>
                <c:pt idx="1">
                  <c:v>0.86309999999999998</c:v>
                </c:pt>
                <c:pt idx="2">
                  <c:v>0.89049999999999996</c:v>
                </c:pt>
                <c:pt idx="3">
                  <c:v>0.90969999999999995</c:v>
                </c:pt>
                <c:pt idx="4">
                  <c:v>-2.4935</c:v>
                </c:pt>
                <c:pt idx="5">
                  <c:v>-2.8464</c:v>
                </c:pt>
                <c:pt idx="6">
                  <c:v>0.91</c:v>
                </c:pt>
                <c:pt idx="7">
                  <c:v>0.89029999999999998</c:v>
                </c:pt>
                <c:pt idx="8">
                  <c:v>0.91</c:v>
                </c:pt>
                <c:pt idx="9">
                  <c:v>0.89039999999999997</c:v>
                </c:pt>
              </c:numCache>
            </c:numRef>
          </c:val>
          <c:extLst>
            <c:ext xmlns:c16="http://schemas.microsoft.com/office/drawing/2014/chart" uri="{C3380CC4-5D6E-409C-BE32-E72D297353CC}">
              <c16:uniqueId val="{00000014-B378-4EE5-A183-FB8E1844959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700" b="0" i="0" u="none" strike="noStrike">
                <a:solidFill>
                  <a:srgbClr val="3A4650"/>
                </a:solidFill>
                <a:latin typeface="+mn-lt"/>
              </a:defRPr>
            </a:pPr>
            <a:endParaRPr lang="en-US"/>
          </a:p>
        </c:txPr>
        <c:crossAx val="2094734552"/>
        <c:crosses val="autoZero"/>
        <c:auto val="1"/>
        <c:lblAlgn val="ctr"/>
        <c:lblOffset val="100"/>
        <c:noMultiLvlLbl val="1"/>
      </c:catAx>
      <c:valAx>
        <c:axId val="2094734552"/>
        <c:scaling>
          <c:orientation val="minMax"/>
          <c:max val="1.5"/>
          <c:min val="-3.5"/>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3A465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3A5F"/>
                </a:solidFill>
                <a:latin typeface="+mn-lt"/>
              </a:defRPr>
            </a:pPr>
            <a:r>
              <a:rPr lang="en-IN" sz="1000" b="0" i="0" u="none" strike="noStrike">
                <a:solidFill>
                  <a:srgbClr val="1F3A5F"/>
                </a:solidFill>
                <a:latin typeface="+mn-lt"/>
              </a:rPr>
              <a:t>MAE vs RMSE (transaction level)</a:t>
            </a:r>
          </a:p>
        </c:rich>
      </c:tx>
      <c:overlay val="0"/>
    </c:title>
    <c:autoTitleDeleted val="0"/>
    <c:plotArea>
      <c:layout/>
      <c:barChart>
        <c:barDir val="col"/>
        <c:grouping val="clustered"/>
        <c:varyColors val="0"/>
        <c:ser>
          <c:idx val="0"/>
          <c:order val="0"/>
          <c:tx>
            <c:strRef>
              <c:f>Sheet1!$B$1</c:f>
              <c:strCache>
                <c:ptCount val="1"/>
                <c:pt idx="0">
                  <c:v>MAE</c:v>
                </c:pt>
              </c:strCache>
            </c:strRef>
          </c:tx>
          <c:spPr>
            <a:solidFill>
              <a:srgbClr val="2E6FBA"/>
            </a:solidFill>
            <a:effectLst/>
          </c:spPr>
          <c:invertIfNegative val="0"/>
          <c:cat>
            <c:strRef>
              <c:f>Sheet1!$A$2:$A$9</c:f>
              <c:strCache>
                <c:ptCount val="8"/>
                <c:pt idx="0">
                  <c:v>LinReg</c:v>
                </c:pt>
                <c:pt idx="1">
                  <c:v>DecTree</c:v>
                </c:pt>
                <c:pt idx="2">
                  <c:v>RandFor</c:v>
                </c:pt>
                <c:pt idx="3">
                  <c:v>XGBoost</c:v>
                </c:pt>
                <c:pt idx="4">
                  <c:v>LSTM+XGB</c:v>
                </c:pt>
                <c:pt idx="5">
                  <c:v>LSTM+RF</c:v>
                </c:pt>
                <c:pt idx="6">
                  <c:v>GRU+XGB</c:v>
                </c:pt>
                <c:pt idx="7">
                  <c:v>GRU+RF</c:v>
                </c:pt>
              </c:strCache>
            </c:strRef>
          </c:cat>
          <c:val>
            <c:numRef>
              <c:f>Sheet1!$B$2:$B$9</c:f>
              <c:numCache>
                <c:formatCode>General</c:formatCode>
                <c:ptCount val="8"/>
                <c:pt idx="0">
                  <c:v>79.177899999999994</c:v>
                </c:pt>
                <c:pt idx="1">
                  <c:v>37.470199999999998</c:v>
                </c:pt>
                <c:pt idx="2">
                  <c:v>34.345500000000001</c:v>
                </c:pt>
                <c:pt idx="3">
                  <c:v>32.759399999999999</c:v>
                </c:pt>
                <c:pt idx="4">
                  <c:v>32.690100000000001</c:v>
                </c:pt>
                <c:pt idx="5">
                  <c:v>34.381399999999999</c:v>
                </c:pt>
                <c:pt idx="6">
                  <c:v>32.7027</c:v>
                </c:pt>
                <c:pt idx="7">
                  <c:v>34.370100000000001</c:v>
                </c:pt>
              </c:numCache>
            </c:numRef>
          </c:val>
          <c:extLst>
            <c:ext xmlns:c16="http://schemas.microsoft.com/office/drawing/2014/chart" uri="{C3380CC4-5D6E-409C-BE32-E72D297353CC}">
              <c16:uniqueId val="{00000000-51D9-49F7-ACAA-12BE80E177D5}"/>
            </c:ext>
          </c:extLst>
        </c:ser>
        <c:ser>
          <c:idx val="1"/>
          <c:order val="1"/>
          <c:tx>
            <c:strRef>
              <c:f>Sheet1!$C$1</c:f>
              <c:strCache>
                <c:ptCount val="1"/>
                <c:pt idx="0">
                  <c:v>RMSE</c:v>
                </c:pt>
              </c:strCache>
            </c:strRef>
          </c:tx>
          <c:spPr>
            <a:solidFill>
              <a:srgbClr val="A9C4E8"/>
            </a:solidFill>
            <a:effectLst/>
          </c:spPr>
          <c:invertIfNegative val="0"/>
          <c:cat>
            <c:strRef>
              <c:f>Sheet1!$A$2:$A$9</c:f>
              <c:strCache>
                <c:ptCount val="8"/>
                <c:pt idx="0">
                  <c:v>LinReg</c:v>
                </c:pt>
                <c:pt idx="1">
                  <c:v>DecTree</c:v>
                </c:pt>
                <c:pt idx="2">
                  <c:v>RandFor</c:v>
                </c:pt>
                <c:pt idx="3">
                  <c:v>XGBoost</c:v>
                </c:pt>
                <c:pt idx="4">
                  <c:v>LSTM+XGB</c:v>
                </c:pt>
                <c:pt idx="5">
                  <c:v>LSTM+RF</c:v>
                </c:pt>
                <c:pt idx="6">
                  <c:v>GRU+XGB</c:v>
                </c:pt>
                <c:pt idx="7">
                  <c:v>GRU+RF</c:v>
                </c:pt>
              </c:strCache>
            </c:strRef>
          </c:cat>
          <c:val>
            <c:numRef>
              <c:f>Sheet1!$C$2:$C$9</c:f>
              <c:numCache>
                <c:formatCode>General</c:formatCode>
                <c:ptCount val="8"/>
                <c:pt idx="0">
                  <c:v>107.6767</c:v>
                </c:pt>
                <c:pt idx="1">
                  <c:v>70.149000000000001</c:v>
                </c:pt>
                <c:pt idx="2">
                  <c:v>62.747300000000003</c:v>
                </c:pt>
                <c:pt idx="3">
                  <c:v>56.978000000000002</c:v>
                </c:pt>
                <c:pt idx="4">
                  <c:v>56.874499999999998</c:v>
                </c:pt>
                <c:pt idx="5">
                  <c:v>62.806600000000003</c:v>
                </c:pt>
                <c:pt idx="6">
                  <c:v>56.893000000000001</c:v>
                </c:pt>
                <c:pt idx="7">
                  <c:v>62.777799999999999</c:v>
                </c:pt>
              </c:numCache>
            </c:numRef>
          </c:val>
          <c:extLst>
            <c:ext xmlns:c16="http://schemas.microsoft.com/office/drawing/2014/chart" uri="{C3380CC4-5D6E-409C-BE32-E72D297353CC}">
              <c16:uniqueId val="{00000001-51D9-49F7-ACAA-12BE80E177D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700" b="0" i="0" u="none" strike="noStrike">
                <a:solidFill>
                  <a:srgbClr val="3A4650"/>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3A465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F3A5F"/>
                </a:solidFill>
                <a:latin typeface="+mn-lt"/>
              </a:defRPr>
            </a:pPr>
            <a:r>
              <a:rPr lang="en-IN" sz="1000" b="0" i="0" u="none" strike="noStrike">
                <a:solidFill>
                  <a:srgbClr val="1F3A5F"/>
                </a:solidFill>
                <a:latin typeface="+mn-lt"/>
              </a:rPr>
              <a:t>MAPE % (transaction level)</a:t>
            </a:r>
          </a:p>
        </c:rich>
      </c:tx>
      <c:overlay val="0"/>
    </c:title>
    <c:autoTitleDeleted val="0"/>
    <c:plotArea>
      <c:layout/>
      <c:barChart>
        <c:barDir val="col"/>
        <c:grouping val="clustered"/>
        <c:varyColors val="0"/>
        <c:ser>
          <c:idx val="0"/>
          <c:order val="0"/>
          <c:tx>
            <c:strRef>
              <c:f>Sheet1!$B$1</c:f>
              <c:strCache>
                <c:ptCount val="1"/>
                <c:pt idx="0">
                  <c:v>MAPE</c:v>
                </c:pt>
              </c:strCache>
            </c:strRef>
          </c:tx>
          <c:spPr>
            <a:solidFill>
              <a:srgbClr val="2E6FBA"/>
            </a:solidFill>
            <a:effectLst/>
          </c:spPr>
          <c:invertIfNegative val="0"/>
          <c:dPt>
            <c:idx val="0"/>
            <c:invertIfNegative val="0"/>
            <c:bubble3D val="0"/>
            <c:extLst>
              <c:ext xmlns:c16="http://schemas.microsoft.com/office/drawing/2014/chart" uri="{C3380CC4-5D6E-409C-BE32-E72D297353CC}">
                <c16:uniqueId val="{00000001-B97E-4CEB-A668-CD05712C4A72}"/>
              </c:ext>
            </c:extLst>
          </c:dPt>
          <c:dPt>
            <c:idx val="1"/>
            <c:invertIfNegative val="0"/>
            <c:bubble3D val="0"/>
            <c:extLst>
              <c:ext xmlns:c16="http://schemas.microsoft.com/office/drawing/2014/chart" uri="{C3380CC4-5D6E-409C-BE32-E72D297353CC}">
                <c16:uniqueId val="{00000003-B97E-4CEB-A668-CD05712C4A72}"/>
              </c:ext>
            </c:extLst>
          </c:dPt>
          <c:dPt>
            <c:idx val="2"/>
            <c:invertIfNegative val="0"/>
            <c:bubble3D val="0"/>
            <c:extLst>
              <c:ext xmlns:c16="http://schemas.microsoft.com/office/drawing/2014/chart" uri="{C3380CC4-5D6E-409C-BE32-E72D297353CC}">
                <c16:uniqueId val="{00000005-B97E-4CEB-A668-CD05712C4A72}"/>
              </c:ext>
            </c:extLst>
          </c:dPt>
          <c:dPt>
            <c:idx val="3"/>
            <c:invertIfNegative val="0"/>
            <c:bubble3D val="0"/>
            <c:extLst>
              <c:ext xmlns:c16="http://schemas.microsoft.com/office/drawing/2014/chart" uri="{C3380CC4-5D6E-409C-BE32-E72D297353CC}">
                <c16:uniqueId val="{00000007-B97E-4CEB-A668-CD05712C4A72}"/>
              </c:ext>
            </c:extLst>
          </c:dPt>
          <c:dPt>
            <c:idx val="4"/>
            <c:invertIfNegative val="0"/>
            <c:bubble3D val="0"/>
            <c:spPr>
              <a:solidFill>
                <a:srgbClr val="D9822B"/>
              </a:solidFill>
              <a:effectLst/>
            </c:spPr>
            <c:extLst>
              <c:ext xmlns:c16="http://schemas.microsoft.com/office/drawing/2014/chart" uri="{C3380CC4-5D6E-409C-BE32-E72D297353CC}">
                <c16:uniqueId val="{00000009-B97E-4CEB-A668-CD05712C4A72}"/>
              </c:ext>
            </c:extLst>
          </c:dPt>
          <c:dPt>
            <c:idx val="5"/>
            <c:invertIfNegative val="0"/>
            <c:bubble3D val="0"/>
            <c:spPr>
              <a:solidFill>
                <a:srgbClr val="A9C4E8"/>
              </a:solidFill>
              <a:effectLst/>
            </c:spPr>
            <c:extLst>
              <c:ext xmlns:c16="http://schemas.microsoft.com/office/drawing/2014/chart" uri="{C3380CC4-5D6E-409C-BE32-E72D297353CC}">
                <c16:uniqueId val="{0000000B-B97E-4CEB-A668-CD05712C4A72}"/>
              </c:ext>
            </c:extLst>
          </c:dPt>
          <c:dPt>
            <c:idx val="6"/>
            <c:invertIfNegative val="0"/>
            <c:bubble3D val="0"/>
            <c:spPr>
              <a:solidFill>
                <a:srgbClr val="A9C4E8"/>
              </a:solidFill>
              <a:effectLst/>
            </c:spPr>
            <c:extLst>
              <c:ext xmlns:c16="http://schemas.microsoft.com/office/drawing/2014/chart" uri="{C3380CC4-5D6E-409C-BE32-E72D297353CC}">
                <c16:uniqueId val="{0000000D-B97E-4CEB-A668-CD05712C4A72}"/>
              </c:ext>
            </c:extLst>
          </c:dPt>
          <c:dPt>
            <c:idx val="7"/>
            <c:invertIfNegative val="0"/>
            <c:bubble3D val="0"/>
            <c:spPr>
              <a:solidFill>
                <a:srgbClr val="A9C4E8"/>
              </a:solidFill>
              <a:effectLst/>
            </c:spPr>
            <c:extLst>
              <c:ext xmlns:c16="http://schemas.microsoft.com/office/drawing/2014/chart" uri="{C3380CC4-5D6E-409C-BE32-E72D297353CC}">
                <c16:uniqueId val="{0000000F-B97E-4CEB-A668-CD05712C4A72}"/>
              </c:ext>
            </c:extLst>
          </c:dPt>
          <c:cat>
            <c:strRef>
              <c:f>Sheet1!$A$2:$A$9</c:f>
              <c:strCache>
                <c:ptCount val="8"/>
                <c:pt idx="0">
                  <c:v>LinReg</c:v>
                </c:pt>
                <c:pt idx="1">
                  <c:v>DecTree</c:v>
                </c:pt>
                <c:pt idx="2">
                  <c:v>RandFor</c:v>
                </c:pt>
                <c:pt idx="3">
                  <c:v>XGBoost</c:v>
                </c:pt>
                <c:pt idx="4">
                  <c:v>LSTM+XGB</c:v>
                </c:pt>
                <c:pt idx="5">
                  <c:v>LSTM+RF</c:v>
                </c:pt>
                <c:pt idx="6">
                  <c:v>GRU+XGB</c:v>
                </c:pt>
                <c:pt idx="7">
                  <c:v>GRU+RF</c:v>
                </c:pt>
              </c:strCache>
            </c:strRef>
          </c:cat>
          <c:val>
            <c:numRef>
              <c:f>Sheet1!$B$2:$B$9</c:f>
              <c:numCache>
                <c:formatCode>General</c:formatCode>
                <c:ptCount val="8"/>
                <c:pt idx="0">
                  <c:v>172.72540000000001</c:v>
                </c:pt>
                <c:pt idx="1">
                  <c:v>42.684100000000001</c:v>
                </c:pt>
                <c:pt idx="2">
                  <c:v>37.572099999999999</c:v>
                </c:pt>
                <c:pt idx="3">
                  <c:v>34.881399999999999</c:v>
                </c:pt>
                <c:pt idx="4">
                  <c:v>34.555199999999999</c:v>
                </c:pt>
                <c:pt idx="5">
                  <c:v>37.630899999999997</c:v>
                </c:pt>
                <c:pt idx="6">
                  <c:v>34.415900000000001</c:v>
                </c:pt>
                <c:pt idx="7">
                  <c:v>37.661099999999998</c:v>
                </c:pt>
              </c:numCache>
            </c:numRef>
          </c:val>
          <c:extLst>
            <c:ext xmlns:c16="http://schemas.microsoft.com/office/drawing/2014/chart" uri="{C3380CC4-5D6E-409C-BE32-E72D297353CC}">
              <c16:uniqueId val="{00000010-B97E-4CEB-A668-CD05712C4A7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700" b="0" i="0" u="none" strike="noStrike">
                <a:solidFill>
                  <a:srgbClr val="3A4650"/>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3A465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0069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45 seconds). This is Review-3. Review-2 showed the end-to-end retail analytics pipeline. Review-3 answers the faculty's specific requirement: a hybrid model, chosen by experiment, positioned against published literature.
Say: 'I evaluated ten configurations on the Global Superstore data - four ML baselines, two deep-learning baselines and four hybrid combinations - and selected the proposed TATFF-XGBLSTM from measured results. The literature review shows which pairings are already published, so my contribution is framed around the specific feature-level fusion and the systematic comparison, not around inventing LSTM+XGBoost.'
LIKELY QUESTION: What changed since Review-2? Answer: Review-2 used a random 80/20 row split with four ML models. Review-3 adds a chronological split, LSTM and GRU, four hybrids, a literature study and a research-gap analysis. Because the split changed, baseline numbers differ slightly from Review-2 (XGBoost R2 0.9116 then, 0.9097 now). Say this proactively.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SLIDE SAYS: Descriptive retail analytics does not forecast; a single transaction-level model ignores the monthly sales trajectory; and a standalone sequence model on aggregated sales cannot use product, customer and region attributes.
WHAT TO SAY: 'The problem is that two kinds of information exist in this dataset - temporal (monthly sales history) and structured (transaction attributes) - and one model type usually sees only one of them. The faculty asked for a hybrid, so the objective is to test several ways of combining both and select by evidence.'
LIKELY VIVA Q: Why hybrid at all? A: Faculty requirement, and also because the two information sources are complementary; the results show the hybrid is at least as good as XGBoost, and measurably (though modestly) better.
Q: Why is Sales the target? A: It is the primary business quantity; all downstream analytics (scenario, dashboard) already use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come straight from Review-2 (slides 2 and 7). 51,290 rows, no duplicates, 48 months.
WHAT TO SAY: 'Global Superstore is transaction-level retail data with temporal, product, customer and geographic attributes - exactly the combination a temporal-plus-tabular hybrid needs.'
CAUTION: Review-2 states the source file as data/Global_Superstore.csv read with latin-1 encoding; the original publisher is not recorded in the project files, so the references slide cites the dataset by name only. Do not invent a URL.
LIKELY VIVA Q: Is 48 months enough for an LSTM? A: It is small. That is a stated limitation and is the reason the recurrent model's output is used as a feature rather than as the final predictor; future work lists longer and more granular series.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checks are Review-2 results. The important honesty point is the IQR-capping caveat: capping Sales, Quantity, Discount and Profit reduced total sales by about 30 percent versus raw (12.64 M to 8.84 M). Every figure in this deck is on capped data.
WHAT TO SAY: 'Rows were capped, not deleted, so all 51,290 transactions stay; the cost is that very large sales are compressed, so performance on genuinely extreme transactions is untested.'
LIKELY VIVA Q: Why cap instead of remove? A: Removal would break order/customer counts used by RFM and CLV. Q: Does capping inflate R2? A: Probably yes - it removes the hardest cases. This is stated as a limitation.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Review-2 slides 8 and 9 (EDA_Results.xlsx, post-capping). The chart image is the Review-2 monthly sales trend.
WHAT TO SAY: 'Sales grow every year and show a clear within-year pattern - the temporal signal that motivates the recurrent component. Discount is negatively correlated with profit (-0.576).'
LINK TO MODELLING: an upward trend with repeating monthly structure is what an LSTM/GRU can learn, and it is information that transaction attributes alone do not carry.
LIKELY VIVA Q: Are correlations causal? A: No, they are associations in historical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(Review-2): 27 engineered features take the dataset from 24 to 51 columns in five groups. For Review-3 modelling, the script uses a fixed list of 22 candidate predictors and deliberately excludes Sales-derived features (Sales per Quantity, Net Sales, customer/product total sales etc.) to avoid target leakage.
HONEST POINTS (they will be asked):
1) The separate feature-selection study (variance, correlation &gt; 0.80) is exploratory; the ML script does not read its output file.
2) Shipping Cost is still a predictor. It is often derived from order value, so a leakage risk remains; Review-2 flagged this. Say: 'Sales-derived columns are excluded; Shipping Cost remains and is a stated limitation. A feature-ablation without it is future work.'
3) The hybrid adds one more feature: the LSTM/GRU temporal prediction.
Q: What prevents target leakage? A: Sales-derived engineered features are excluded; the split is chronological; the temporal feature for a month uses only the six preceding months of sales. Residual risk: Shipping Cost.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covers the seven papers supplied in the literature ZIP. They fall into three groups, which structure the next five slides.
A) Published tree-plus-recurrent hybrids: Punia et al. 2020 (LSTM + RF, residual design), Yadav and Barde 2025 (LSTM + XGBoost system), Bachhav 2026 (RF + GRU), Sahin and Cubukcu 2026 (multi-patch LSTM + RF).
B) Comparative studies, not fusion hybrids: Falatouri et al. 2022 (LSTM vs SARIMA/SARIMAX), Sankar et al. 2025 (LSTM, GRU, RF, XGB and two ensembles on Walmart).
C) Advanced single-architecture DL: Suresh et al. 2026 (Meta-LLSTM).
KEY MESSAGE: 'Every pairing I tested - LSTM+RF, LSTM+XGB, GRU+RF - has a published neighbour. That is why I do not claim the pairs as new.' Be careful with GRU+XGB: Sankar et al. compare GRU and XGB as separate models and ensembles, not as a fused GRU+XGB hybrid, so say 'closest published work' rather than 'published GRU+XGB'.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 of the literature study. Entries come from the PDFs, with two corrections to the brief that you should know about:
- Falatouri et al. is a comparison of LSTM with SARIMA/SARIMAX, not a combined hybrid. It is listed as 'comparison' for that reason.
- Sankar et al. evaluated separate models plus LSTM-GRU and RF-XGB ensembles; its best R2 was GRU at 0.98.
WHAT TO SAY: 'Four of the seven papers combine a recurrent network with a tree ensemble; none of them is a transaction-level feature fusion on a Superstore-type dataset.'
Q: How does your work differ from Punia et al.? A: Punia models the LSTM residuals with RF and adds the two forecasts (residual design, series-level data). Mine feeds the LSTM prediction as an input feature to XGBoost on transaction rows - no residual step and no summing.
Q: How does your work differ from Yadav and Barde? A: Their paper describes an LSTM + XGBoost web system (POS integration, React/Flask) and reports R2 above 0.90 without a metric table or stated baselines; the fusion mechanism is not specified. Mine specifies the fusion and reports full metrics.
Q: How does your work differ from the 2026 LSTM+RF work? A: Sahin and Cubukcu feed LSTM feature vectors from multi-day patches into RF on a daily aggregated series; mine feeds a monthly LSTM forecast into XGBoost at transaction level.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 compares fusion designs. Where a paper does not describe a mechanism I have written that explicitly, as instructed. Do not upgrade those cells.
KEY MESSAGE: published designs fall into (1) residual correction (Punia), (2) representation/feature vectors into a tree model (Sahin and Cubukcu), (3) side-by-side comparison (Falatouri, Sankar), (4) described combinations with unspecified fusion (Yadav and Barde, Bachhav). Mine is feature-level injection of a forecast.
Be candid that the Sahin and Cubukcu design is conceptually the nearest neighbour: LSTM output becomes input to a tree ensemble. The differences are the series (daily aggregate vs monthly forecast injected into transaction rows), the recurrent output (feature vectors vs a one-step sales forecast), and the tree learner.
Q: Why is fusion strategy the focus? A: Because the pair LSTM+XGB is not new; how information flows between the components is what differs.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 Details were read from the PDFs. Two things to flag if asked:
- Punia et al. text is inconsistent on offline store count (abstract says sixteen, Section 4.1 says eleven offline stores; 16 products x 12 channels = 192 series is consistent with eleven offline plus one online). I used Section 4.1.
- For Yadav and Barde and Bachhav the papers do not state dataset size/period in the parts I reviewed; the table says so instead of guessing.
WHAT TO SAY: 'Datasets range from 25 thousand to 37 thousand rows, in different domains, with daily, weekly or one-step setups. That is why numbers are not comparable across papers, and why I use a common experimental framework for my four hybrids.'
Q: Why can literature metrics not be compared numerically with yours? A: Different datasets, scales, horizons, aggregation levels and splits; for example R2 0.9918 is on a daily aggregated furniture series, mine is on transaction rows.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was compared against what, and how it was scored.
Observations to state: (1) almost every study includes both a statistical/linear and a standalone-ML/DL baseline; (2) metric sets differ - Punia uses relative errors (ARME, ARMAE, ARMSE) with Diebold-Mariano and Pesaran-Timmermann tests, others use MAE/RMSE/R2/MAPE; (3) only Punia reports significance tests - I do not, and list it as future work.
Note on Bachhav: the comparison table lists LR, SVM, RNN and ANN values quoted from other studies, so it is not a controlled same-data comparison. Good example of why cross-paper numbers are weak evidence.
Q: Why did you choose MAE/MSE/RMSE/R2/MAPE/SMAPE? A: They cover absolute, squared, explained-variance and percentage error and are the metrics most used across these papers. MAPE is unstable near zero sales, so SMAPE is reported too.
Q: Faculty asked for Adjusted R2, Davies-Bouldin, Calinski-Harabasz. A: Adjusted R2 was not computed in the executed implementation and is not reported. Silhouette was used for K-Means; DBI and CH were not computed. Do not quote values for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 uses only values printed in the papers. Falatouri LSTM values are per product on the January 2020 test month (MAPE in percent, RMSE in units). Yadav and Barde report no metric table, only R2 above 0.90, so it is labelled qualitative. Suresh: only the abstract RMSE is quoted.
WHAT TO SAY: 'These numbers give context, not a leaderboard: they are on different data, scales and horizons.' If pressed to compare with your 0.9100: 'R2 of roughly 0.95 to 0.99 appears in aggregated weekly/daily series; my R2 is at transaction level where individual sales are much noisier. A transaction-level R2 of 0.91 is not directly comparable.'
Q: Does your model perform well compared with the literature? A: On my dataset it improves on my strongest baseline; against the literature I use methodological, not numeric, comparison - the literature table makes the reasons clear.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'Existing Work -&gt; Gap -&gt; Our Contribution' slide.
A correction to the brief that I applied: the draft row 'Studies often focus on one proposed hybrid' is only partly true. Sahin and Cubukcu tested 200 configurations (4 RNN types x 5 ensemble options x patch/seasonal-layer settings) on a daily aggregated series. So I phrased the gap as 'systematic comparison exists on aggregated series; this work compares four configurations at transaction level on Global Superstore'.
WHAT TO SAY: 'The gap is not that nobody combined recurrent and tree models. The gap I address is narrower: a common, leakage-aware framework comparing four recurrent-tree pairings with the recurrent forecast injected as a feature into transaction-level rows, on a retail transaction dataset.'
Q: Why multiple hybrid experiments? A: To avoid assuming one pairing is best; the results show XGBoost hybrids beat RF hybrids and LSTM/GRU differences are tiny.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cautious wording exactly. The slide states what is NOT claimed first.
Verification summary: LSTM+RF is published (Punia 2020; Sahin and Cubukcu 2026). LSTM+XGBoost is described in a published system paper (Yadav and Barde 2025). RF+GRU appears in Bachhav 2026. GRU and XGB are compared in Sankar 2025 but as separate models/ensembles. Hence no pair is claimed as new.
What remains: (1) the specific fusion - a one-step LSTM sales forecast added as a feature to transaction-level XGBoost rows; (2) the 2x2 comparison under one framework; (3) the Global Superstore implementation; (4) experiment-driven selection; (5) integration with the retail analytics pipeline.
Be prepared: the closest prior art on fusion is Sahin and Cubukcu (LSTM feature vectors into RF). Say so before the faculty does.
Q: What exactly is novel? A: Not the pair. The configuration and evaluation: the way the temporal forecast enters the transaction model, and the systematic comparison on this dataset. 'Novel' here means a new configuration and evaluation, verified against the supplied literature only - not a worldwide search.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baselines: four tabular ML models on transaction rows and two recurrent models on the monthly series.
WHY BASELINES: they set the reference point; without them no hybrid improvement can be claimed. They also form a ladder - linear, single tree, bagged trees, boosted trees - showing how much non-linearity the data has.
Q: Why XGBoost? A: It was the strongest standalone ML baseline in Review-2 and again here, and it handles mixed numeric/one-hot inputs and non-linear interactions well; so it is the natural tabular partner for the temporal feature.
Q: Why LSTM? A: It is the standard gated recurrent model for sequences and is the most common recurrent partner in the literature I reviewed. Q: Why GRU? A: It is a lighter alternative with fewer parameters; including it checks whether the recurrent choice matters.
Implementation facts: DT max_depth 12; RF 150 trees, depth 15; XGBoost 300 trees, lr 0.05, depth 6; LSTM/GRU 16 units, dropout 0.15, Huber loss, lookback 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are exactly the executed results. ML models: 15,857 chronological test transactions. LSTM/GRU: 10 test months of aggregate monthly sales, so their MAE/RMSE are in monthly-total units (about 118k and 141k) and are NOT comparable with transaction-level MAE of about 33.
How to read: LinReg weakest (R2 0.6775); Decision Tree jumps to 0.8631; RF 0.8905; XGBoost 0.9097 - the strongest standalone ML model.
DL: say 'performed poorly under this project's specific experimental setup'. Reasons: only 38 training months (about 32 training sequences), monthly aggregate target versus transaction-level evaluation, and R2 on 10 test points is extremely sensitive. Do not say recurrent models are bad in general; Sankar et al. report R2 of 0.96 to 0.98 for LSTM/GRU on weekly Walmart data.
Q: Why did standalone LSTM/GRU perform poorly? A: Small monthly series, a rising trend that the model must extrapolate beyond its training range, and a different evaluation level; this is the reason they are used as feature generators.
Q: Why differ from Review-2 XGBoost (0.9116)? A: Review-2 used a random row split; Review-3 uses a chronological split, which is harder.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faculty asked for multiple hybrid combinations selected by experiment. This 2x2 design isolates two factors: the recurrent learner (LSTM or GRU) and the tree learner (XGBoost or Random Forest).
All four use the same chronological split, the same lookback (6 months), the same 22 transaction predictors plus one temporal feature, and the same metrics. LSTM and GRU have identical architecture sizes (16 units); XGBoost hybrids share one hyperparameter set and RF hybrids share another.
Q: Why multiple hybrid experiments? A: To avoid selecting a hybrid by assumption and to see which factor matters - here it is the tree learner, not the recurrent learner.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values from the executed runs. Observations: (1) XGBoost hybrids outperform RF hybrids on every metric; (2) LSTM+XGB and GRU+XGB tie at R2 0.9100; (3) LSTM+XGB has slightly better MAE (32.6901) and RMSE (56.8745); (4) GRU+XGB has slightly better MAPE (34.4159%).
Important honest observation: the RF hybrids are essentially equal to plain Random Forest (R2 0.8903/0.8904 vs 0.8905; MAE 34.38/34.37 vs 34.35), so the temporal feature did not help Random Forest; only the XGBoost pairings gained, and only slightly.
So the selection must be based on the overall metric profile and architecture rationale, not a single metric.
Q: Why not choose GRU+XGB since MAPE is lowest? A: Differences are in the third significant digit and untested statistically; MAE, RMSE (the metrics XGBoost optimises through squared-error) favour LSTM+XGB, R2 ties. Both are defensible; LSTM is also the pairing most represented in the literature, so the comparison is easier to contextualise.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TATFF-XGBLSTM = Temporal-Aware Transaction Feature Fusion XGBoost-LSTM. It is MY proposed configuration; it is not a literature model and has no publication year.
Key idea: the LSTM is NOT the final predictor. It reads the previous six months of aggregated sales and produces a one-step temporal prediction for the month; that number is attached to every transaction of that month as an extra feature; XGBoost then predicts transaction-level Sales from the 22 attributes plus this feature.
Be ready to explain: temporal feature for month m uses sales from months m-6 to m-1 only. For training months the LSTM is evaluated on months it was trained on (in-sample), while for test months it forecasts from known history; the first six months have no prediction and use the mean of the first six months as a fallback. These are limitations of the single-split design.
Q: How does the hybrid combine temporal and transaction information? A: By concatenating the LSTM output with transaction features before the XGBoost step (feature-level fusion); no weighting (alpha) and no residual correction.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end-to-end research workflow from data to business insight. Bottom: the proposed branch in detail.
Walk through the bottom branch left to right: Historical Monthly Sales -&gt; LSTM -&gt; LSTM Temporal Prediction -&gt; Feature Fusion (together with Transaction Features coming from above) -&gt; XGBoost -&gt; Final Sales Prediction.
Say explicitly: 'There is no alpha/gamma weighting and no residual correction. The LSTM contributes a learned feature, nothing else.' This distinguishes it from Punia et al., who use a residual design.
WHAT PREVENTS LEAKAGE: chronological split; scaler fitted on training months only; Sales-derived columns excluded; test months' temporal feature built only from past months. Remaining risk: Shipping Cost as a predictor.
Explainability (SHAP/LIME) and Power BI sit after evaluation; the existing explainability is for the XGBoost sales model.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chronological split: 48 months, 80/20 -&gt; 38 training months (Jan 2011 - Feb 2014) and 10 test months (Mar 2014 - Dec 2014). The same date cutoff is applied to transactions: 35,433 training rows and 15,857 test rows. Recurrent models are evaluated on monthly totals; ML and hybrid models on transactions.
HOW WERE TRAIN/TEST PERIODS SELECTED? A: Time order is preserved - the test period is strictly later than the training period, and one date cutoff is shared by every model so they are comparable. This fixes the Review-2 weakness (random split).
VALIDATION: for LSTM/GRU, 20% of the training sequences (the chronologically last ones, shuffle off) are used as validation for early stopping (patience 15, max 120 epochs, batch 4, Huber loss, Adam). Scaling: log1p then StandardScaler fitted on training months only. ML pipelines: StandardScaler on numeric, one-hot on categorical. Hyperparameters are fixed, not tuned, and there is no cross-validation - state this as a limitation.
Q: What prevents target leakage? See slide 6 and 20 notes. Q: Why a 6-month lookback? A: A fixed choice covering half a year of seasonality given 38 training months; it was not tuned.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which metrics were computed. Executed in the implementation: MAE, MSE, RMSE, R2, MAPE and SMAPE for all ten models. MAPE excludes rows with zero actual sales; SMAPE excludes zero denominators.
Faculty-requested but NOT computed in the executed implementation: Adjusted R2. Do not report a value. If asked, say it can be derived from R2, the number of test rows and the number of encoded predictors, and it is listed under future work. For clustering, Silhouette was computed (Review-2: highest at k=2, score 0.6666); Davies-Bouldin and Calinski-Harabasz were not computed.
Why several metrics? MAE is robust and interpretable; MSE/RMSE penalise large errors; R2 shows variance explained; MAPE gives percentage error but explodes for small actual values (see Linear Regression 172.7%); SMAPE is the symmetric alternative.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table of all ten configurations (exact values). Colour code in the next slide. Highlighted row = proposed model.
Reading guide: lower is better for MAE, RMSE, MAPE, SMAPE; higher for R2. The two DL baselines are on monthly totals, so their MAE/RMSE are shown for completeness only and must not be compared with the transaction-level rows.
Statement to use: 'The XGBoost-based models cluster at the top; the proposed model is best or near-best on every metric, and GRU+XGB is marginally better on MAPE and SMAPE.' Do not say 'best on every metric'.
SMAPE values: LSTM+XGB 28.1627, GRU+XGB 28.1024, XGBoost 28.2216, RF 30.1128, LSTM+RF 30.1140, GRU+RF 30.1156, DT 32.7357, LR 72.052; LSTM 50.9176, GRU 53.4625.</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charts because the metrics have different scales (as requested): R2 (all ten models), MAE vs RMSE (the eight transaction-level models; LSTM/GRU omitted because their monthly-total errors are about 3,000 times larger and on a different level), and MAPE (transaction-level models).
RANKINGS (eight transaction-level models): By R2: LSTM+XGB and GRU+XGB tie (0.9100), XGBoost 0.9097. By RMSE: LSTM+XGB 56.8745, GRU+XGB 56.8930, XGBoost 56.9780. By MAE: LSTM+XGB 32.6901, GRU+XGB 32.7027, XGBoost 32.7594. By MAPE: GRU+XGB 34.4159, LSTM+XGB 34.5552, XGBoost 34.8814.
Take-away: three XGBoost-based models are consistently the top three, with differences in the third to fourth significant digit. I do not call any one model 'best overall'; I say 'strongest/near-best overall profile'.
Q: Is the difference statistically significant? A: Not tested; there is a single split. Statistical testing (e.g. Diebold-Mariano as in Punia et al.) is future work.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Improvements computed from the executed values: MAE (32.7594-32.6901)/32.7594 = 0.21%; RMSE 0.18%; MAPE 0.94%; R2 +0.0003. They are small but consistently in the same direction on the metrics.
EXPLANATION (faculty-required): (1) XGBoost already captures non-linear transaction relationships; (2) the LSTM supplies monthly temporal context that transaction attributes only partly represent (Order Month/Year proxy it); (3) fusion gives XGBoost that context; (4) since the baseline is already strong, the gain is incremental; (5) so the hybrid improves slightly, not dramatically; (6) the recurrent model is more useful as a feature generator than as a final predictor here (its standalone monthly R2 is negative).
HONEST CAVEATS TO VOLUNTEER: (a) the baseline XGBoost (300 trees, lr 0.05) and hybrid XGBoost (350 trees, lr 0.04, min_child_weight 2) use different hyperparameters, so part of the gain may come from tuning rather than the temporal feature; a same-hyperparameter ablation is future work; (b) single split, no significance test; (c) RF hybrids did not improve over plain RF, so the benefit of the temporal feature is not general.
Q: Why is the improvement small? A: Strong baseline, Order Year/Month already encode some temporal information, and the temporal feature is one scalar per month.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table. The selected model is LSTM+XGB (TATFF-XGBLSTM); GRU+XGB is the alternative; both RF hybrids are not selected.
WHY LSTM+XGB OVER GRU+XGB: it has the best MAE and RMSE among all hybrids, ties on R2 (0.9100), and the MAE/RMSE are the scale-dependent metrics that XGBoost's squared-error objective is most aligned with. GRU+XGB is better only on MAPE (34.4159 vs 34.5552) and SMAPE (28.1024 vs 28.1627). The margins are tiny, so say clearly that GRU+XGB is an equally defensible alternative and that selection is on overall metric profile and architecture rationale, not one metric.
Q: Why was TATFF-XGBLSTM selected over GRU+XGB? A: Best MAE/RMSE among hybrids, identical R2, and the pairing sits next to the most documented recurrent-tree designs, which makes the contribution easier to position. Q: Would the answer change with another seed or split? A: Possibly - differences are in the 3rd-4th digit and no repeated runs or significance tests were done; I acknowledge this.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Methodological comparison, not a numeric leaderboard. Key line (read it aloud): 'Literature results are used for contextual benchmarking and methodological comparison; direct numerical comparison is limited because datasets, horizons, scales and evaluation setups differ.'
Adjustment to the brief: 'Hybrid comparison: Often limited' is softened because Sahin and Cubukcu compare 200 configurations. My point is the transaction-level 2x2 on a retail transaction dataset.
Q: Why can literature metrics not be directly compared? A: Different datasets (Walmart weekly, furniture daily aggregate, PoS store-product, Superstore transactions), different target scale (R2 0.9918 on a smooth daily series vs 0.9100 on noisy transaction rows), horizons, split designs and metric definitions.
Q: Should the proposed hybrid be compared with literature models? A: Where meaningful - i.e. same design family. The meaningful comparison here is implementing the same pairings (LSTM+RF, GRU+RF, GRU+XGB) on my dataset, which is exactly the 2x2 experiment.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60 seconds. Lead with: strongest standalone ML = XGBoost; DL alone poor in this setup; hybrid XGBoost slightly better; RF hybrids do not improve; LSTM+XGB vs GRU+XGB extremely close; modest improvement is credible.
Limitations to state without being asked: single chronological split; fixed (untuned) hyperparameters; baseline and hybrid XGBoost use different settings; 48 monthly points only; IQR-capped data; Shipping Cost as predictor; temporal feature in-sample for training months; no significance tests; Adjusted R2 not computed.
Q: Does the result prove the hybrid is better? A: It shows a small, consistent improvement on this split. It does not prove generalisation; external datasets and repeated/rolling evaluation are listed as future work.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recap slide, not the focus. Figures are from Review-2: K-Means k=2 (silhouette 0.6666; 755 high-value, 835 low-value customers); RFM on 1,590 customers (High 515 customers = about 62% of capped sales); CLV total 8.87 M (descriptive, lifespan derived from recency inflates lapsed customers); discount scenario: predicted sales flat to 10% discount then fall to -11.54% at 50%; quantity predictions saturate above the capped range; MySQL table retail_analytics.sales_data; Power BI six pages.
EXPLAINABILITY: the existing SHAP and LIME work is for the XGBoost Sales Prediction Model, so it is labelled that way. The three plot panels below are placeholders: no SHAP/LIME output files were supplied with this request, so insert your SHAP feature-importance, SHAP summary and LIME local-explanation figures here. Likewise insert a Power BI screenshot; the Review-2 deck documents the six pages but contained no screenshot. Do NOT present SHAP/LIME as a Review-3 faculty requirement and do not claim they explain the hybrid.
Q: Do SHAP/LIME explain the hybrid model? A: Not yet - they were run on the XGBoost sales model; extending them to include the temporal feature is future work.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columns left to right.
CONCLUSION WORDING: XGBoost was the strongest standalone ML baseline; temporal deep-learning information can complement transaction-level models; the feature-level fusion model slightly improves XGBoost; multiple hybrids were run before selection; the contribution is the specific temporal-feature fusion and systematic evaluation, NOT inventing LSTM+XGBoost; results support the proposed model for this Global Superstore implementation.
FUTURE WORK is not implemented - say 'planned', not 'done'. Highest-value next steps if asked: same-hyperparameter ablation and repeated/rolling-origin evaluation with significance tests, removing Shipping Cost, and an external retail dataset.
Final line: 'The improvement is modest, and I would rather report that honestly than overstate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references are taken from the supplied PDFs. DOIs are shown only where printed in the source; none were added. Bachhav 2026 and Falatouri 2022 do not show a DOI in the extracted text, so none is given. The Global Superstore dataset is cited by name only because the project files record the file name (Global_Superstore.csv) but not the original publisher or URL; add the source URL you downloaded it from.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F3A5F"/>
          </a:solidFill>
          <a:ln/>
        </p:spPr>
      </p:sp>
      <p:sp>
        <p:nvSpPr>
          <p:cNvPr id="3" name="Text 1"/>
          <p:cNvSpPr/>
          <p:nvPr/>
        </p:nvSpPr>
        <p:spPr>
          <a:xfrm>
            <a:off x="411480" y="4846320"/>
            <a:ext cx="6400800" cy="228600"/>
          </a:xfrm>
          <a:prstGeom prst="rect">
            <a:avLst/>
          </a:prstGeom>
          <a:noFill/>
          <a:ln/>
        </p:spPr>
        <p:txBody>
          <a:bodyPr wrap="square" lIns="0" tIns="0" rIns="0" bIns="0" rtlCol="0" anchor="ctr"/>
          <a:lstStyle/>
          <a:p>
            <a:pPr marL="0" indent="0">
              <a:buNone/>
            </a:pPr>
            <a:r>
              <a:rPr lang="en-US" sz="800" dirty="0">
                <a:solidFill>
                  <a:srgbClr val="7A8793"/>
                </a:solidFill>
              </a:rPr>
              <a:t>Review-3  |  Retail Analytics: Hybrid Sales Forecasting (Global Superstore)</a:t>
            </a:r>
            <a:endParaRPr lang="en-US" sz="800" dirty="0"/>
          </a:p>
        </p:txBody>
      </p:sp>
      <p:sp>
        <p:nvSpPr>
          <p:cNvPr id="4" name="Shape 2"/>
          <p:cNvSpPr/>
          <p:nvPr/>
        </p:nvSpPr>
        <p:spPr>
          <a:xfrm>
            <a:off x="411480" y="4818888"/>
            <a:ext cx="8321040" cy="0"/>
          </a:xfrm>
          <a:prstGeom prst="line">
            <a:avLst/>
          </a:prstGeom>
          <a:noFill/>
          <a:ln w="6350">
            <a:solidFill>
              <a:srgbClr val="D5DBE1"/>
            </a:solidFill>
            <a:prstDash val="solid"/>
          </a:ln>
        </p:spPr>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F3A5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ctr"/>
          <a:lstStyle/>
          <a:p>
            <a:pPr marL="0" indent="0">
              <a:buNone/>
            </a:pPr>
            <a:r>
              <a:rPr lang="en-US" sz="1200" b="1" kern="0" spc="400" dirty="0">
                <a:solidFill>
                  <a:srgbClr val="A9C4E8"/>
                </a:solidFill>
              </a:rPr>
              <a:t>PROJECT REVIEW - 3</a:t>
            </a:r>
            <a:endParaRPr lang="en-US" sz="1200" dirty="0"/>
          </a:p>
        </p:txBody>
      </p:sp>
      <p:sp>
        <p:nvSpPr>
          <p:cNvPr id="3" name="Text 1"/>
          <p:cNvSpPr txBox="1"/>
          <p:nvPr/>
        </p:nvSpPr>
        <p:spPr>
          <a:xfrm>
            <a:off x="548640" y="868680"/>
            <a:ext cx="8046720" cy="1188720"/>
          </a:xfrm>
          <a:prstGeom prst="rect">
            <a:avLst/>
          </a:prstGeom>
          <a:noFill/>
          <a:ln/>
        </p:spPr>
        <p:txBody>
          <a:bodyPr wrap="square" lIns="0" tIns="0" rIns="0" bIns="0" rtlCol="0" anchor="t"/>
          <a:lstStyle/>
          <a:p>
            <a:pPr marL="0" indent="0">
              <a:buNone/>
            </a:pPr>
            <a:r>
              <a:rPr lang="en-US" sz="3000" b="1" dirty="0">
                <a:solidFill>
                  <a:srgbClr val="FFFFFF"/>
                </a:solidFill>
              </a:rPr>
              <a:t>Retail Analytics: Hybrid Sales Forecasting using Machine Learning and Deep Learning</a:t>
            </a:r>
            <a:endParaRPr lang="en-US" sz="3000" dirty="0"/>
          </a:p>
        </p:txBody>
      </p:sp>
      <p:sp>
        <p:nvSpPr>
          <p:cNvPr id="4" name="Text 2"/>
          <p:cNvSpPr txBox="1"/>
          <p:nvPr/>
        </p:nvSpPr>
        <p:spPr>
          <a:xfrm>
            <a:off x="548640" y="2148840"/>
            <a:ext cx="7498080" cy="640080"/>
          </a:xfrm>
          <a:prstGeom prst="rect">
            <a:avLst/>
          </a:prstGeom>
          <a:noFill/>
          <a:ln/>
        </p:spPr>
        <p:txBody>
          <a:bodyPr wrap="square" lIns="0" tIns="0" rIns="0" bIns="0" rtlCol="0" anchor="t"/>
          <a:lstStyle/>
          <a:p>
            <a:pPr marL="0" indent="0">
              <a:buNone/>
            </a:pPr>
            <a:r>
              <a:rPr lang="en-US" sz="1400" dirty="0">
                <a:solidFill>
                  <a:srgbClr val="DCE7F5"/>
                </a:solidFill>
              </a:rPr>
              <a:t>Literature-driven comparison of four LSTM/GRU x XGBoost/Random Forest hybrids and the proposed TATFF-XGBLSTM model</a:t>
            </a:r>
            <a:endParaRPr lang="en-US" sz="1400" dirty="0"/>
          </a:p>
        </p:txBody>
      </p:sp>
      <p:sp>
        <p:nvSpPr>
          <p:cNvPr id="5" name="Text 3"/>
          <p:cNvSpPr txBox="1"/>
          <p:nvPr/>
        </p:nvSpPr>
        <p:spPr>
          <a:xfrm>
            <a:off x="548640" y="3108960"/>
            <a:ext cx="1828800" cy="502920"/>
          </a:xfrm>
          <a:prstGeom prst="rect">
            <a:avLst/>
          </a:prstGeom>
          <a:noFill/>
          <a:ln/>
        </p:spPr>
        <p:txBody>
          <a:bodyPr wrap="square" lIns="0" tIns="0" rIns="0" bIns="0" rtlCol="0" anchor="ctr"/>
          <a:lstStyle/>
          <a:p>
            <a:pPr marL="0" indent="0">
              <a:buNone/>
            </a:pPr>
            <a:r>
              <a:rPr lang="en-US" sz="2800" b="1" dirty="0">
                <a:solidFill>
                  <a:srgbClr val="F2B56B"/>
                </a:solidFill>
              </a:rPr>
              <a:t>51,290</a:t>
            </a:r>
            <a:endParaRPr lang="en-US" sz="2800" dirty="0"/>
          </a:p>
        </p:txBody>
      </p:sp>
      <p:sp>
        <p:nvSpPr>
          <p:cNvPr id="6" name="Text 4"/>
          <p:cNvSpPr txBox="1"/>
          <p:nvPr/>
        </p:nvSpPr>
        <p:spPr>
          <a:xfrm>
            <a:off x="548640" y="3611880"/>
            <a:ext cx="1828800" cy="274320"/>
          </a:xfrm>
          <a:prstGeom prst="rect">
            <a:avLst/>
          </a:prstGeom>
          <a:noFill/>
          <a:ln/>
        </p:spPr>
        <p:txBody>
          <a:bodyPr wrap="square" lIns="0" tIns="0" rIns="0" bIns="0" rtlCol="0" anchor="ctr"/>
          <a:lstStyle/>
          <a:p>
            <a:pPr marL="0" indent="0">
              <a:buNone/>
            </a:pPr>
            <a:r>
              <a:rPr lang="en-US" sz="1100" dirty="0">
                <a:solidFill>
                  <a:srgbClr val="DCE7F5"/>
                </a:solidFill>
              </a:rPr>
              <a:t>transactions</a:t>
            </a:r>
            <a:endParaRPr lang="en-US" sz="1100" dirty="0"/>
          </a:p>
        </p:txBody>
      </p:sp>
      <p:sp>
        <p:nvSpPr>
          <p:cNvPr id="7" name="Text 5"/>
          <p:cNvSpPr txBox="1"/>
          <p:nvPr/>
        </p:nvSpPr>
        <p:spPr>
          <a:xfrm>
            <a:off x="2560320" y="3108960"/>
            <a:ext cx="1828800" cy="502920"/>
          </a:xfrm>
          <a:prstGeom prst="rect">
            <a:avLst/>
          </a:prstGeom>
          <a:noFill/>
          <a:ln/>
        </p:spPr>
        <p:txBody>
          <a:bodyPr wrap="square" lIns="0" tIns="0" rIns="0" bIns="0" rtlCol="0" anchor="ctr"/>
          <a:lstStyle/>
          <a:p>
            <a:pPr marL="0" indent="0">
              <a:buNone/>
            </a:pPr>
            <a:r>
              <a:rPr lang="en-US" sz="2800" b="1" dirty="0">
                <a:solidFill>
                  <a:srgbClr val="F2B56B"/>
                </a:solidFill>
              </a:rPr>
              <a:t>10</a:t>
            </a:r>
            <a:endParaRPr lang="en-US" sz="2800" dirty="0"/>
          </a:p>
        </p:txBody>
      </p:sp>
      <p:sp>
        <p:nvSpPr>
          <p:cNvPr id="8" name="Text 6"/>
          <p:cNvSpPr txBox="1"/>
          <p:nvPr/>
        </p:nvSpPr>
        <p:spPr>
          <a:xfrm>
            <a:off x="2560320" y="3611880"/>
            <a:ext cx="1828800" cy="274320"/>
          </a:xfrm>
          <a:prstGeom prst="rect">
            <a:avLst/>
          </a:prstGeom>
          <a:noFill/>
          <a:ln/>
        </p:spPr>
        <p:txBody>
          <a:bodyPr wrap="square" lIns="0" tIns="0" rIns="0" bIns="0" rtlCol="0" anchor="ctr"/>
          <a:lstStyle/>
          <a:p>
            <a:pPr marL="0" indent="0">
              <a:buNone/>
            </a:pPr>
            <a:r>
              <a:rPr lang="en-US" sz="1100" dirty="0">
                <a:solidFill>
                  <a:srgbClr val="DCE7F5"/>
                </a:solidFill>
              </a:rPr>
              <a:t>models evaluated</a:t>
            </a:r>
            <a:endParaRPr lang="en-US" sz="1100" dirty="0"/>
          </a:p>
        </p:txBody>
      </p:sp>
      <p:sp>
        <p:nvSpPr>
          <p:cNvPr id="9" name="Text 7"/>
          <p:cNvSpPr txBox="1"/>
          <p:nvPr/>
        </p:nvSpPr>
        <p:spPr>
          <a:xfrm>
            <a:off x="4572000" y="3108960"/>
            <a:ext cx="1828800" cy="502920"/>
          </a:xfrm>
          <a:prstGeom prst="rect">
            <a:avLst/>
          </a:prstGeom>
          <a:noFill/>
          <a:ln/>
        </p:spPr>
        <p:txBody>
          <a:bodyPr wrap="square" lIns="0" tIns="0" rIns="0" bIns="0" rtlCol="0" anchor="ctr"/>
          <a:lstStyle/>
          <a:p>
            <a:pPr marL="0" indent="0">
              <a:buNone/>
            </a:pPr>
            <a:r>
              <a:rPr lang="en-US" sz="2800" b="1" dirty="0">
                <a:solidFill>
                  <a:srgbClr val="F2B56B"/>
                </a:solidFill>
              </a:rPr>
              <a:t>4</a:t>
            </a:r>
            <a:endParaRPr lang="en-US" sz="2800" dirty="0"/>
          </a:p>
        </p:txBody>
      </p:sp>
      <p:sp>
        <p:nvSpPr>
          <p:cNvPr id="10" name="Text 8"/>
          <p:cNvSpPr txBox="1"/>
          <p:nvPr/>
        </p:nvSpPr>
        <p:spPr>
          <a:xfrm>
            <a:off x="4572000" y="3611880"/>
            <a:ext cx="1828800" cy="274320"/>
          </a:xfrm>
          <a:prstGeom prst="rect">
            <a:avLst/>
          </a:prstGeom>
          <a:noFill/>
          <a:ln/>
        </p:spPr>
        <p:txBody>
          <a:bodyPr wrap="square" lIns="0" tIns="0" rIns="0" bIns="0" rtlCol="0" anchor="ctr"/>
          <a:lstStyle/>
          <a:p>
            <a:pPr marL="0" indent="0">
              <a:buNone/>
            </a:pPr>
            <a:r>
              <a:rPr lang="en-US" sz="1100" dirty="0">
                <a:solidFill>
                  <a:srgbClr val="DCE7F5"/>
                </a:solidFill>
              </a:rPr>
              <a:t>hybrid combinations</a:t>
            </a:r>
            <a:endParaRPr lang="en-US" sz="1100" dirty="0"/>
          </a:p>
        </p:txBody>
      </p:sp>
      <p:sp>
        <p:nvSpPr>
          <p:cNvPr id="11" name="Text 9"/>
          <p:cNvSpPr txBox="1"/>
          <p:nvPr/>
        </p:nvSpPr>
        <p:spPr>
          <a:xfrm>
            <a:off x="6583680" y="3108960"/>
            <a:ext cx="1828800" cy="502920"/>
          </a:xfrm>
          <a:prstGeom prst="rect">
            <a:avLst/>
          </a:prstGeom>
          <a:noFill/>
          <a:ln/>
        </p:spPr>
        <p:txBody>
          <a:bodyPr wrap="square" lIns="0" tIns="0" rIns="0" bIns="0" rtlCol="0" anchor="ctr"/>
          <a:lstStyle/>
          <a:p>
            <a:pPr marL="0" indent="0">
              <a:buNone/>
            </a:pPr>
            <a:r>
              <a:rPr lang="en-US" sz="2800" b="1" dirty="0">
                <a:solidFill>
                  <a:srgbClr val="F2B56B"/>
                </a:solidFill>
              </a:rPr>
              <a:t>7</a:t>
            </a:r>
            <a:endParaRPr lang="en-US" sz="2800" dirty="0"/>
          </a:p>
        </p:txBody>
      </p:sp>
      <p:sp>
        <p:nvSpPr>
          <p:cNvPr id="12" name="Text 10"/>
          <p:cNvSpPr txBox="1"/>
          <p:nvPr/>
        </p:nvSpPr>
        <p:spPr>
          <a:xfrm>
            <a:off x="6583680" y="3611880"/>
            <a:ext cx="1828800" cy="274320"/>
          </a:xfrm>
          <a:prstGeom prst="rect">
            <a:avLst/>
          </a:prstGeom>
          <a:noFill/>
          <a:ln/>
        </p:spPr>
        <p:txBody>
          <a:bodyPr wrap="square" lIns="0" tIns="0" rIns="0" bIns="0" rtlCol="0" anchor="ctr"/>
          <a:lstStyle/>
          <a:p>
            <a:pPr marL="0" indent="0">
              <a:buNone/>
            </a:pPr>
            <a:r>
              <a:rPr lang="en-US" sz="1100" dirty="0">
                <a:solidFill>
                  <a:srgbClr val="DCE7F5"/>
                </a:solidFill>
              </a:rPr>
              <a:t>papers reviewed</a:t>
            </a:r>
            <a:endParaRPr lang="en-US" sz="1100" dirty="0"/>
          </a:p>
        </p:txBody>
      </p:sp>
      <p:sp>
        <p:nvSpPr>
          <p:cNvPr id="13" name="Text 11"/>
          <p:cNvSpPr txBox="1"/>
          <p:nvPr/>
        </p:nvSpPr>
        <p:spPr>
          <a:xfrm>
            <a:off x="548640" y="4434840"/>
            <a:ext cx="8046720" cy="274320"/>
          </a:xfrm>
          <a:prstGeom prst="rect">
            <a:avLst/>
          </a:prstGeom>
          <a:noFill/>
          <a:ln/>
        </p:spPr>
        <p:txBody>
          <a:bodyPr wrap="square" lIns="0" tIns="0" rIns="0" bIns="0" rtlCol="0" anchor="ctr"/>
          <a:lstStyle/>
          <a:p>
            <a:pPr marL="0" indent="0">
              <a:buNone/>
            </a:pPr>
            <a:r>
              <a:rPr lang="en-US" sz="1100" dirty="0">
                <a:solidFill>
                  <a:srgbClr val="A9C4E8"/>
                </a:solidFill>
              </a:rPr>
              <a:t>Dataset: Global Superstore (2011-2014)   |   Target: Sales   |   Batch-9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Problem Statement and Objectives</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Why a single model family is not enough for retail sales prediction</a:t>
            </a:r>
            <a:endParaRPr lang="en-US" sz="1100" dirty="0"/>
          </a:p>
        </p:txBody>
      </p:sp>
      <p:sp>
        <p:nvSpPr>
          <p:cNvPr id="5" name="Shape 2"/>
          <p:cNvSpPr/>
          <p:nvPr/>
        </p:nvSpPr>
        <p:spPr>
          <a:xfrm>
            <a:off x="411480" y="1005840"/>
            <a:ext cx="4069080" cy="2743200"/>
          </a:xfrm>
          <a:prstGeom prst="rect">
            <a:avLst/>
          </a:prstGeom>
          <a:solidFill>
            <a:srgbClr val="FFFFFF"/>
          </a:solidFill>
          <a:ln w="9525">
            <a:solidFill>
              <a:srgbClr val="D5DBE1"/>
            </a:solidFill>
            <a:prstDash val="solid"/>
          </a:ln>
        </p:spPr>
      </p:sp>
      <p:sp>
        <p:nvSpPr>
          <p:cNvPr id="6" name="Shape 3"/>
          <p:cNvSpPr/>
          <p:nvPr/>
        </p:nvSpPr>
        <p:spPr>
          <a:xfrm>
            <a:off x="411480" y="1005840"/>
            <a:ext cx="64008" cy="2743200"/>
          </a:xfrm>
          <a:prstGeom prst="rect">
            <a:avLst/>
          </a:prstGeom>
          <a:solidFill>
            <a:srgbClr val="2E6FBA"/>
          </a:solidFill>
          <a:ln w="12700">
            <a:solidFill>
              <a:srgbClr val="2E6FBA"/>
            </a:solidFill>
            <a:prstDash val="solid"/>
          </a:ln>
        </p:spPr>
      </p:sp>
      <p:sp>
        <p:nvSpPr>
          <p:cNvPr id="7" name="Text 4"/>
          <p:cNvSpPr txBox="1"/>
          <p:nvPr/>
        </p:nvSpPr>
        <p:spPr>
          <a:xfrm>
            <a:off x="566928" y="1060704"/>
            <a:ext cx="3840480" cy="256032"/>
          </a:xfrm>
          <a:prstGeom prst="rect">
            <a:avLst/>
          </a:prstGeom>
          <a:noFill/>
          <a:ln/>
        </p:spPr>
        <p:txBody>
          <a:bodyPr wrap="square" lIns="0" tIns="0" rIns="0" bIns="0" rtlCol="0" anchor="ctr"/>
          <a:lstStyle/>
          <a:p>
            <a:pPr marL="0" indent="0">
              <a:buNone/>
            </a:pPr>
            <a:r>
              <a:rPr lang="en-US" sz="1150" b="1" dirty="0">
                <a:solidFill>
                  <a:srgbClr val="2E6FBA"/>
                </a:solidFill>
              </a:rPr>
              <a:t>Problem</a:t>
            </a:r>
            <a:endParaRPr lang="en-US" sz="1150" dirty="0"/>
          </a:p>
        </p:txBody>
      </p:sp>
      <p:sp>
        <p:nvSpPr>
          <p:cNvPr id="8" name="Text 5"/>
          <p:cNvSpPr txBox="1"/>
          <p:nvPr/>
        </p:nvSpPr>
        <p:spPr>
          <a:xfrm>
            <a:off x="566928" y="1353312"/>
            <a:ext cx="3813048" cy="2340864"/>
          </a:xfrm>
          <a:prstGeom prst="rect">
            <a:avLst/>
          </a:prstGeom>
          <a:noFill/>
          <a:ln/>
        </p:spPr>
        <p:txBody>
          <a:bodyPr wrap="square" lIns="0" tIns="0" rIns="0" bIns="0" rtlCol="0" anchor="t"/>
          <a:lstStyle/>
          <a:p>
            <a:pPr marL="152400" indent="-152400">
              <a:spcAft>
                <a:spcPts val="400"/>
              </a:spcAft>
              <a:buSzPct val="100000"/>
              <a:buChar char="•"/>
            </a:pPr>
            <a:r>
              <a:rPr lang="en-US" sz="1247" dirty="0">
                <a:solidFill>
                  <a:srgbClr val="1B2430"/>
                </a:solidFill>
              </a:rPr>
              <a:t>Transaction-level models see attributes (product, region, discount) but no explicit monthly sales trajectory</a:t>
            </a:r>
            <a:endParaRPr lang="en-US" sz="1247" dirty="0"/>
          </a:p>
          <a:p>
            <a:pPr marL="152400" indent="-152400">
              <a:spcAft>
                <a:spcPts val="400"/>
              </a:spcAft>
              <a:buSzPct val="100000"/>
              <a:buChar char="•"/>
            </a:pPr>
            <a:r>
              <a:rPr lang="en-US" sz="1247" dirty="0">
                <a:solidFill>
                  <a:srgbClr val="1B2430"/>
                </a:solidFill>
              </a:rPr>
              <a:t>Sequence models (LSTM/GRU) see history but not transaction attributes</a:t>
            </a:r>
            <a:endParaRPr lang="en-US" sz="1247" dirty="0"/>
          </a:p>
          <a:p>
            <a:pPr marL="152400" indent="-152400">
              <a:spcAft>
                <a:spcPts val="400"/>
              </a:spcAft>
              <a:buSzPct val="100000"/>
              <a:buChar char="•"/>
            </a:pPr>
            <a:r>
              <a:rPr lang="en-US" sz="1247" dirty="0">
                <a:solidFill>
                  <a:srgbClr val="1B2430"/>
                </a:solidFill>
              </a:rPr>
              <a:t>Published hybrids use different datasets, horizons and fusion designs, so the best pairing is dataset-dependent</a:t>
            </a:r>
            <a:endParaRPr lang="en-US" sz="1247" dirty="0"/>
          </a:p>
          <a:p>
            <a:pPr marL="152400" indent="-152400">
              <a:spcAft>
                <a:spcPts val="400"/>
              </a:spcAft>
              <a:buSzPct val="100000"/>
              <a:buChar char="•"/>
            </a:pPr>
            <a:r>
              <a:rPr lang="en-US" sz="1247" dirty="0">
                <a:solidFill>
                  <a:srgbClr val="1B2430"/>
                </a:solidFill>
              </a:rPr>
              <a:t>Baselines alone are not an acceptable final model for this review</a:t>
            </a:r>
            <a:endParaRPr lang="en-US" sz="1247" dirty="0"/>
          </a:p>
        </p:txBody>
      </p:sp>
      <p:sp>
        <p:nvSpPr>
          <p:cNvPr id="9" name="Shape 6"/>
          <p:cNvSpPr/>
          <p:nvPr/>
        </p:nvSpPr>
        <p:spPr>
          <a:xfrm>
            <a:off x="4663440" y="1005840"/>
            <a:ext cx="4069080" cy="2743200"/>
          </a:xfrm>
          <a:prstGeom prst="rect">
            <a:avLst/>
          </a:prstGeom>
          <a:solidFill>
            <a:srgbClr val="FFFFFF"/>
          </a:solidFill>
          <a:ln w="9525">
            <a:solidFill>
              <a:srgbClr val="D5DBE1"/>
            </a:solidFill>
            <a:prstDash val="solid"/>
          </a:ln>
        </p:spPr>
      </p:sp>
      <p:sp>
        <p:nvSpPr>
          <p:cNvPr id="10" name="Shape 7"/>
          <p:cNvSpPr/>
          <p:nvPr/>
        </p:nvSpPr>
        <p:spPr>
          <a:xfrm>
            <a:off x="4663440" y="1005840"/>
            <a:ext cx="64008" cy="2743200"/>
          </a:xfrm>
          <a:prstGeom prst="rect">
            <a:avLst/>
          </a:prstGeom>
          <a:solidFill>
            <a:srgbClr val="D9822B"/>
          </a:solidFill>
          <a:ln w="12700">
            <a:solidFill>
              <a:srgbClr val="D9822B"/>
            </a:solidFill>
            <a:prstDash val="solid"/>
          </a:ln>
        </p:spPr>
      </p:sp>
      <p:sp>
        <p:nvSpPr>
          <p:cNvPr id="11" name="Text 8"/>
          <p:cNvSpPr txBox="1"/>
          <p:nvPr/>
        </p:nvSpPr>
        <p:spPr>
          <a:xfrm>
            <a:off x="4818888" y="1060704"/>
            <a:ext cx="3840480" cy="256032"/>
          </a:xfrm>
          <a:prstGeom prst="rect">
            <a:avLst/>
          </a:prstGeom>
          <a:noFill/>
          <a:ln/>
        </p:spPr>
        <p:txBody>
          <a:bodyPr wrap="square" lIns="0" tIns="0" rIns="0" bIns="0" rtlCol="0" anchor="ctr"/>
          <a:lstStyle/>
          <a:p>
            <a:pPr marL="0" indent="0">
              <a:buNone/>
            </a:pPr>
            <a:r>
              <a:rPr lang="en-US" sz="1150" b="1" dirty="0">
                <a:solidFill>
                  <a:srgbClr val="D9822B"/>
                </a:solidFill>
              </a:rPr>
              <a:t>Objectives</a:t>
            </a:r>
            <a:endParaRPr lang="en-US" sz="1150" dirty="0"/>
          </a:p>
        </p:txBody>
      </p:sp>
      <p:sp>
        <p:nvSpPr>
          <p:cNvPr id="12" name="Text 9"/>
          <p:cNvSpPr txBox="1"/>
          <p:nvPr/>
        </p:nvSpPr>
        <p:spPr>
          <a:xfrm>
            <a:off x="4818888" y="1353312"/>
            <a:ext cx="3813048" cy="2340864"/>
          </a:xfrm>
          <a:prstGeom prst="rect">
            <a:avLst/>
          </a:prstGeom>
          <a:noFill/>
          <a:ln/>
        </p:spPr>
        <p:txBody>
          <a:bodyPr wrap="square" lIns="0" tIns="0" rIns="0" bIns="0" rtlCol="0" anchor="t"/>
          <a:lstStyle/>
          <a:p>
            <a:pPr marL="152400" indent="-152400">
              <a:spcAft>
                <a:spcPts val="400"/>
              </a:spcAft>
              <a:buSzPct val="100000"/>
              <a:buChar char="•"/>
            </a:pPr>
            <a:r>
              <a:rPr lang="en-US" sz="1247" dirty="0">
                <a:solidFill>
                  <a:srgbClr val="1B2430"/>
                </a:solidFill>
              </a:rPr>
              <a:t>Build ML and DL baselines on a common chronological split</a:t>
            </a:r>
            <a:endParaRPr lang="en-US" sz="1247" dirty="0"/>
          </a:p>
          <a:p>
            <a:pPr marL="152400" indent="-152400">
              <a:spcAft>
                <a:spcPts val="400"/>
              </a:spcAft>
              <a:buSzPct val="100000"/>
              <a:buChar char="•"/>
            </a:pPr>
            <a:r>
              <a:rPr lang="en-US" sz="1247" dirty="0">
                <a:solidFill>
                  <a:srgbClr val="1B2430"/>
                </a:solidFill>
              </a:rPr>
              <a:t>Design and run four hybrid combinations: {LSTM, GRU} x {XGBoost, Random Forest}</a:t>
            </a:r>
            <a:endParaRPr lang="en-US" sz="1247" dirty="0"/>
          </a:p>
          <a:p>
            <a:pPr marL="152400" indent="-152400">
              <a:spcAft>
                <a:spcPts val="400"/>
              </a:spcAft>
              <a:buSzPct val="100000"/>
              <a:buChar char="•"/>
            </a:pPr>
            <a:r>
              <a:rPr lang="en-US" sz="1247" dirty="0">
                <a:solidFill>
                  <a:srgbClr val="1B2430"/>
                </a:solidFill>
              </a:rPr>
              <a:t>Select the proposed hybrid from measured performance</a:t>
            </a:r>
            <a:endParaRPr lang="en-US" sz="1247" dirty="0"/>
          </a:p>
          <a:p>
            <a:pPr marL="152400" indent="-152400">
              <a:spcAft>
                <a:spcPts val="400"/>
              </a:spcAft>
              <a:buSzPct val="100000"/>
              <a:buChar char="•"/>
            </a:pPr>
            <a:r>
              <a:rPr lang="en-US" sz="1247" dirty="0">
                <a:solidFill>
                  <a:srgbClr val="1B2430"/>
                </a:solidFill>
              </a:rPr>
              <a:t>Position the work against published hybrids and identify gaps</a:t>
            </a:r>
            <a:endParaRPr lang="en-US" sz="1247" dirty="0"/>
          </a:p>
          <a:p>
            <a:pPr marL="152400" indent="-152400">
              <a:spcAft>
                <a:spcPts val="400"/>
              </a:spcAft>
              <a:buSzPct val="100000"/>
              <a:buChar char="•"/>
            </a:pPr>
            <a:r>
              <a:rPr lang="en-US" sz="1247" dirty="0">
                <a:solidFill>
                  <a:srgbClr val="1B2430"/>
                </a:solidFill>
              </a:rPr>
              <a:t>Report MAE, MSE, RMSE, R2, MAPE and SMAPE</a:t>
            </a:r>
            <a:endParaRPr lang="en-US" sz="1247" dirty="0"/>
          </a:p>
        </p:txBody>
      </p:sp>
      <p:sp>
        <p:nvSpPr>
          <p:cNvPr id="13" name="Shape 10"/>
          <p:cNvSpPr/>
          <p:nvPr/>
        </p:nvSpPr>
        <p:spPr>
          <a:xfrm>
            <a:off x="411480" y="3977640"/>
            <a:ext cx="8321040" cy="457200"/>
          </a:xfrm>
          <a:prstGeom prst="rect">
            <a:avLst/>
          </a:prstGeom>
          <a:solidFill>
            <a:srgbClr val="EAF1FA"/>
          </a:solidFill>
          <a:ln w="12700">
            <a:solidFill>
              <a:srgbClr val="2E6FBA"/>
            </a:solidFill>
            <a:prstDash val="solid"/>
          </a:ln>
        </p:spPr>
      </p:sp>
      <p:sp>
        <p:nvSpPr>
          <p:cNvPr id="14" name="Text 11"/>
          <p:cNvSpPr txBox="1"/>
          <p:nvPr/>
        </p:nvSpPr>
        <p:spPr>
          <a:xfrm>
            <a:off x="411480" y="3977640"/>
            <a:ext cx="8321040" cy="457200"/>
          </a:xfrm>
          <a:prstGeom prst="rect">
            <a:avLst/>
          </a:prstGeom>
          <a:noFill/>
          <a:ln/>
        </p:spPr>
        <p:txBody>
          <a:bodyPr wrap="square" lIns="25400" tIns="25400" rIns="25400" bIns="25400" rtlCol="0" anchor="ctr"/>
          <a:lstStyle/>
          <a:p>
            <a:pPr marL="0" indent="0" algn="ctr">
              <a:buNone/>
            </a:pPr>
            <a:r>
              <a:rPr lang="en-US" sz="1200" b="1" dirty="0">
                <a:solidFill>
                  <a:srgbClr val="1F3A5F"/>
                </a:solidFill>
              </a:rPr>
              <a:t>Target variable: Sales   |   Data: Global Superstore, 2011-2014   |   Records: 51,290</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Dataset and Data Sources</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Transaction-level retail data with temporal, product, customer and geographic attributes</a:t>
            </a:r>
            <a:endParaRPr lang="en-US" sz="1100" dirty="0"/>
          </a:p>
        </p:txBody>
      </p:sp>
      <p:sp>
        <p:nvSpPr>
          <p:cNvPr id="5" name="Shape 2"/>
          <p:cNvSpPr/>
          <p:nvPr/>
        </p:nvSpPr>
        <p:spPr>
          <a:xfrm>
            <a:off x="411480" y="1005840"/>
            <a:ext cx="1965960" cy="868680"/>
          </a:xfrm>
          <a:prstGeom prst="rect">
            <a:avLst/>
          </a:prstGeom>
          <a:solidFill>
            <a:srgbClr val="EAF1FA"/>
          </a:solidFill>
          <a:ln w="12700">
            <a:solidFill>
              <a:srgbClr val="EAF1FA"/>
            </a:solidFill>
            <a:prstDash val="solid"/>
          </a:ln>
        </p:spPr>
      </p:sp>
      <p:sp>
        <p:nvSpPr>
          <p:cNvPr id="6" name="Text 3"/>
          <p:cNvSpPr txBox="1"/>
          <p:nvPr/>
        </p:nvSpPr>
        <p:spPr>
          <a:xfrm>
            <a:off x="411480" y="1042416"/>
            <a:ext cx="1965960" cy="457200"/>
          </a:xfrm>
          <a:prstGeom prst="rect">
            <a:avLst/>
          </a:prstGeom>
          <a:noFill/>
          <a:ln/>
        </p:spPr>
        <p:txBody>
          <a:bodyPr wrap="square" lIns="0" tIns="0" rIns="0" bIns="0" rtlCol="0" anchor="ctr"/>
          <a:lstStyle/>
          <a:p>
            <a:pPr marL="0" indent="0" algn="ctr">
              <a:buNone/>
            </a:pPr>
            <a:r>
              <a:rPr lang="en-US" sz="2400" b="1" dirty="0">
                <a:solidFill>
                  <a:srgbClr val="1F3A5F"/>
                </a:solidFill>
              </a:rPr>
              <a:t>51,290</a:t>
            </a:r>
            <a:endParaRPr lang="en-US" sz="2400" dirty="0"/>
          </a:p>
        </p:txBody>
      </p:sp>
      <p:sp>
        <p:nvSpPr>
          <p:cNvPr id="7" name="Text 4"/>
          <p:cNvSpPr txBox="1"/>
          <p:nvPr/>
        </p:nvSpPr>
        <p:spPr>
          <a:xfrm>
            <a:off x="411480" y="1517904"/>
            <a:ext cx="1965960" cy="274320"/>
          </a:xfrm>
          <a:prstGeom prst="rect">
            <a:avLst/>
          </a:prstGeom>
          <a:noFill/>
          <a:ln/>
        </p:spPr>
        <p:txBody>
          <a:bodyPr wrap="square" lIns="0" tIns="0" rIns="0" bIns="0" rtlCol="0" anchor="ctr"/>
          <a:lstStyle/>
          <a:p>
            <a:pPr marL="0" indent="0" algn="ctr">
              <a:buNone/>
            </a:pPr>
            <a:r>
              <a:rPr lang="en-US" sz="1000" dirty="0">
                <a:solidFill>
                  <a:srgbClr val="5B6770"/>
                </a:solidFill>
              </a:rPr>
              <a:t>transaction records</a:t>
            </a:r>
            <a:endParaRPr lang="en-US" sz="1000" dirty="0"/>
          </a:p>
        </p:txBody>
      </p:sp>
      <p:sp>
        <p:nvSpPr>
          <p:cNvPr id="8" name="Shape 5"/>
          <p:cNvSpPr/>
          <p:nvPr/>
        </p:nvSpPr>
        <p:spPr>
          <a:xfrm>
            <a:off x="2514600" y="1005840"/>
            <a:ext cx="1965960" cy="868680"/>
          </a:xfrm>
          <a:prstGeom prst="rect">
            <a:avLst/>
          </a:prstGeom>
          <a:solidFill>
            <a:srgbClr val="EAF1FA"/>
          </a:solidFill>
          <a:ln w="12700">
            <a:solidFill>
              <a:srgbClr val="EAF1FA"/>
            </a:solidFill>
            <a:prstDash val="solid"/>
          </a:ln>
        </p:spPr>
      </p:sp>
      <p:sp>
        <p:nvSpPr>
          <p:cNvPr id="9" name="Text 6"/>
          <p:cNvSpPr txBox="1"/>
          <p:nvPr/>
        </p:nvSpPr>
        <p:spPr>
          <a:xfrm>
            <a:off x="2514600" y="1042416"/>
            <a:ext cx="1965960" cy="457200"/>
          </a:xfrm>
          <a:prstGeom prst="rect">
            <a:avLst/>
          </a:prstGeom>
          <a:noFill/>
          <a:ln/>
        </p:spPr>
        <p:txBody>
          <a:bodyPr wrap="square" lIns="0" tIns="0" rIns="0" bIns="0" rtlCol="0" anchor="ctr"/>
          <a:lstStyle/>
          <a:p>
            <a:pPr marL="0" indent="0" algn="ctr">
              <a:buNone/>
            </a:pPr>
            <a:r>
              <a:rPr lang="en-US" sz="2400" b="1" dirty="0">
                <a:solidFill>
                  <a:srgbClr val="1F3A5F"/>
                </a:solidFill>
              </a:rPr>
              <a:t>48</a:t>
            </a:r>
            <a:endParaRPr lang="en-US" sz="2400" dirty="0"/>
          </a:p>
        </p:txBody>
      </p:sp>
      <p:sp>
        <p:nvSpPr>
          <p:cNvPr id="10" name="Text 7"/>
          <p:cNvSpPr txBox="1"/>
          <p:nvPr/>
        </p:nvSpPr>
        <p:spPr>
          <a:xfrm>
            <a:off x="2514600" y="1517904"/>
            <a:ext cx="1965960" cy="274320"/>
          </a:xfrm>
          <a:prstGeom prst="rect">
            <a:avLst/>
          </a:prstGeom>
          <a:noFill/>
          <a:ln/>
        </p:spPr>
        <p:txBody>
          <a:bodyPr wrap="square" lIns="0" tIns="0" rIns="0" bIns="0" rtlCol="0" anchor="ctr"/>
          <a:lstStyle/>
          <a:p>
            <a:pPr marL="0" indent="0" algn="ctr">
              <a:buNone/>
            </a:pPr>
            <a:r>
              <a:rPr lang="en-US" sz="1000" dirty="0">
                <a:solidFill>
                  <a:srgbClr val="5B6770"/>
                </a:solidFill>
              </a:rPr>
              <a:t>months (Jan 2011 - Dec 2014)</a:t>
            </a:r>
            <a:endParaRPr lang="en-US" sz="1000" dirty="0"/>
          </a:p>
        </p:txBody>
      </p:sp>
      <p:sp>
        <p:nvSpPr>
          <p:cNvPr id="11" name="Shape 8"/>
          <p:cNvSpPr/>
          <p:nvPr/>
        </p:nvSpPr>
        <p:spPr>
          <a:xfrm>
            <a:off x="4617720" y="1005840"/>
            <a:ext cx="1965960" cy="868680"/>
          </a:xfrm>
          <a:prstGeom prst="rect">
            <a:avLst/>
          </a:prstGeom>
          <a:solidFill>
            <a:srgbClr val="EAF1FA"/>
          </a:solidFill>
          <a:ln w="12700">
            <a:solidFill>
              <a:srgbClr val="EAF1FA"/>
            </a:solidFill>
            <a:prstDash val="solid"/>
          </a:ln>
        </p:spPr>
      </p:sp>
      <p:sp>
        <p:nvSpPr>
          <p:cNvPr id="12" name="Text 9"/>
          <p:cNvSpPr txBox="1"/>
          <p:nvPr/>
        </p:nvSpPr>
        <p:spPr>
          <a:xfrm>
            <a:off x="4617720" y="1042416"/>
            <a:ext cx="1965960" cy="457200"/>
          </a:xfrm>
          <a:prstGeom prst="rect">
            <a:avLst/>
          </a:prstGeom>
          <a:noFill/>
          <a:ln/>
        </p:spPr>
        <p:txBody>
          <a:bodyPr wrap="square" lIns="0" tIns="0" rIns="0" bIns="0" rtlCol="0" anchor="ctr"/>
          <a:lstStyle/>
          <a:p>
            <a:pPr marL="0" indent="0" algn="ctr">
              <a:buNone/>
            </a:pPr>
            <a:r>
              <a:rPr lang="en-US" sz="2400" b="1" dirty="0">
                <a:solidFill>
                  <a:srgbClr val="1F3A5F"/>
                </a:solidFill>
              </a:rPr>
              <a:t>1,590</a:t>
            </a:r>
            <a:endParaRPr lang="en-US" sz="2400" dirty="0"/>
          </a:p>
        </p:txBody>
      </p:sp>
      <p:sp>
        <p:nvSpPr>
          <p:cNvPr id="13" name="Text 10"/>
          <p:cNvSpPr txBox="1"/>
          <p:nvPr/>
        </p:nvSpPr>
        <p:spPr>
          <a:xfrm>
            <a:off x="4617720" y="1517904"/>
            <a:ext cx="1965960" cy="274320"/>
          </a:xfrm>
          <a:prstGeom prst="rect">
            <a:avLst/>
          </a:prstGeom>
          <a:noFill/>
          <a:ln/>
        </p:spPr>
        <p:txBody>
          <a:bodyPr wrap="square" lIns="0" tIns="0" rIns="0" bIns="0" rtlCol="0" anchor="ctr"/>
          <a:lstStyle/>
          <a:p>
            <a:pPr marL="0" indent="0" algn="ctr">
              <a:buNone/>
            </a:pPr>
            <a:r>
              <a:rPr lang="en-US" sz="1000" dirty="0">
                <a:solidFill>
                  <a:srgbClr val="5B6770"/>
                </a:solidFill>
              </a:rPr>
              <a:t>unique customers</a:t>
            </a:r>
            <a:endParaRPr lang="en-US" sz="1000" dirty="0"/>
          </a:p>
        </p:txBody>
      </p:sp>
      <p:sp>
        <p:nvSpPr>
          <p:cNvPr id="14" name="Shape 11"/>
          <p:cNvSpPr/>
          <p:nvPr/>
        </p:nvSpPr>
        <p:spPr>
          <a:xfrm>
            <a:off x="6720840" y="1005840"/>
            <a:ext cx="1965960" cy="868680"/>
          </a:xfrm>
          <a:prstGeom prst="rect">
            <a:avLst/>
          </a:prstGeom>
          <a:solidFill>
            <a:srgbClr val="EAF1FA"/>
          </a:solidFill>
          <a:ln w="12700">
            <a:solidFill>
              <a:srgbClr val="EAF1FA"/>
            </a:solidFill>
            <a:prstDash val="solid"/>
          </a:ln>
        </p:spPr>
      </p:sp>
      <p:sp>
        <p:nvSpPr>
          <p:cNvPr id="15" name="Text 12"/>
          <p:cNvSpPr txBox="1"/>
          <p:nvPr/>
        </p:nvSpPr>
        <p:spPr>
          <a:xfrm>
            <a:off x="6720840" y="1042416"/>
            <a:ext cx="1965960" cy="457200"/>
          </a:xfrm>
          <a:prstGeom prst="rect">
            <a:avLst/>
          </a:prstGeom>
          <a:noFill/>
          <a:ln/>
        </p:spPr>
        <p:txBody>
          <a:bodyPr wrap="square" lIns="0" tIns="0" rIns="0" bIns="0" rtlCol="0" anchor="ctr"/>
          <a:lstStyle/>
          <a:p>
            <a:pPr marL="0" indent="0" algn="ctr">
              <a:buNone/>
            </a:pPr>
            <a:r>
              <a:rPr lang="en-US" sz="2400" b="1" dirty="0">
                <a:solidFill>
                  <a:srgbClr val="1F3A5F"/>
                </a:solidFill>
              </a:rPr>
              <a:t>10,292</a:t>
            </a:r>
            <a:endParaRPr lang="en-US" sz="2400" dirty="0"/>
          </a:p>
        </p:txBody>
      </p:sp>
      <p:sp>
        <p:nvSpPr>
          <p:cNvPr id="16" name="Text 13"/>
          <p:cNvSpPr txBox="1"/>
          <p:nvPr/>
        </p:nvSpPr>
        <p:spPr>
          <a:xfrm>
            <a:off x="6720840" y="1517904"/>
            <a:ext cx="1965960" cy="274320"/>
          </a:xfrm>
          <a:prstGeom prst="rect">
            <a:avLst/>
          </a:prstGeom>
          <a:noFill/>
          <a:ln/>
        </p:spPr>
        <p:txBody>
          <a:bodyPr wrap="square" lIns="0" tIns="0" rIns="0" bIns="0" rtlCol="0" anchor="ctr"/>
          <a:lstStyle/>
          <a:p>
            <a:pPr marL="0" indent="0" algn="ctr">
              <a:buNone/>
            </a:pPr>
            <a:r>
              <a:rPr lang="en-US" sz="1000" dirty="0">
                <a:solidFill>
                  <a:srgbClr val="5B6770"/>
                </a:solidFill>
              </a:rPr>
              <a:t>unique products</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2103120"/>
          <a:ext cx="8321040" cy="1877568"/>
        </p:xfrm>
        <a:graphic>
          <a:graphicData uri="http://schemas.openxmlformats.org/drawingml/2006/table">
            <a:tbl>
              <a:tblPr/>
              <a:tblGrid>
                <a:gridCol w="1828800">
                  <a:extLst>
                    <a:ext uri="{9D8B030D-6E8A-4147-A177-3AD203B41FA5}">
                      <a16:colId xmlns:a16="http://schemas.microsoft.com/office/drawing/2014/main" val="20000"/>
                    </a:ext>
                  </a:extLst>
                </a:gridCol>
                <a:gridCol w="6492240">
                  <a:extLst>
                    <a:ext uri="{9D8B030D-6E8A-4147-A177-3AD203B41FA5}">
                      <a16:colId xmlns:a16="http://schemas.microsoft.com/office/drawing/2014/main" val="20001"/>
                    </a:ext>
                  </a:extLst>
                </a:gridCol>
              </a:tblGrid>
              <a:tr h="0">
                <a:tc>
                  <a:txBody>
                    <a:bodyPr/>
                    <a:lstStyle/>
                    <a:p>
                      <a:pPr marL="0" indent="0" algn="l">
                        <a:buNone/>
                      </a:pPr>
                      <a:r>
                        <a:rPr lang="en-US" sz="1220" b="1" dirty="0">
                          <a:solidFill>
                            <a:srgbClr val="FFFFFF"/>
                          </a:solidFill>
                          <a:latin typeface="Calibri" pitchFamily="34" charset="0"/>
                          <a:ea typeface="Calibri" pitchFamily="34" charset="-122"/>
                          <a:cs typeface="Calibri" pitchFamily="34" charset="-120"/>
                        </a:rPr>
                        <a:t>Attribute group</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220" b="1" dirty="0">
                          <a:solidFill>
                            <a:srgbClr val="FFFFFF"/>
                          </a:solidFill>
                          <a:latin typeface="Calibri" pitchFamily="34" charset="0"/>
                          <a:ea typeface="Calibri" pitchFamily="34" charset="-122"/>
                          <a:cs typeface="Calibri" pitchFamily="34" charset="-120"/>
                        </a:rPr>
                        <a:t>Content</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Source file</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Global_Superstore.csv (latin-1 encoding); 24 raw columns, 51 after feature engineering</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Temporal</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Order Date, Ship Date; period 01 Jan 2011 to 31 Dec 2014</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Product</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3 categories, 17 sub-categories, 10,292 products</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Customer</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3 segments: Consumer, Corporate, Home Office; 1,590 customers</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Geography</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147 countries, 7 markets, 13 regions</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Target</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Sales (continuous), regression problem</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Data Preprocessing and Cleaning</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Pandas-based cleaning pipeline; every transaction retained</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1731264"/>
        </p:xfrm>
        <a:graphic>
          <a:graphicData uri="http://schemas.openxmlformats.org/drawingml/2006/table">
            <a:tbl>
              <a:tblPr/>
              <a:tblGrid>
                <a:gridCol w="15544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0">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Step</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Treatment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Result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Encoding / types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latin-1 read; Order and Ship Date parsed with pd.to_datetime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0 invalid dates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Missing values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Median (numeric) / mode (categorical) imputation; 41,296 missing in Postal Code (not used in models)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0 missing after cleaning</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Duplicates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Duplicate detection and removal</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0 found; 51,290 rows kept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Text cleanup</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Whitespace stripping on all text columns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Consistent categories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Outliers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IQR capping of Sales, Quantity, Discount, Profit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0 rows removed (values capped)</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2"/>
          <p:cNvSpPr/>
          <p:nvPr/>
        </p:nvSpPr>
        <p:spPr>
          <a:xfrm>
            <a:off x="411480" y="3429000"/>
            <a:ext cx="8321040" cy="1005840"/>
          </a:xfrm>
          <a:prstGeom prst="rect">
            <a:avLst/>
          </a:prstGeom>
          <a:solidFill>
            <a:srgbClr val="FFFFFF"/>
          </a:solidFill>
          <a:ln w="9525">
            <a:solidFill>
              <a:srgbClr val="D5DBE1"/>
            </a:solidFill>
            <a:prstDash val="solid"/>
          </a:ln>
        </p:spPr>
      </p:sp>
      <p:sp>
        <p:nvSpPr>
          <p:cNvPr id="7" name="Shape 3"/>
          <p:cNvSpPr/>
          <p:nvPr/>
        </p:nvSpPr>
        <p:spPr>
          <a:xfrm>
            <a:off x="411480" y="3429000"/>
            <a:ext cx="64008" cy="1005840"/>
          </a:xfrm>
          <a:prstGeom prst="rect">
            <a:avLst/>
          </a:prstGeom>
          <a:solidFill>
            <a:srgbClr val="D9822B"/>
          </a:solidFill>
          <a:ln w="12700">
            <a:solidFill>
              <a:srgbClr val="D9822B"/>
            </a:solidFill>
            <a:prstDash val="solid"/>
          </a:ln>
        </p:spPr>
      </p:sp>
      <p:sp>
        <p:nvSpPr>
          <p:cNvPr id="8" name="Text 4"/>
          <p:cNvSpPr txBox="1"/>
          <p:nvPr/>
        </p:nvSpPr>
        <p:spPr>
          <a:xfrm>
            <a:off x="566928" y="3483864"/>
            <a:ext cx="8092440" cy="256032"/>
          </a:xfrm>
          <a:prstGeom prst="rect">
            <a:avLst/>
          </a:prstGeom>
          <a:noFill/>
          <a:ln/>
        </p:spPr>
        <p:txBody>
          <a:bodyPr wrap="square" lIns="0" tIns="0" rIns="0" bIns="0" rtlCol="0" anchor="ctr"/>
          <a:lstStyle/>
          <a:p>
            <a:pPr marL="0" indent="0">
              <a:buNone/>
            </a:pPr>
            <a:r>
              <a:rPr lang="en-US" sz="1150" b="1" dirty="0">
                <a:solidFill>
                  <a:srgbClr val="D9822B"/>
                </a:solidFill>
              </a:rPr>
              <a:t>Caveat carried through every result</a:t>
            </a:r>
            <a:endParaRPr lang="en-US" sz="1150" dirty="0"/>
          </a:p>
        </p:txBody>
      </p:sp>
      <p:sp>
        <p:nvSpPr>
          <p:cNvPr id="9" name="Text 5"/>
          <p:cNvSpPr txBox="1"/>
          <p:nvPr/>
        </p:nvSpPr>
        <p:spPr>
          <a:xfrm>
            <a:off x="566928" y="3776472"/>
            <a:ext cx="8065008" cy="603504"/>
          </a:xfrm>
          <a:prstGeom prst="rect">
            <a:avLst/>
          </a:prstGeom>
          <a:noFill/>
          <a:ln/>
        </p:spPr>
        <p:txBody>
          <a:bodyPr wrap="square" lIns="0" tIns="0" rIns="0" bIns="0" rtlCol="0" anchor="t"/>
          <a:lstStyle/>
          <a:p>
            <a:pPr marL="0" indent="0">
              <a:buNone/>
            </a:pPr>
            <a:r>
              <a:rPr lang="en-US" sz="1239" dirty="0">
                <a:solidFill>
                  <a:srgbClr val="1B2430"/>
                </a:solidFill>
              </a:rPr>
              <a:t>IQR capping lowers total sales from 12.64 M (raw) to 8.84 M (about 30% lower) and profit by about 37%. All EDA, model and dashboard values here are post-capping, not raw business totals.</a:t>
            </a:r>
            <a:endParaRPr lang="en-US" sz="1239"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Exploratory Data Analysis: Key Insights</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Sales rise every year; discounting above 30% coincides with negative total profit</a:t>
            </a:r>
            <a:endParaRPr lang="en-US" sz="1100" dirty="0"/>
          </a:p>
        </p:txBody>
      </p:sp>
      <p:pic>
        <p:nvPicPr>
          <p:cNvPr id="5" name="Image 0" descr="/home/claude/build/trend.png"/>
          <p:cNvPicPr>
            <a:picLocks noChangeAspect="1"/>
          </p:cNvPicPr>
          <p:nvPr/>
        </p:nvPicPr>
        <p:blipFill>
          <a:blip r:embed="rId3"/>
          <a:stretch>
            <a:fillRect/>
          </a:stretch>
        </p:blipFill>
        <p:spPr>
          <a:xfrm>
            <a:off x="411480" y="960120"/>
            <a:ext cx="4846320" cy="2057400"/>
          </a:xfrm>
          <a:prstGeom prst="rect">
            <a:avLst/>
          </a:prstGeom>
        </p:spPr>
      </p:pic>
      <p:sp>
        <p:nvSpPr>
          <p:cNvPr id="6" name="Text 2"/>
          <p:cNvSpPr txBox="1"/>
          <p:nvPr/>
        </p:nvSpPr>
        <p:spPr>
          <a:xfrm>
            <a:off x="411480" y="3035808"/>
            <a:ext cx="4846320" cy="201168"/>
          </a:xfrm>
          <a:prstGeom prst="rect">
            <a:avLst/>
          </a:prstGeom>
          <a:noFill/>
          <a:ln/>
        </p:spPr>
        <p:txBody>
          <a:bodyPr wrap="square" lIns="0" tIns="0" rIns="0" bIns="0" rtlCol="0" anchor="ctr"/>
          <a:lstStyle/>
          <a:p>
            <a:pPr marL="0" indent="0">
              <a:buNone/>
            </a:pPr>
            <a:r>
              <a:rPr lang="en-US" sz="850" i="1" dirty="0">
                <a:solidFill>
                  <a:srgbClr val="5B6770"/>
                </a:solidFill>
              </a:rPr>
              <a:t>Monthly sales trend, Jan 2011 - Dec 2014 (Review-2 EDA output)</a:t>
            </a:r>
            <a:endParaRPr lang="en-US" sz="8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40680" y="960120"/>
          <a:ext cx="3291840" cy="1341120"/>
        </p:xfrm>
        <a:graphic>
          <a:graphicData uri="http://schemas.openxmlformats.org/drawingml/2006/table">
            <a:tbl>
              <a:tblPr/>
              <a:tblGrid>
                <a:gridCol w="10972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0">
                <a:tc>
                  <a:txBody>
                    <a:bodyPr/>
                    <a:lstStyle/>
                    <a:p>
                      <a:pPr marL="0" indent="0" algn="l">
                        <a:buNone/>
                      </a:pPr>
                      <a:r>
                        <a:rPr lang="en-US" sz="1220" b="1" dirty="0">
                          <a:solidFill>
                            <a:srgbClr val="FFFFFF"/>
                          </a:solidFill>
                          <a:latin typeface="Calibri" pitchFamily="34" charset="0"/>
                          <a:ea typeface="Calibri" pitchFamily="34" charset="-122"/>
                          <a:cs typeface="Calibri" pitchFamily="34" charset="-120"/>
                        </a:rPr>
                        <a:t>Year</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220" b="1" dirty="0">
                          <a:solidFill>
                            <a:srgbClr val="FFFFFF"/>
                          </a:solidFill>
                          <a:latin typeface="Calibri" pitchFamily="34" charset="0"/>
                          <a:ea typeface="Calibri" pitchFamily="34" charset="-122"/>
                          <a:cs typeface="Calibri" pitchFamily="34" charset="-120"/>
                        </a:rPr>
                        <a:t>Total sales (capped)</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2011</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1,556,334</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2012</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1,895,526</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2013</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2,373,074</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20" dirty="0">
                          <a:solidFill>
                            <a:srgbClr val="1B2430"/>
                          </a:solidFill>
                          <a:latin typeface="Calibri" pitchFamily="34" charset="0"/>
                          <a:ea typeface="Calibri" pitchFamily="34" charset="-122"/>
                          <a:cs typeface="Calibri" pitchFamily="34" charset="-120"/>
                        </a:rPr>
                        <a:t>2014</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3,015,368</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bl>
          </a:graphicData>
        </a:graphic>
      </p:graphicFrame>
      <p:sp>
        <p:nvSpPr>
          <p:cNvPr id="8" name="Text 3"/>
          <p:cNvSpPr txBox="1"/>
          <p:nvPr/>
        </p:nvSpPr>
        <p:spPr>
          <a:xfrm>
            <a:off x="411480" y="3337560"/>
            <a:ext cx="8321040" cy="1371600"/>
          </a:xfrm>
          <a:prstGeom prst="rect">
            <a:avLst/>
          </a:prstGeom>
          <a:noFill/>
          <a:ln/>
        </p:spPr>
        <p:txBody>
          <a:bodyPr wrap="square" lIns="0" tIns="0" rIns="0" bIns="0" rtlCol="0" anchor="t"/>
          <a:lstStyle/>
          <a:p>
            <a:pPr marL="152400" indent="-152400">
              <a:spcAft>
                <a:spcPts val="400"/>
              </a:spcAft>
              <a:buSzPct val="100000"/>
              <a:buChar char="•"/>
            </a:pPr>
            <a:r>
              <a:rPr lang="en-US" sz="1155" dirty="0">
                <a:solidFill>
                  <a:srgbClr val="1B2430"/>
                </a:solidFill>
              </a:rPr>
              <a:t>Total sales 8.84 M; total profit 0.93 M (capped)</a:t>
            </a:r>
            <a:endParaRPr lang="en-US" sz="1155" dirty="0"/>
          </a:p>
          <a:p>
            <a:pPr marL="152400" indent="-152400">
              <a:spcAft>
                <a:spcPts val="400"/>
              </a:spcAft>
              <a:buSzPct val="100000"/>
              <a:buChar char="•"/>
            </a:pPr>
            <a:r>
              <a:rPr lang="en-US" sz="1155" dirty="0">
                <a:solidFill>
                  <a:srgbClr val="1B2430"/>
                </a:solidFill>
              </a:rPr>
              <a:t>Discount to profit correlation: -0.576; sales to profit: +0.483</a:t>
            </a:r>
            <a:endParaRPr lang="en-US" sz="1155" dirty="0"/>
          </a:p>
          <a:p>
            <a:pPr marL="152400" indent="-152400">
              <a:spcAft>
                <a:spcPts val="400"/>
              </a:spcAft>
              <a:buSzPct val="100000"/>
              <a:buChar char="•"/>
            </a:pPr>
            <a:r>
              <a:rPr lang="en-US" sz="1155" dirty="0">
                <a:solidFill>
                  <a:srgbClr val="1B2430"/>
                </a:solidFill>
              </a:rPr>
              <a:t>Technology 3.08 M, Office Supplies 3.01 M, Furniture 2.75 M</a:t>
            </a:r>
            <a:endParaRPr lang="en-US" sz="1155" dirty="0"/>
          </a:p>
          <a:p>
            <a:pPr marL="152400" indent="-152400">
              <a:spcAft>
                <a:spcPts val="400"/>
              </a:spcAft>
              <a:buSzPct val="100000"/>
              <a:buChar char="•"/>
            </a:pPr>
            <a:r>
              <a:rPr lang="en-US" sz="1155" dirty="0">
                <a:solidFill>
                  <a:srgbClr val="1B2430"/>
                </a:solidFill>
              </a:rPr>
              <a:t>Central is the top region (2.02 M sales); Consumer is the largest segment (4.56 M)</a:t>
            </a:r>
            <a:endParaRPr lang="en-US" sz="1155" dirty="0"/>
          </a:p>
          <a:p>
            <a:pPr marL="152400" indent="-152400">
              <a:spcAft>
                <a:spcPts val="400"/>
              </a:spcAft>
              <a:buSzPct val="100000"/>
              <a:buChar char="•"/>
            </a:pPr>
            <a:r>
              <a:rPr lang="en-US" sz="1155" dirty="0">
                <a:solidFill>
                  <a:srgbClr val="1B2430"/>
                </a:solidFill>
              </a:rPr>
              <a:t>Chairs sell 1.04 M but return only 83,188 profit</a:t>
            </a:r>
            <a:endParaRPr lang="en-US" sz="1155"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Feature Engineering and Feature Selection</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27 engineered features (24 to 51 columns); 22 predictors used in the models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1834896"/>
        </p:xfrm>
        <a:graphic>
          <a:graphicData uri="http://schemas.openxmlformats.org/drawingml/2006/table">
            <a:tbl>
              <a:tblPr/>
              <a:tblGrid>
                <a:gridCol w="118872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Group</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Engineered features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Used in models?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Date (9)</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Order Year/Month/Quarter/Week/Day of Week, Is Weekend, Shipping Days, names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Yes (numeric date fields, Shipping Days)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Sales (5)</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Sales per Quantity, Discount Amount, Net Sales, Quantity Category, Discount Category</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Only the two category fields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Customer (5)</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Order Count, Total Sales, Total Profit, Avg Order Value, Profitability</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No (Sales-derived)</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Product (5)</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Order Count, Total Sales, Total Profit, Avg Sales, Performance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No (Sales-derived)</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Profit (3)</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Profit Margin, Status, Category</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No (target-adjacent)</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2"/>
          <p:cNvSpPr/>
          <p:nvPr/>
        </p:nvSpPr>
        <p:spPr>
          <a:xfrm>
            <a:off x="411480" y="3246120"/>
            <a:ext cx="4114800" cy="1188720"/>
          </a:xfrm>
          <a:prstGeom prst="rect">
            <a:avLst/>
          </a:prstGeom>
          <a:solidFill>
            <a:srgbClr val="FFFFFF"/>
          </a:solidFill>
          <a:ln w="9525">
            <a:solidFill>
              <a:srgbClr val="D5DBE1"/>
            </a:solidFill>
            <a:prstDash val="solid"/>
          </a:ln>
        </p:spPr>
      </p:sp>
      <p:sp>
        <p:nvSpPr>
          <p:cNvPr id="3" name="Shape 3"/>
          <p:cNvSpPr/>
          <p:nvPr/>
        </p:nvSpPr>
        <p:spPr>
          <a:xfrm>
            <a:off x="411480" y="3246120"/>
            <a:ext cx="64008" cy="1188720"/>
          </a:xfrm>
          <a:prstGeom prst="rect">
            <a:avLst/>
          </a:prstGeom>
          <a:solidFill>
            <a:srgbClr val="2E6FBA"/>
          </a:solidFill>
          <a:ln w="12700">
            <a:solidFill>
              <a:srgbClr val="2E6FBA"/>
            </a:solidFill>
            <a:prstDash val="solid"/>
          </a:ln>
        </p:spPr>
      </p:sp>
      <p:sp>
        <p:nvSpPr>
          <p:cNvPr id="8" name="Text 4"/>
          <p:cNvSpPr txBox="1"/>
          <p:nvPr/>
        </p:nvSpPr>
        <p:spPr>
          <a:xfrm>
            <a:off x="566928" y="3300984"/>
            <a:ext cx="3886200" cy="256032"/>
          </a:xfrm>
          <a:prstGeom prst="rect">
            <a:avLst/>
          </a:prstGeom>
          <a:noFill/>
          <a:ln/>
        </p:spPr>
        <p:txBody>
          <a:bodyPr wrap="square" lIns="0" tIns="0" rIns="0" bIns="0" rtlCol="0" anchor="ctr"/>
          <a:lstStyle/>
          <a:p>
            <a:pPr marL="0" indent="0">
              <a:buNone/>
            </a:pPr>
            <a:r>
              <a:rPr lang="en-US" sz="1150" b="1" dirty="0">
                <a:solidFill>
                  <a:srgbClr val="2E6FBA"/>
                </a:solidFill>
              </a:rPr>
              <a:t>Numeric predictors (10)</a:t>
            </a:r>
            <a:endParaRPr lang="en-US" sz="1150" dirty="0"/>
          </a:p>
        </p:txBody>
      </p:sp>
      <p:sp>
        <p:nvSpPr>
          <p:cNvPr id="9" name="Text 5"/>
          <p:cNvSpPr txBox="1"/>
          <p:nvPr/>
        </p:nvSpPr>
        <p:spPr>
          <a:xfrm>
            <a:off x="566928" y="3593592"/>
            <a:ext cx="3858768" cy="786384"/>
          </a:xfrm>
          <a:prstGeom prst="rect">
            <a:avLst/>
          </a:prstGeom>
          <a:noFill/>
          <a:ln/>
        </p:spPr>
        <p:txBody>
          <a:bodyPr wrap="square" lIns="0" tIns="0" rIns="0" bIns="0" rtlCol="0" anchor="t"/>
          <a:lstStyle/>
          <a:p>
            <a:pPr marL="0" indent="0">
              <a:buNone/>
            </a:pPr>
            <a:r>
              <a:rPr lang="en-US" sz="1121" dirty="0">
                <a:solidFill>
                  <a:srgbClr val="1B2430"/>
                </a:solidFill>
              </a:rPr>
              <a:t>Quantity, Discount, Shipping Cost, Shipping Days, Order Year / Month / Quarter / Week / Day of Week, Is Weekend</a:t>
            </a:r>
            <a:endParaRPr lang="en-US" sz="1121" dirty="0"/>
          </a:p>
        </p:txBody>
      </p:sp>
      <p:sp>
        <p:nvSpPr>
          <p:cNvPr id="10" name="Shape 6"/>
          <p:cNvSpPr/>
          <p:nvPr/>
        </p:nvSpPr>
        <p:spPr>
          <a:xfrm>
            <a:off x="4663440" y="3246120"/>
            <a:ext cx="4069080" cy="1188720"/>
          </a:xfrm>
          <a:prstGeom prst="rect">
            <a:avLst/>
          </a:prstGeom>
          <a:solidFill>
            <a:srgbClr val="FFFFFF"/>
          </a:solidFill>
          <a:ln w="9525">
            <a:solidFill>
              <a:srgbClr val="D5DBE1"/>
            </a:solidFill>
            <a:prstDash val="solid"/>
          </a:ln>
        </p:spPr>
      </p:sp>
      <p:sp>
        <p:nvSpPr>
          <p:cNvPr id="11" name="Shape 7"/>
          <p:cNvSpPr/>
          <p:nvPr/>
        </p:nvSpPr>
        <p:spPr>
          <a:xfrm>
            <a:off x="4663440" y="3246120"/>
            <a:ext cx="64008" cy="1188720"/>
          </a:xfrm>
          <a:prstGeom prst="rect">
            <a:avLst/>
          </a:prstGeom>
          <a:solidFill>
            <a:srgbClr val="D9822B"/>
          </a:solidFill>
          <a:ln w="12700">
            <a:solidFill>
              <a:srgbClr val="D9822B"/>
            </a:solidFill>
            <a:prstDash val="solid"/>
          </a:ln>
        </p:spPr>
      </p:sp>
      <p:sp>
        <p:nvSpPr>
          <p:cNvPr id="12" name="Text 8"/>
          <p:cNvSpPr txBox="1"/>
          <p:nvPr/>
        </p:nvSpPr>
        <p:spPr>
          <a:xfrm>
            <a:off x="4818888" y="3300984"/>
            <a:ext cx="3840480" cy="256032"/>
          </a:xfrm>
          <a:prstGeom prst="rect">
            <a:avLst/>
          </a:prstGeom>
          <a:noFill/>
          <a:ln/>
        </p:spPr>
        <p:txBody>
          <a:bodyPr wrap="square" lIns="0" tIns="0" rIns="0" bIns="0" rtlCol="0" anchor="ctr"/>
          <a:lstStyle/>
          <a:p>
            <a:pPr marL="0" indent="0">
              <a:buNone/>
            </a:pPr>
            <a:r>
              <a:rPr lang="en-US" sz="1150" b="1" dirty="0">
                <a:solidFill>
                  <a:srgbClr val="D9822B"/>
                </a:solidFill>
              </a:rPr>
              <a:t>Categorical predictors (12) + hybrid feature</a:t>
            </a:r>
            <a:endParaRPr lang="en-US" sz="1150" dirty="0"/>
          </a:p>
        </p:txBody>
      </p:sp>
      <p:sp>
        <p:nvSpPr>
          <p:cNvPr id="13" name="Text 9"/>
          <p:cNvSpPr txBox="1"/>
          <p:nvPr/>
        </p:nvSpPr>
        <p:spPr>
          <a:xfrm>
            <a:off x="4818888" y="3593592"/>
            <a:ext cx="3813048" cy="786384"/>
          </a:xfrm>
          <a:prstGeom prst="rect">
            <a:avLst/>
          </a:prstGeom>
          <a:noFill/>
          <a:ln/>
        </p:spPr>
        <p:txBody>
          <a:bodyPr wrap="square" lIns="0" tIns="0" rIns="0" bIns="0" rtlCol="0" anchor="t"/>
          <a:lstStyle/>
          <a:p>
            <a:pPr marL="0" indent="0">
              <a:buNone/>
            </a:pPr>
            <a:r>
              <a:rPr lang="en-US" sz="1121" dirty="0">
                <a:solidFill>
                  <a:srgbClr val="1B2430"/>
                </a:solidFill>
              </a:rPr>
              <a:t>Ship Mode, Segment, City, State, Country, Market, Region, Category, Sub-Category, Order Priority, Quantity Category, Discount Category. Hybrids add one feature: temporal prediction (LSTM or GRU).</a:t>
            </a:r>
            <a:endParaRPr lang="en-US" sz="1121"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Literature Survey: Overview</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Seven supplied papers, grouped by how recurrent and tree models are combined</a:t>
            </a:r>
            <a:endParaRPr lang="en-US" sz="1100" dirty="0"/>
          </a:p>
        </p:txBody>
      </p:sp>
      <p:sp>
        <p:nvSpPr>
          <p:cNvPr id="5" name="Shape 2"/>
          <p:cNvSpPr/>
          <p:nvPr/>
        </p:nvSpPr>
        <p:spPr>
          <a:xfrm>
            <a:off x="411480" y="1005840"/>
            <a:ext cx="2697480" cy="2103120"/>
          </a:xfrm>
          <a:prstGeom prst="rect">
            <a:avLst/>
          </a:prstGeom>
          <a:solidFill>
            <a:srgbClr val="FFFFFF"/>
          </a:solidFill>
          <a:ln w="9525">
            <a:solidFill>
              <a:srgbClr val="D5DBE1"/>
            </a:solidFill>
            <a:prstDash val="solid"/>
          </a:ln>
        </p:spPr>
      </p:sp>
      <p:sp>
        <p:nvSpPr>
          <p:cNvPr id="6" name="Shape 3"/>
          <p:cNvSpPr/>
          <p:nvPr/>
        </p:nvSpPr>
        <p:spPr>
          <a:xfrm>
            <a:off x="411480" y="1005840"/>
            <a:ext cx="64008" cy="2103120"/>
          </a:xfrm>
          <a:prstGeom prst="rect">
            <a:avLst/>
          </a:prstGeom>
          <a:solidFill>
            <a:srgbClr val="2E6FBA"/>
          </a:solidFill>
          <a:ln w="12700">
            <a:solidFill>
              <a:srgbClr val="2E6FBA"/>
            </a:solidFill>
            <a:prstDash val="solid"/>
          </a:ln>
        </p:spPr>
      </p:sp>
      <p:sp>
        <p:nvSpPr>
          <p:cNvPr id="7" name="Text 4"/>
          <p:cNvSpPr txBox="1"/>
          <p:nvPr/>
        </p:nvSpPr>
        <p:spPr>
          <a:xfrm>
            <a:off x="566928" y="1060704"/>
            <a:ext cx="2468880" cy="256032"/>
          </a:xfrm>
          <a:prstGeom prst="rect">
            <a:avLst/>
          </a:prstGeom>
          <a:noFill/>
          <a:ln/>
        </p:spPr>
        <p:txBody>
          <a:bodyPr wrap="square" lIns="0" tIns="0" rIns="0" bIns="0" rtlCol="0" anchor="ctr"/>
          <a:lstStyle/>
          <a:p>
            <a:pPr marL="0" indent="0">
              <a:buNone/>
            </a:pPr>
            <a:r>
              <a:rPr lang="en-US" sz="1150" b="1" dirty="0">
                <a:solidFill>
                  <a:srgbClr val="2E6FBA"/>
                </a:solidFill>
              </a:rPr>
              <a:t>A. Recurrent + tree hybrids</a:t>
            </a:r>
            <a:endParaRPr lang="en-US" sz="1150" dirty="0"/>
          </a:p>
        </p:txBody>
      </p:sp>
      <p:sp>
        <p:nvSpPr>
          <p:cNvPr id="8" name="Text 5"/>
          <p:cNvSpPr txBox="1"/>
          <p:nvPr/>
        </p:nvSpPr>
        <p:spPr>
          <a:xfrm>
            <a:off x="566928" y="1353312"/>
            <a:ext cx="2441448" cy="1700784"/>
          </a:xfrm>
          <a:prstGeom prst="rect">
            <a:avLst/>
          </a:prstGeom>
          <a:noFill/>
          <a:ln/>
        </p:spPr>
        <p:txBody>
          <a:bodyPr wrap="square" lIns="0" tIns="0" rIns="0" bIns="0" rtlCol="0" anchor="t"/>
          <a:lstStyle/>
          <a:p>
            <a:pPr marL="0" indent="0">
              <a:buNone/>
            </a:pPr>
            <a:r>
              <a:rPr lang="en-US" sz="1239" dirty="0">
                <a:solidFill>
                  <a:srgbClr val="1B2430"/>
                </a:solidFill>
              </a:rPr>
              <a:t>Punia et al. 2020 (LSTM + RF)</a:t>
            </a:r>
            <a:endParaRPr lang="en-US" sz="1239" dirty="0"/>
          </a:p>
          <a:p>
            <a:pPr marL="0" indent="0">
              <a:buNone/>
            </a:pPr>
            <a:r>
              <a:rPr lang="en-US" sz="1239" dirty="0">
                <a:solidFill>
                  <a:srgbClr val="1B2430"/>
                </a:solidFill>
              </a:rPr>
              <a:t>Yadav and Barde 2025 (LSTM + XGBoost)</a:t>
            </a:r>
            <a:endParaRPr lang="en-US" sz="1239" dirty="0"/>
          </a:p>
          <a:p>
            <a:pPr marL="0" indent="0">
              <a:buNone/>
            </a:pPr>
            <a:r>
              <a:rPr lang="en-US" sz="1239" dirty="0">
                <a:solidFill>
                  <a:srgbClr val="1B2430"/>
                </a:solidFill>
              </a:rPr>
              <a:t>Bachhav 2026 (RF + GRU)</a:t>
            </a:r>
            <a:endParaRPr lang="en-US" sz="1239" dirty="0"/>
          </a:p>
          <a:p>
            <a:pPr marL="0" indent="0">
              <a:buNone/>
            </a:pPr>
            <a:r>
              <a:rPr lang="en-US" sz="1239" dirty="0">
                <a:solidFill>
                  <a:srgbClr val="1B2430"/>
                </a:solidFill>
              </a:rPr>
              <a:t>Sahin and Cubukcu 2026 (multi-patch LSTM + RF)</a:t>
            </a:r>
            <a:endParaRPr lang="en-US" sz="1239" dirty="0"/>
          </a:p>
        </p:txBody>
      </p:sp>
      <p:sp>
        <p:nvSpPr>
          <p:cNvPr id="9" name="Shape 6"/>
          <p:cNvSpPr/>
          <p:nvPr/>
        </p:nvSpPr>
        <p:spPr>
          <a:xfrm>
            <a:off x="3246120" y="1005840"/>
            <a:ext cx="2697480" cy="2103120"/>
          </a:xfrm>
          <a:prstGeom prst="rect">
            <a:avLst/>
          </a:prstGeom>
          <a:solidFill>
            <a:srgbClr val="FFFFFF"/>
          </a:solidFill>
          <a:ln w="9525">
            <a:solidFill>
              <a:srgbClr val="D5DBE1"/>
            </a:solidFill>
            <a:prstDash val="solid"/>
          </a:ln>
        </p:spPr>
      </p:sp>
      <p:sp>
        <p:nvSpPr>
          <p:cNvPr id="10" name="Shape 7"/>
          <p:cNvSpPr/>
          <p:nvPr/>
        </p:nvSpPr>
        <p:spPr>
          <a:xfrm>
            <a:off x="3246120" y="1005840"/>
            <a:ext cx="64008" cy="2103120"/>
          </a:xfrm>
          <a:prstGeom prst="rect">
            <a:avLst/>
          </a:prstGeom>
          <a:solidFill>
            <a:srgbClr val="2E8B57"/>
          </a:solidFill>
          <a:ln w="12700">
            <a:solidFill>
              <a:srgbClr val="2E8B57"/>
            </a:solidFill>
            <a:prstDash val="solid"/>
          </a:ln>
        </p:spPr>
      </p:sp>
      <p:sp>
        <p:nvSpPr>
          <p:cNvPr id="11" name="Text 8"/>
          <p:cNvSpPr txBox="1"/>
          <p:nvPr/>
        </p:nvSpPr>
        <p:spPr>
          <a:xfrm>
            <a:off x="3401568" y="1060704"/>
            <a:ext cx="2468880" cy="256032"/>
          </a:xfrm>
          <a:prstGeom prst="rect">
            <a:avLst/>
          </a:prstGeom>
          <a:noFill/>
          <a:ln/>
        </p:spPr>
        <p:txBody>
          <a:bodyPr wrap="square" lIns="0" tIns="0" rIns="0" bIns="0" rtlCol="0" anchor="ctr"/>
          <a:lstStyle/>
          <a:p>
            <a:pPr marL="0" indent="0">
              <a:buNone/>
            </a:pPr>
            <a:r>
              <a:rPr lang="en-US" sz="1150" b="1" dirty="0">
                <a:solidFill>
                  <a:srgbClr val="2E8B57"/>
                </a:solidFill>
              </a:rPr>
              <a:t>B. Comparative studies</a:t>
            </a:r>
            <a:endParaRPr lang="en-US" sz="1150" dirty="0"/>
          </a:p>
        </p:txBody>
      </p:sp>
      <p:sp>
        <p:nvSpPr>
          <p:cNvPr id="12" name="Text 9"/>
          <p:cNvSpPr txBox="1"/>
          <p:nvPr/>
        </p:nvSpPr>
        <p:spPr>
          <a:xfrm>
            <a:off x="3401568" y="1353312"/>
            <a:ext cx="2441448" cy="1700784"/>
          </a:xfrm>
          <a:prstGeom prst="rect">
            <a:avLst/>
          </a:prstGeom>
          <a:noFill/>
          <a:ln/>
        </p:spPr>
        <p:txBody>
          <a:bodyPr wrap="square" lIns="0" tIns="0" rIns="0" bIns="0" rtlCol="0" anchor="t"/>
          <a:lstStyle/>
          <a:p>
            <a:pPr marL="0" indent="0">
              <a:buNone/>
            </a:pPr>
            <a:r>
              <a:rPr lang="en-US" sz="1239" dirty="0">
                <a:solidFill>
                  <a:srgbClr val="1B2430"/>
                </a:solidFill>
              </a:rPr>
              <a:t>Falatouri et al. 2022 (LSTM vs SARIMA/SARIMAX)</a:t>
            </a:r>
            <a:endParaRPr lang="en-US" sz="1239" dirty="0"/>
          </a:p>
          <a:p>
            <a:pPr marL="0" indent="0">
              <a:buNone/>
            </a:pPr>
            <a:r>
              <a:rPr lang="en-US" sz="1239" dirty="0">
                <a:solidFill>
                  <a:srgbClr val="1B2430"/>
                </a:solidFill>
              </a:rPr>
              <a:t>Sankar et al. 2025 (LSTM, GRU, RF, XGB and two ensembles on Walmart)</a:t>
            </a:r>
            <a:endParaRPr lang="en-US" sz="1239" dirty="0"/>
          </a:p>
        </p:txBody>
      </p:sp>
      <p:sp>
        <p:nvSpPr>
          <p:cNvPr id="13" name="Shape 10"/>
          <p:cNvSpPr/>
          <p:nvPr/>
        </p:nvSpPr>
        <p:spPr>
          <a:xfrm>
            <a:off x="6080760" y="1005840"/>
            <a:ext cx="2651760" cy="2103120"/>
          </a:xfrm>
          <a:prstGeom prst="rect">
            <a:avLst/>
          </a:prstGeom>
          <a:solidFill>
            <a:srgbClr val="FFFFFF"/>
          </a:solidFill>
          <a:ln w="9525">
            <a:solidFill>
              <a:srgbClr val="D5DBE1"/>
            </a:solidFill>
            <a:prstDash val="solid"/>
          </a:ln>
        </p:spPr>
      </p:sp>
      <p:sp>
        <p:nvSpPr>
          <p:cNvPr id="14" name="Shape 11"/>
          <p:cNvSpPr/>
          <p:nvPr/>
        </p:nvSpPr>
        <p:spPr>
          <a:xfrm>
            <a:off x="6080760" y="1005840"/>
            <a:ext cx="64008" cy="2103120"/>
          </a:xfrm>
          <a:prstGeom prst="rect">
            <a:avLst/>
          </a:prstGeom>
          <a:solidFill>
            <a:srgbClr val="5B6770"/>
          </a:solidFill>
          <a:ln w="12700">
            <a:solidFill>
              <a:srgbClr val="5B6770"/>
            </a:solidFill>
            <a:prstDash val="solid"/>
          </a:ln>
        </p:spPr>
      </p:sp>
      <p:sp>
        <p:nvSpPr>
          <p:cNvPr id="15" name="Text 12"/>
          <p:cNvSpPr txBox="1"/>
          <p:nvPr/>
        </p:nvSpPr>
        <p:spPr>
          <a:xfrm>
            <a:off x="6236208" y="1060704"/>
            <a:ext cx="2423160" cy="256032"/>
          </a:xfrm>
          <a:prstGeom prst="rect">
            <a:avLst/>
          </a:prstGeom>
          <a:noFill/>
          <a:ln/>
        </p:spPr>
        <p:txBody>
          <a:bodyPr wrap="square" lIns="0" tIns="0" rIns="0" bIns="0" rtlCol="0" anchor="ctr"/>
          <a:lstStyle/>
          <a:p>
            <a:pPr marL="0" indent="0">
              <a:buNone/>
            </a:pPr>
            <a:r>
              <a:rPr lang="en-US" sz="1150" b="1" dirty="0">
                <a:solidFill>
                  <a:srgbClr val="5B6770"/>
                </a:solidFill>
              </a:rPr>
              <a:t>C. Advanced single DL model</a:t>
            </a:r>
            <a:endParaRPr lang="en-US" sz="1150" dirty="0"/>
          </a:p>
        </p:txBody>
      </p:sp>
      <p:sp>
        <p:nvSpPr>
          <p:cNvPr id="16" name="Text 13"/>
          <p:cNvSpPr txBox="1"/>
          <p:nvPr/>
        </p:nvSpPr>
        <p:spPr>
          <a:xfrm>
            <a:off x="6236208" y="1353312"/>
            <a:ext cx="2395728" cy="1700784"/>
          </a:xfrm>
          <a:prstGeom prst="rect">
            <a:avLst/>
          </a:prstGeom>
          <a:noFill/>
          <a:ln/>
        </p:spPr>
        <p:txBody>
          <a:bodyPr wrap="square" lIns="0" tIns="0" rIns="0" bIns="0" rtlCol="0" anchor="t"/>
          <a:lstStyle/>
          <a:p>
            <a:pPr marL="0" indent="0">
              <a:buNone/>
            </a:pPr>
            <a:r>
              <a:rPr lang="en-US" sz="1239" dirty="0">
                <a:solidFill>
                  <a:srgbClr val="1B2430"/>
                </a:solidFill>
              </a:rPr>
              <a:t>Suresh et al. 2026 (Meta-LLSTM: meta-learning enhanced learnable LSTM on PoS data)</a:t>
            </a:r>
            <a:endParaRPr lang="en-US" sz="1239" dirty="0"/>
          </a:p>
        </p:txBody>
      </p:sp>
      <p:sp>
        <p:nvSpPr>
          <p:cNvPr id="17" name="Shape 14"/>
          <p:cNvSpPr/>
          <p:nvPr/>
        </p:nvSpPr>
        <p:spPr>
          <a:xfrm>
            <a:off x="411480" y="3337560"/>
            <a:ext cx="8321040" cy="548640"/>
          </a:xfrm>
          <a:prstGeom prst="rect">
            <a:avLst/>
          </a:prstGeom>
          <a:solidFill>
            <a:srgbClr val="EAF1FA"/>
          </a:solidFill>
          <a:ln w="12700">
            <a:solidFill>
              <a:srgbClr val="2E6FBA"/>
            </a:solidFill>
            <a:prstDash val="solid"/>
          </a:ln>
        </p:spPr>
      </p:sp>
      <p:sp>
        <p:nvSpPr>
          <p:cNvPr id="18" name="Text 15"/>
          <p:cNvSpPr txBox="1"/>
          <p:nvPr/>
        </p:nvSpPr>
        <p:spPr>
          <a:xfrm>
            <a:off x="411480" y="3337560"/>
            <a:ext cx="8321040" cy="548640"/>
          </a:xfrm>
          <a:prstGeom prst="rect">
            <a:avLst/>
          </a:prstGeom>
          <a:noFill/>
          <a:ln/>
        </p:spPr>
        <p:txBody>
          <a:bodyPr wrap="square" lIns="25400" tIns="25400" rIns="25400" bIns="25400" rtlCol="0" anchor="ctr"/>
          <a:lstStyle/>
          <a:p>
            <a:pPr marL="0" indent="0" algn="ctr">
              <a:buNone/>
            </a:pPr>
            <a:r>
              <a:rPr lang="en-US" sz="1100" b="1" dirty="0">
                <a:solidFill>
                  <a:srgbClr val="1F3A5F"/>
                </a:solidFill>
              </a:rPr>
              <a:t>Review lens: model used | how the hybrid is formed | component roles | dataset and setup | baselines | metrics | findings | limitations | relation to this work</a:t>
            </a:r>
            <a:endParaRPr lang="en-US" sz="1100" dirty="0"/>
          </a:p>
        </p:txBody>
      </p:sp>
      <p:sp>
        <p:nvSpPr>
          <p:cNvPr id="19" name="Text 16"/>
          <p:cNvSpPr txBox="1"/>
          <p:nvPr/>
        </p:nvSpPr>
        <p:spPr>
          <a:xfrm>
            <a:off x="411480" y="4023360"/>
            <a:ext cx="8321040" cy="384048"/>
          </a:xfrm>
          <a:prstGeom prst="rect">
            <a:avLst/>
          </a:prstGeom>
          <a:noFill/>
          <a:ln/>
        </p:spPr>
        <p:txBody>
          <a:bodyPr wrap="square" lIns="0" tIns="0" rIns="0" bIns="0" rtlCol="0" anchor="t"/>
          <a:lstStyle/>
          <a:p>
            <a:pPr marL="0" indent="0">
              <a:buNone/>
            </a:pPr>
            <a:r>
              <a:rPr lang="en-US" sz="950" i="1" dirty="0">
                <a:solidFill>
                  <a:srgbClr val="5B6770"/>
                </a:solidFill>
              </a:rPr>
              <a:t>Every paper was read from the supplied PDFs; where a paper does not state a detail, the slides say so rather than filling it in.</a:t>
            </a: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Existing Published Hybrid and Comparative Models</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777240"/>
          <a:ext cx="8321040" cy="3182112"/>
        </p:xfrm>
        <a:graphic>
          <a:graphicData uri="http://schemas.openxmlformats.org/drawingml/2006/table">
            <a:tbl>
              <a:tblPr/>
              <a:tblGrid>
                <a:gridCol w="960120">
                  <a:extLst>
                    <a:ext uri="{9D8B030D-6E8A-4147-A177-3AD203B41FA5}">
                      <a16:colId xmlns:a16="http://schemas.microsoft.com/office/drawing/2014/main" val="20000"/>
                    </a:ext>
                  </a:extLst>
                </a:gridCol>
                <a:gridCol w="411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0">
                <a:tc>
                  <a:txBody>
                    <a:bodyPr/>
                    <a:lstStyle/>
                    <a:p>
                      <a:pPr marL="0" indent="0" algn="l">
                        <a:buNone/>
                      </a:pPr>
                      <a:r>
                        <a:rPr lang="en-US" sz="920" b="1" dirty="0">
                          <a:solidFill>
                            <a:srgbClr val="FFFFFF"/>
                          </a:solidFill>
                          <a:latin typeface="Calibri" pitchFamily="34" charset="0"/>
                          <a:ea typeface="Calibri" pitchFamily="34" charset="-122"/>
                          <a:cs typeface="Calibri" pitchFamily="34" charset="-120"/>
                        </a:rPr>
                        <a:t>Study</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920" b="1" dirty="0">
                          <a:solidFill>
                            <a:srgbClr val="FFFFFF"/>
                          </a:solidFill>
                          <a:latin typeface="Calibri" pitchFamily="34" charset="0"/>
                          <a:ea typeface="Calibri" pitchFamily="34" charset="-122"/>
                          <a:cs typeface="Calibri" pitchFamily="34" charset="-120"/>
                        </a:rPr>
                        <a:t>Year</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920" b="1" dirty="0">
                          <a:solidFill>
                            <a:srgbClr val="FFFFFF"/>
                          </a:solidFill>
                          <a:latin typeface="Calibri" pitchFamily="34" charset="0"/>
                          <a:ea typeface="Calibri" pitchFamily="34" charset="-122"/>
                          <a:cs typeface="Calibri" pitchFamily="34" charset="-120"/>
                        </a:rPr>
                        <a:t>Model</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920" b="1" dirty="0">
                          <a:solidFill>
                            <a:srgbClr val="FFFFFF"/>
                          </a:solidFill>
                          <a:latin typeface="Calibri" pitchFamily="34" charset="0"/>
                          <a:ea typeface="Calibri" pitchFamily="34" charset="-122"/>
                          <a:cs typeface="Calibri" pitchFamily="34" charset="-120"/>
                        </a:rPr>
                        <a:t>Domain</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920" b="1" dirty="0">
                          <a:solidFill>
                            <a:srgbClr val="FFFFFF"/>
                          </a:solidFill>
                          <a:latin typeface="Calibri" pitchFamily="34" charset="0"/>
                          <a:ea typeface="Calibri" pitchFamily="34" charset="-122"/>
                          <a:cs typeface="Calibri" pitchFamily="34" charset="-120"/>
                        </a:rPr>
                        <a:t>Hybrid formation</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920" b="1" dirty="0">
                          <a:solidFill>
                            <a:srgbClr val="FFFFFF"/>
                          </a:solidFill>
                          <a:latin typeface="Calibri" pitchFamily="34" charset="0"/>
                          <a:ea typeface="Calibri" pitchFamily="34" charset="-122"/>
                          <a:cs typeface="Calibri" pitchFamily="34" charset="-120"/>
                        </a:rPr>
                        <a:t>Key finding</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920" b="1" dirty="0">
                          <a:solidFill>
                            <a:srgbClr val="1B2430"/>
                          </a:solidFill>
                          <a:latin typeface="Calibri" pitchFamily="34" charset="0"/>
                          <a:ea typeface="Calibri" pitchFamily="34" charset="-122"/>
                          <a:cs typeface="Calibri" pitchFamily="34" charset="-120"/>
                        </a:rPr>
                        <a:t>Punia et al.</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2020</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LSTM + RF</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Multi-channel retail</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LSTM captures temporal component; RF models LSTM residuals from explanatory variables; forecasts summed</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Hybrid beat RF, NN, ARIMAX, MLR and LSTM benchmarks</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20" b="1" dirty="0">
                          <a:solidFill>
                            <a:srgbClr val="1B2430"/>
                          </a:solidFill>
                          <a:latin typeface="Calibri" pitchFamily="34" charset="0"/>
                          <a:ea typeface="Calibri" pitchFamily="34" charset="-122"/>
                          <a:cs typeface="Calibri" pitchFamily="34" charset="-120"/>
                        </a:rPr>
                        <a:t>Falatouri et al.</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2022</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LSTM vs SARIMA / SARIMAX (comparison)</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Grocery retail (Austria)</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Models compared side by side; no fusion</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LSTM better for potato, SARIMA for cucumber; promotions help SARIMAX</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920" b="1" dirty="0">
                          <a:solidFill>
                            <a:srgbClr val="1B2430"/>
                          </a:solidFill>
                          <a:latin typeface="Calibri" pitchFamily="34" charset="0"/>
                          <a:ea typeface="Calibri" pitchFamily="34" charset="-122"/>
                          <a:cs typeface="Calibri" pitchFamily="34" charset="-120"/>
                        </a:rPr>
                        <a:t>Yadav &amp; Barde</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2025</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LSTM + XGBoost</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Retail sales (POS system)</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LSTM for time-series forecasting, XGBoost for regression-based prediction; mechanism not specified</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Reports R2 above 0.90 (qualitative)</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920" b="1" dirty="0">
                          <a:solidFill>
                            <a:srgbClr val="1B2430"/>
                          </a:solidFill>
                          <a:latin typeface="Calibri" pitchFamily="34" charset="0"/>
                          <a:ea typeface="Calibri" pitchFamily="34" charset="-122"/>
                          <a:cs typeface="Calibri" pitchFamily="34" charset="-120"/>
                        </a:rPr>
                        <a:t>Sankar et al.</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2025</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LSTM, GRU, RF, XGB; LSTM-GRU, RF-XGB</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Walmart weekly sales</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Separate models and ensembles compared</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GRU highest R2 (0.98); RF-XGB 0.976</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920" b="1" dirty="0">
                          <a:solidFill>
                            <a:srgbClr val="1B2430"/>
                          </a:solidFill>
                          <a:latin typeface="Calibri" pitchFamily="34" charset="0"/>
                          <a:ea typeface="Calibri" pitchFamily="34" charset="-122"/>
                          <a:cs typeface="Calibri" pitchFamily="34" charset="-120"/>
                        </a:rPr>
                        <a:t>Bachhav</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2026</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RF + GRU</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Retail (Kaggle)</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RF for feature learning, GRU for sequential learning; mechanism not fully specified</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R2 = 94.5%</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920" b="1" dirty="0">
                          <a:solidFill>
                            <a:srgbClr val="1B2430"/>
                          </a:solidFill>
                          <a:latin typeface="Calibri" pitchFamily="34" charset="0"/>
                          <a:ea typeface="Calibri" pitchFamily="34" charset="-122"/>
                          <a:cs typeface="Calibri" pitchFamily="34" charset="-120"/>
                        </a:rPr>
                        <a:t>Sahin &amp; Cubukcu</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2026</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MP-LRNet (multi-patch LSTM + RF)</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Furniture retail</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LSTM outputs on 7/14-day patches used as feature vectors for RF</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R2 = 0.9918; 200 configurations tested</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0">
                <a:tc>
                  <a:txBody>
                    <a:bodyPr/>
                    <a:lstStyle/>
                    <a:p>
                      <a:pPr marL="0" indent="0" algn="l">
                        <a:buNone/>
                      </a:pPr>
                      <a:r>
                        <a:rPr lang="en-US" sz="920" b="1" dirty="0">
                          <a:solidFill>
                            <a:srgbClr val="1B2430"/>
                          </a:solidFill>
                          <a:latin typeface="Calibri" pitchFamily="34" charset="0"/>
                          <a:ea typeface="Calibri" pitchFamily="34" charset="-122"/>
                          <a:cs typeface="Calibri" pitchFamily="34" charset="-120"/>
                        </a:rPr>
                        <a:t>Suresh et al.</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2026</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Meta-LLSTM</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PoS retail</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Meta-learning plus learnable activation inside LSTM (not a tree hybrid)</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920" dirty="0">
                          <a:solidFill>
                            <a:srgbClr val="1B2430"/>
                          </a:solidFill>
                          <a:latin typeface="Calibri" pitchFamily="34" charset="0"/>
                          <a:ea typeface="Calibri" pitchFamily="34" charset="-122"/>
                          <a:cs typeface="Calibri" pitchFamily="34" charset="-120"/>
                        </a:rPr>
                        <a:t>RMSE 1.003; 16.97% lower than best compared approach</a:t>
                      </a:r>
                      <a:endParaRPr lang="en-US" sz="9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How the Published Hybrids Were Formed</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777240"/>
          <a:ext cx="8321040" cy="3511296"/>
        </p:xfrm>
        <a:graphic>
          <a:graphicData uri="http://schemas.openxmlformats.org/drawingml/2006/table">
            <a:tbl>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0">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Literature model</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Component 1 role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Component 2 role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Fusion strategy</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LSTM + RF (Punia 2020)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 temporal learning</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RF: models LSTM residuals using explanatory variables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Sequential residual modelling; final forecast = LSTM + RF residual forecast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LSTM + XGBoost (Yadav &amp; Barde 2025)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 time-series forecasting</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XGBoost: regression-based sales prediction</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Combination described in the paper; exact fusion mechanism not fully specified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RF + GRU (Bachhav 2026)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RF: feature learning</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GRU: sequential learning</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Combination described in the paper; exact fusion mechanism not fully specified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Multi-patch LSTM + RF (Sahin &amp; Cubukcu 2026)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 per 7/14-day patch: temporal feature vectors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RF: ensemble regression</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 representation (feature vectors) fed to RF</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LSTM vs SARIMA (Falatouri 2022)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 deep temporal model</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SARIMA / SARIMAX: statistical forecasting</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No fusion: models compared separately</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LSTM-GRU, RF-XGB (Sankar 2025)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Recurrent / tree models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Second recurrent / tree model</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Ensembles evaluated; exact mechanism not specified in detail</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TATFF-XGBLSTM (this work)</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LSTM: monthly sales forecast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XGBoost: transaction-level prediction</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Feature-level fusion: LSTM temporal prediction appended to XGBoost inputs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Datasets and Experimental Designs in the Literature</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777240"/>
          <a:ext cx="8321040" cy="3276600"/>
        </p:xfrm>
        <a:graphic>
          <a:graphicData uri="http://schemas.openxmlformats.org/drawingml/2006/table">
            <a:tbl>
              <a:tblPr/>
              <a:tblGrid>
                <a:gridCol w="13716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0">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Study</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Dataset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Period / size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Forecasting setup</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Punia et al. 2020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Multi-channel retailer, packaged food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30 months; 192 series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Online daily, offline weekly; last month held out for testing</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Falatouri et al. 2022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Austrian grocery retailer, 4 vegetables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More than 37 months; 3 years used for training</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Daily sales; forecast January 2020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Yadav &amp; Barde 2025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Retail sales data (not specified)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Not stated in paper</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 forecasting plus XGBoost prediction in a real-time POS system</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Sankar et al. 2025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Walmart Store Sales (Kaggle)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45 stores, weekly, Feb 2010 - Oct 2012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70:30 split; lag and rolling features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Bachhav 2026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Retail Sales Forecasting Dataset (Kaggle)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Size / period not stated in sections reviewed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80:20 split; z-score normalisation; lag features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Sahin &amp; Cubukcu 2026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Turkish furniture retailer</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37,006 rows; Jan 2022 - Oct 2023</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Daily aggregation; 80:20; 7/14-day patches; 200 configurations x 10 runs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Suresh et al. 2026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Custom PoS dataset (several cities)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25,118 records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One-step-ahead (t+1), store-product level</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This work</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Global Superstore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51,290 rows; 48 months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Chronological 80:20; 6-month lookback; transaction-level evaluation</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Baselines and Evaluation Metrics in the Literature</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777240"/>
          <a:ext cx="8321040" cy="2249424"/>
        </p:xfrm>
        <a:graphic>
          <a:graphicData uri="http://schemas.openxmlformats.org/drawingml/2006/table">
            <a:tbl>
              <a:tblPr/>
              <a:tblGrid>
                <a:gridCol w="15544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Study</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Baselines compared</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Metrics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Punia 2020</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RF, NN, ARIMAX, MLR, LSTM</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ARME, ARMAE, ARMSE; DM and PT tests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Falatouri 2022</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SARIMA, SARIMAX, LSTM</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MAPE, RMSE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Yadav &amp; Barde 2025</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Unnamed 'baseline methods'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MAE, MSE, R2 (values not tabulated)</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Sankar 2025</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LSTM, GRU, RF, XGB, LSTM-GRU, RF-XGB</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Normalised MAE, explained variance, R2, MAPE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Bachhav 2026</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LR, SVM, RNN, ANN (values from other studies)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R2, MAE, MSE, RMSE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Sahin &amp; Cubukcu 2026</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RNN variants x RF / XGB / HGB / GB</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R2, MAE, RMSE, MAPE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Suresh 2026</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AE, CNN, GRU, RNN, ARIMA, XGB, LSTM, TCN, TFN</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RMSE, MAE, R2 (SMAPE in abstract)</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This work</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LR, DT, RF, XGB, LSTM, GRU + 4 hybrids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MAE, MSE, RMSE, R2, MAPE, SMAPE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Reported Literature Performance</a:t>
            </a:r>
            <a:endParaRPr lang="en-US" sz="2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777240"/>
          <a:ext cx="8321040" cy="2581656"/>
        </p:xfrm>
        <a:graphic>
          <a:graphicData uri="http://schemas.openxmlformats.org/drawingml/2006/table">
            <a:tbl>
              <a:tblPr/>
              <a:tblGrid>
                <a:gridCol w="1828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Study</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Reported metrics (as stated in paper)</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Punia 2020, online 1-week</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Hybrid LSTM + RF (LSTM alone)</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ARME 0.0762, ARMAE 0.5003, ARMSE 0.2167 (LSTM: 0.2007 / 0.5268 / 0.2434)</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Punia 2020, online 1-month</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Hybrid LSTM + RF (LSTM alone)</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ARME 0.1787, ARMAE 0.5913, ARMSE 0.3755 (LSTM: 0.3356 / 0.6267 / 0.4031)</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Falatouri 2022</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LSTM (MAPE % / RMSE)</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Salad 14 / 949; Tomato 44 / 1170; Potato 15 / 1184; Cucumber 35 / 4502</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Sankar 2025</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LSTM, GRU, RF, XGB</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R2 0.96, 0.98, 0.96, 0.97; MAPE 0.05, 0.05, 0.07, 0.06</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Sankar 2025</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LSTM-GRU, RF-XGB</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R2 0.95 and 0.976; MAPE 0.09 and 0.05</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Bachhav 2026</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RF + GRU</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R2 94.5%, MSE 79,564.47, RMSE 282.07, MAE 134.62</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Sahin &amp; Cubukcu 2026</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MP-LRNet</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R2 0.9918, MAE 0.7321, RMSE 1.1896, MAPE 10.1562%</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Sahin &amp; Cubukcu 2026</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Active 7,14 RF</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R2 0.9910, MAE 0.7518, RMSE 1.2462, MAPE 10.2768%</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8"/>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Yadav &amp; Barde 2025</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LSTM + XGBoost</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Qualitative only: R2 above 0.90 reported; no metric table</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l">
                        <a:buNone/>
                      </a:pPr>
                      <a:r>
                        <a:rPr lang="en-US" sz="1000" b="1" dirty="0">
                          <a:solidFill>
                            <a:srgbClr val="1B2430"/>
                          </a:solidFill>
                          <a:latin typeface="Calibri" pitchFamily="34" charset="0"/>
                          <a:ea typeface="Calibri" pitchFamily="34" charset="-122"/>
                          <a:cs typeface="Calibri" pitchFamily="34" charset="-120"/>
                        </a:rPr>
                        <a:t>Suresh 2026</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Meta-LLSTM</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00" dirty="0">
                          <a:solidFill>
                            <a:srgbClr val="1B2430"/>
                          </a:solidFill>
                          <a:latin typeface="Calibri" pitchFamily="34" charset="0"/>
                          <a:ea typeface="Calibri" pitchFamily="34" charset="-122"/>
                          <a:cs typeface="Calibri" pitchFamily="34" charset="-120"/>
                        </a:rPr>
                        <a:t>RMSE 1.003 (abstract); other metrics in paper</a:t>
                      </a:r>
                      <a:endParaRPr lang="en-US" sz="10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10"/>
                  </a:ext>
                </a:extLst>
              </a:tr>
            </a:tbl>
          </a:graphicData>
        </a:graphic>
      </p:graphicFrame>
      <p:sp>
        <p:nvSpPr>
          <p:cNvPr id="5" name="Text 1"/>
          <p:cNvSpPr txBox="1"/>
          <p:nvPr/>
        </p:nvSpPr>
        <p:spPr>
          <a:xfrm>
            <a:off x="411480" y="4224528"/>
            <a:ext cx="8321040" cy="384048"/>
          </a:xfrm>
          <a:prstGeom prst="rect">
            <a:avLst/>
          </a:prstGeom>
          <a:noFill/>
          <a:ln/>
        </p:spPr>
        <p:txBody>
          <a:bodyPr wrap="square" lIns="0" tIns="0" rIns="0" bIns="0" rtlCol="0" anchor="t"/>
          <a:lstStyle/>
          <a:p>
            <a:pPr marL="0" indent="0">
              <a:buNone/>
            </a:pPr>
            <a:r>
              <a:rPr lang="en-US" sz="950" i="1" dirty="0">
                <a:solidFill>
                  <a:srgbClr val="5B6770"/>
                </a:solidFill>
              </a:rPr>
              <a:t>Values are as printed in each paper. They come from different datasets, scales and horizons and must not be ranked against one another.</a:t>
            </a: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Research Gaps and Limitations in Existing Work</a:t>
            </a:r>
            <a:endParaRPr lang="en-US" sz="2200" dirty="0"/>
          </a:p>
        </p:txBody>
      </p:sp>
      <p:sp>
        <p:nvSpPr>
          <p:cNvPr id="4" name="Shape 1"/>
          <p:cNvSpPr/>
          <p:nvPr/>
        </p:nvSpPr>
        <p:spPr>
          <a:xfrm>
            <a:off x="411480" y="777240"/>
            <a:ext cx="2606040" cy="640080"/>
          </a:xfrm>
          <a:prstGeom prst="rect">
            <a:avLst/>
          </a:prstGeom>
          <a:solidFill>
            <a:srgbClr val="EAF1FA"/>
          </a:solidFill>
          <a:ln w="12700">
            <a:solidFill>
              <a:srgbClr val="2E6FBA"/>
            </a:solidFill>
            <a:prstDash val="solid"/>
          </a:ln>
        </p:spPr>
      </p:sp>
      <p:sp>
        <p:nvSpPr>
          <p:cNvPr id="5" name="Text 2"/>
          <p:cNvSpPr txBox="1"/>
          <p:nvPr/>
        </p:nvSpPr>
        <p:spPr>
          <a:xfrm>
            <a:off x="411480" y="777240"/>
            <a:ext cx="2606040" cy="640080"/>
          </a:xfrm>
          <a:prstGeom prst="rect">
            <a:avLst/>
          </a:prstGeom>
          <a:noFill/>
          <a:ln/>
        </p:spPr>
        <p:txBody>
          <a:bodyPr wrap="square" lIns="25400" tIns="25400" rIns="25400" bIns="25400" rtlCol="0" anchor="ctr"/>
          <a:lstStyle/>
          <a:p>
            <a:pPr marL="0" indent="0" algn="ctr">
              <a:buNone/>
            </a:pPr>
            <a:r>
              <a:rPr lang="en-US" sz="950" b="1" dirty="0">
                <a:solidFill>
                  <a:srgbClr val="1F3A5F"/>
                </a:solidFill>
              </a:rPr>
              <a:t>EXISTING WORK</a:t>
            </a:r>
            <a:endParaRPr lang="en-US" sz="950" dirty="0"/>
          </a:p>
          <a:p>
            <a:pPr marL="0" indent="0" algn="ctr">
              <a:buNone/>
            </a:pPr>
            <a:r>
              <a:rPr lang="en-US" sz="950" b="1" dirty="0">
                <a:solidFill>
                  <a:srgbClr val="1F3A5F"/>
                </a:solidFill>
              </a:rPr>
              <a:t>LSTM+RF, LSTM+XGB, RF+GRU already published</a:t>
            </a:r>
            <a:endParaRPr lang="en-US" sz="950" dirty="0"/>
          </a:p>
        </p:txBody>
      </p:sp>
      <p:sp>
        <p:nvSpPr>
          <p:cNvPr id="6" name="Shape 3"/>
          <p:cNvSpPr/>
          <p:nvPr/>
        </p:nvSpPr>
        <p:spPr>
          <a:xfrm>
            <a:off x="3017520" y="1097280"/>
            <a:ext cx="274320" cy="0"/>
          </a:xfrm>
          <a:prstGeom prst="line">
            <a:avLst/>
          </a:prstGeom>
          <a:noFill/>
          <a:ln w="19050">
            <a:solidFill>
              <a:srgbClr val="5B6770"/>
            </a:solidFill>
            <a:prstDash val="solid"/>
            <a:tailEnd type="triangle"/>
          </a:ln>
        </p:spPr>
      </p:sp>
      <p:sp>
        <p:nvSpPr>
          <p:cNvPr id="7" name="Shape 4"/>
          <p:cNvSpPr/>
          <p:nvPr/>
        </p:nvSpPr>
        <p:spPr>
          <a:xfrm>
            <a:off x="3291840" y="777240"/>
            <a:ext cx="2606040" cy="640080"/>
          </a:xfrm>
          <a:prstGeom prst="rect">
            <a:avLst/>
          </a:prstGeom>
          <a:solidFill>
            <a:srgbClr val="FCEFD9"/>
          </a:solidFill>
          <a:ln w="12700">
            <a:solidFill>
              <a:srgbClr val="FCEFD9"/>
            </a:solidFill>
            <a:prstDash val="solid"/>
          </a:ln>
        </p:spPr>
      </p:sp>
      <p:sp>
        <p:nvSpPr>
          <p:cNvPr id="8" name="Text 5"/>
          <p:cNvSpPr txBox="1"/>
          <p:nvPr/>
        </p:nvSpPr>
        <p:spPr>
          <a:xfrm>
            <a:off x="3291840" y="777240"/>
            <a:ext cx="2606040" cy="640080"/>
          </a:xfrm>
          <a:prstGeom prst="rect">
            <a:avLst/>
          </a:prstGeom>
          <a:noFill/>
          <a:ln/>
        </p:spPr>
        <p:txBody>
          <a:bodyPr wrap="square" lIns="25400" tIns="25400" rIns="25400" bIns="25400" rtlCol="0" anchor="ctr"/>
          <a:lstStyle/>
          <a:p>
            <a:pPr marL="0" indent="0" algn="ctr">
              <a:buNone/>
            </a:pPr>
            <a:r>
              <a:rPr lang="en-US" sz="950" b="1" dirty="0">
                <a:solidFill>
                  <a:srgbClr val="1F3A5F"/>
                </a:solidFill>
              </a:rPr>
              <a:t>GAP</a:t>
            </a:r>
            <a:endParaRPr lang="en-US" sz="950" dirty="0"/>
          </a:p>
          <a:p>
            <a:pPr marL="0" indent="0" algn="ctr">
              <a:buNone/>
            </a:pPr>
            <a:r>
              <a:rPr lang="en-US" sz="950" b="1" dirty="0">
                <a:solidFill>
                  <a:srgbClr val="1F3A5F"/>
                </a:solidFill>
              </a:rPr>
              <a:t>Dataset-, horizon- and fusion-specific results; few transaction-level comparisons</a:t>
            </a:r>
            <a:endParaRPr lang="en-US" sz="950" dirty="0"/>
          </a:p>
        </p:txBody>
      </p:sp>
      <p:sp>
        <p:nvSpPr>
          <p:cNvPr id="9" name="Shape 6"/>
          <p:cNvSpPr/>
          <p:nvPr/>
        </p:nvSpPr>
        <p:spPr>
          <a:xfrm>
            <a:off x="5897880" y="1097280"/>
            <a:ext cx="274320" cy="0"/>
          </a:xfrm>
          <a:prstGeom prst="line">
            <a:avLst/>
          </a:prstGeom>
          <a:noFill/>
          <a:ln w="19050">
            <a:solidFill>
              <a:srgbClr val="5B6770"/>
            </a:solidFill>
            <a:prstDash val="solid"/>
            <a:tailEnd type="triangle"/>
          </a:ln>
        </p:spPr>
      </p:sp>
      <p:sp>
        <p:nvSpPr>
          <p:cNvPr id="10" name="Shape 7"/>
          <p:cNvSpPr/>
          <p:nvPr/>
        </p:nvSpPr>
        <p:spPr>
          <a:xfrm>
            <a:off x="6172200" y="777240"/>
            <a:ext cx="2560320" cy="640080"/>
          </a:xfrm>
          <a:prstGeom prst="rect">
            <a:avLst/>
          </a:prstGeom>
          <a:solidFill>
            <a:srgbClr val="D9822B"/>
          </a:solidFill>
          <a:ln w="12700">
            <a:solidFill>
              <a:srgbClr val="D9822B"/>
            </a:solidFill>
            <a:prstDash val="solid"/>
          </a:ln>
        </p:spPr>
      </p:sp>
      <p:sp>
        <p:nvSpPr>
          <p:cNvPr id="11" name="Text 8"/>
          <p:cNvSpPr txBox="1"/>
          <p:nvPr/>
        </p:nvSpPr>
        <p:spPr>
          <a:xfrm>
            <a:off x="6172200" y="777240"/>
            <a:ext cx="2560320" cy="640080"/>
          </a:xfrm>
          <a:prstGeom prst="rect">
            <a:avLst/>
          </a:prstGeom>
          <a:noFill/>
          <a:ln/>
        </p:spPr>
        <p:txBody>
          <a:bodyPr wrap="square" lIns="25400" tIns="25400" rIns="25400" bIns="25400" rtlCol="0" anchor="ctr"/>
          <a:lstStyle/>
          <a:p>
            <a:pPr marL="0" indent="0" algn="ctr">
              <a:buNone/>
            </a:pPr>
            <a:r>
              <a:rPr lang="en-US" sz="950" b="1" dirty="0">
                <a:solidFill>
                  <a:srgbClr val="FFFFFF"/>
                </a:solidFill>
              </a:rPr>
              <a:t>OUR CONTRIBUTION</a:t>
            </a:r>
            <a:endParaRPr lang="en-US" sz="950" dirty="0"/>
          </a:p>
          <a:p>
            <a:pPr marL="0" indent="0" algn="ctr">
              <a:buNone/>
            </a:pPr>
            <a:r>
              <a:rPr lang="en-US" sz="950" b="1" dirty="0">
                <a:solidFill>
                  <a:srgbClr val="FFFFFF"/>
                </a:solidFill>
              </a:rPr>
              <a:t>Feature-level fusion + 2x2 comparison on Superstore</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600200"/>
          <a:ext cx="8321040" cy="2401824"/>
        </p:xfrm>
        <a:graphic>
          <a:graphicData uri="http://schemas.openxmlformats.org/drawingml/2006/table">
            <a:tbl>
              <a:tblPr/>
              <a:tblGrid>
                <a:gridCol w="31089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0">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Existing literature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Limitation / gap</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Our work</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 + RF already studied (Punia, Sahin &amp; Cubukcu)</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The pair itself is not novel</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Evaluated LSTM+RF as one candidate hybrid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 + XGB already described (Yadav &amp; Barde)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Pair not novel; fusion mechanism unspecified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Specified feature-level temporal fusion</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GRU + RF already described (Bachhav)</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Pair not novel; mechanism unspecified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Evaluated GRU+RF with the same setup</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Different retail datasets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Results are dataset-dependent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Tested on Global Superstore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Different horizons and splits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Direct comparison is difficult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Common framework for four hybrids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Different fusion strategies (residual, feature vectors, ensembles)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Exact feature-level setup differs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 temporal prediction added as an XGBoost feature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0">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Systematic comparisons exist on aggregated series (e.g. 200 configurations)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Transaction-level comparisons less common</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2x2 LSTM/GRU x RF/XGB at transaction level</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Novelty Verification and Research Contribution</a:t>
            </a:r>
            <a:endParaRPr lang="en-US" sz="2200" dirty="0"/>
          </a:p>
        </p:txBody>
      </p:sp>
      <p:sp>
        <p:nvSpPr>
          <p:cNvPr id="4" name="Shape 1"/>
          <p:cNvSpPr/>
          <p:nvPr/>
        </p:nvSpPr>
        <p:spPr>
          <a:xfrm>
            <a:off x="411480" y="777240"/>
            <a:ext cx="8321040" cy="731520"/>
          </a:xfrm>
          <a:prstGeom prst="rect">
            <a:avLst/>
          </a:prstGeom>
          <a:solidFill>
            <a:srgbClr val="EAF1FA"/>
          </a:solidFill>
          <a:ln w="12700">
            <a:solidFill>
              <a:srgbClr val="2E6FBA"/>
            </a:solidFill>
            <a:prstDash val="solid"/>
          </a:ln>
        </p:spPr>
      </p:sp>
      <p:sp>
        <p:nvSpPr>
          <p:cNvPr id="5" name="Text 2"/>
          <p:cNvSpPr txBox="1"/>
          <p:nvPr/>
        </p:nvSpPr>
        <p:spPr>
          <a:xfrm>
            <a:off x="411480" y="777240"/>
            <a:ext cx="8321040" cy="731520"/>
          </a:xfrm>
          <a:prstGeom prst="rect">
            <a:avLst/>
          </a:prstGeom>
          <a:noFill/>
          <a:ln/>
        </p:spPr>
        <p:txBody>
          <a:bodyPr wrap="square" lIns="25400" tIns="25400" rIns="25400" bIns="25400" rtlCol="0" anchor="ctr"/>
          <a:lstStyle/>
          <a:p>
            <a:pPr marL="0" indent="0" algn="ctr">
              <a:buNone/>
            </a:pPr>
            <a:r>
              <a:rPr lang="en-US" sz="1050" b="1" dirty="0">
                <a:solidFill>
                  <a:srgbClr val="1F3A5F"/>
                </a:solidFill>
              </a:rPr>
              <a:t>This work does not claim that the LSTM+XGBoost pair itself is new. The contribution lies in the specific feature-level temporal integration, the systematic hybrid comparison, and the implementation and evaluation on Global Superstore.</a:t>
            </a:r>
            <a:endParaRPr lang="en-US" sz="1050" dirty="0"/>
          </a:p>
        </p:txBody>
      </p:sp>
      <p:sp>
        <p:nvSpPr>
          <p:cNvPr id="6" name="Shape 3"/>
          <p:cNvSpPr/>
          <p:nvPr/>
        </p:nvSpPr>
        <p:spPr>
          <a:xfrm>
            <a:off x="411480" y="1645920"/>
            <a:ext cx="4114800" cy="868680"/>
          </a:xfrm>
          <a:prstGeom prst="rect">
            <a:avLst/>
          </a:prstGeom>
          <a:solidFill>
            <a:srgbClr val="FFFFFF"/>
          </a:solidFill>
          <a:ln w="9525">
            <a:solidFill>
              <a:srgbClr val="D5DBE1"/>
            </a:solidFill>
            <a:prstDash val="solid"/>
          </a:ln>
        </p:spPr>
      </p:sp>
      <p:sp>
        <p:nvSpPr>
          <p:cNvPr id="7" name="Shape 4"/>
          <p:cNvSpPr/>
          <p:nvPr/>
        </p:nvSpPr>
        <p:spPr>
          <a:xfrm>
            <a:off x="411480" y="1645920"/>
            <a:ext cx="64008" cy="868680"/>
          </a:xfrm>
          <a:prstGeom prst="rect">
            <a:avLst/>
          </a:prstGeom>
          <a:solidFill>
            <a:srgbClr val="D9822B"/>
          </a:solidFill>
          <a:ln w="12700">
            <a:solidFill>
              <a:srgbClr val="D9822B"/>
            </a:solidFill>
            <a:prstDash val="solid"/>
          </a:ln>
        </p:spPr>
      </p:sp>
      <p:sp>
        <p:nvSpPr>
          <p:cNvPr id="8" name="Text 5"/>
          <p:cNvSpPr txBox="1"/>
          <p:nvPr/>
        </p:nvSpPr>
        <p:spPr>
          <a:xfrm>
            <a:off x="566928" y="1700784"/>
            <a:ext cx="3886200" cy="256032"/>
          </a:xfrm>
          <a:prstGeom prst="rect">
            <a:avLst/>
          </a:prstGeom>
          <a:noFill/>
          <a:ln/>
        </p:spPr>
        <p:txBody>
          <a:bodyPr wrap="square" lIns="0" tIns="0" rIns="0" bIns="0" rtlCol="0" anchor="ctr"/>
          <a:lstStyle/>
          <a:p>
            <a:pPr marL="0" indent="0">
              <a:buNone/>
            </a:pPr>
            <a:r>
              <a:rPr lang="en-US" sz="1150" b="1" dirty="0">
                <a:solidFill>
                  <a:srgbClr val="D9822B"/>
                </a:solidFill>
              </a:rPr>
              <a:t>1  Feature-level temporal fusion</a:t>
            </a:r>
            <a:endParaRPr lang="en-US" sz="1150" dirty="0"/>
          </a:p>
        </p:txBody>
      </p:sp>
      <p:sp>
        <p:nvSpPr>
          <p:cNvPr id="9" name="Text 6"/>
          <p:cNvSpPr txBox="1"/>
          <p:nvPr/>
        </p:nvSpPr>
        <p:spPr>
          <a:xfrm>
            <a:off x="566928" y="1993392"/>
            <a:ext cx="3858768" cy="466344"/>
          </a:xfrm>
          <a:prstGeom prst="rect">
            <a:avLst/>
          </a:prstGeom>
          <a:noFill/>
          <a:ln/>
        </p:spPr>
        <p:txBody>
          <a:bodyPr wrap="square" lIns="0" tIns="0" rIns="0" bIns="0" rtlCol="0" anchor="t"/>
          <a:lstStyle/>
          <a:p>
            <a:pPr marL="0" indent="0">
              <a:buNone/>
            </a:pPr>
            <a:r>
              <a:rPr lang="en-US" sz="1180" dirty="0">
                <a:solidFill>
                  <a:srgbClr val="1B2430"/>
                </a:solidFill>
              </a:rPr>
              <a:t>LSTM temporal prediction is added as a transaction-level input feature for XGBoost.</a:t>
            </a:r>
            <a:endParaRPr lang="en-US" sz="1180" dirty="0"/>
          </a:p>
        </p:txBody>
      </p:sp>
      <p:sp>
        <p:nvSpPr>
          <p:cNvPr id="10" name="Shape 7"/>
          <p:cNvSpPr/>
          <p:nvPr/>
        </p:nvSpPr>
        <p:spPr>
          <a:xfrm>
            <a:off x="4617720" y="1645920"/>
            <a:ext cx="4114800" cy="868680"/>
          </a:xfrm>
          <a:prstGeom prst="rect">
            <a:avLst/>
          </a:prstGeom>
          <a:solidFill>
            <a:srgbClr val="FFFFFF"/>
          </a:solidFill>
          <a:ln w="9525">
            <a:solidFill>
              <a:srgbClr val="D5DBE1"/>
            </a:solidFill>
            <a:prstDash val="solid"/>
          </a:ln>
        </p:spPr>
      </p:sp>
      <p:sp>
        <p:nvSpPr>
          <p:cNvPr id="11" name="Shape 8"/>
          <p:cNvSpPr/>
          <p:nvPr/>
        </p:nvSpPr>
        <p:spPr>
          <a:xfrm>
            <a:off x="4617720" y="1645920"/>
            <a:ext cx="64008" cy="868680"/>
          </a:xfrm>
          <a:prstGeom prst="rect">
            <a:avLst/>
          </a:prstGeom>
          <a:solidFill>
            <a:srgbClr val="2E6FBA"/>
          </a:solidFill>
          <a:ln w="12700">
            <a:solidFill>
              <a:srgbClr val="2E6FBA"/>
            </a:solidFill>
            <a:prstDash val="solid"/>
          </a:ln>
        </p:spPr>
      </p:sp>
      <p:sp>
        <p:nvSpPr>
          <p:cNvPr id="12" name="Text 9"/>
          <p:cNvSpPr txBox="1"/>
          <p:nvPr/>
        </p:nvSpPr>
        <p:spPr>
          <a:xfrm>
            <a:off x="4773168" y="1700784"/>
            <a:ext cx="3886200" cy="256032"/>
          </a:xfrm>
          <a:prstGeom prst="rect">
            <a:avLst/>
          </a:prstGeom>
          <a:noFill/>
          <a:ln/>
        </p:spPr>
        <p:txBody>
          <a:bodyPr wrap="square" lIns="0" tIns="0" rIns="0" bIns="0" rtlCol="0" anchor="ctr"/>
          <a:lstStyle/>
          <a:p>
            <a:pPr marL="0" indent="0">
              <a:buNone/>
            </a:pPr>
            <a:r>
              <a:rPr lang="en-US" sz="1150" b="1" dirty="0">
                <a:solidFill>
                  <a:srgbClr val="2E6FBA"/>
                </a:solidFill>
              </a:rPr>
              <a:t>2  Systematic hybrid comparison</a:t>
            </a:r>
            <a:endParaRPr lang="en-US" sz="1150" dirty="0"/>
          </a:p>
        </p:txBody>
      </p:sp>
      <p:sp>
        <p:nvSpPr>
          <p:cNvPr id="13" name="Text 10"/>
          <p:cNvSpPr txBox="1"/>
          <p:nvPr/>
        </p:nvSpPr>
        <p:spPr>
          <a:xfrm>
            <a:off x="4773168" y="1993392"/>
            <a:ext cx="3858768" cy="466344"/>
          </a:xfrm>
          <a:prstGeom prst="rect">
            <a:avLst/>
          </a:prstGeom>
          <a:noFill/>
          <a:ln/>
        </p:spPr>
        <p:txBody>
          <a:bodyPr wrap="square" lIns="0" tIns="0" rIns="0" bIns="0" rtlCol="0" anchor="t"/>
          <a:lstStyle/>
          <a:p>
            <a:pPr marL="0" indent="0">
              <a:buNone/>
            </a:pPr>
            <a:r>
              <a:rPr lang="en-US" sz="1180" dirty="0">
                <a:solidFill>
                  <a:srgbClr val="1B2430"/>
                </a:solidFill>
              </a:rPr>
              <a:t>LSTM+XGB, LSTM+RF, GRU+XGB and GRU+RF evaluated under one framework.</a:t>
            </a:r>
            <a:endParaRPr lang="en-US" sz="1180" dirty="0"/>
          </a:p>
        </p:txBody>
      </p:sp>
      <p:sp>
        <p:nvSpPr>
          <p:cNvPr id="14" name="Shape 11"/>
          <p:cNvSpPr/>
          <p:nvPr/>
        </p:nvSpPr>
        <p:spPr>
          <a:xfrm>
            <a:off x="411480" y="2578608"/>
            <a:ext cx="4114800" cy="868680"/>
          </a:xfrm>
          <a:prstGeom prst="rect">
            <a:avLst/>
          </a:prstGeom>
          <a:solidFill>
            <a:srgbClr val="FFFFFF"/>
          </a:solidFill>
          <a:ln w="9525">
            <a:solidFill>
              <a:srgbClr val="D5DBE1"/>
            </a:solidFill>
            <a:prstDash val="solid"/>
          </a:ln>
        </p:spPr>
      </p:sp>
      <p:sp>
        <p:nvSpPr>
          <p:cNvPr id="15" name="Shape 12"/>
          <p:cNvSpPr/>
          <p:nvPr/>
        </p:nvSpPr>
        <p:spPr>
          <a:xfrm>
            <a:off x="411480" y="2578608"/>
            <a:ext cx="64008" cy="868680"/>
          </a:xfrm>
          <a:prstGeom prst="rect">
            <a:avLst/>
          </a:prstGeom>
          <a:solidFill>
            <a:srgbClr val="2E6FBA"/>
          </a:solidFill>
          <a:ln w="12700">
            <a:solidFill>
              <a:srgbClr val="2E6FBA"/>
            </a:solidFill>
            <a:prstDash val="solid"/>
          </a:ln>
        </p:spPr>
      </p:sp>
      <p:sp>
        <p:nvSpPr>
          <p:cNvPr id="16" name="Text 13"/>
          <p:cNvSpPr txBox="1"/>
          <p:nvPr/>
        </p:nvSpPr>
        <p:spPr>
          <a:xfrm>
            <a:off x="566928" y="2633472"/>
            <a:ext cx="3886200" cy="256032"/>
          </a:xfrm>
          <a:prstGeom prst="rect">
            <a:avLst/>
          </a:prstGeom>
          <a:noFill/>
          <a:ln/>
        </p:spPr>
        <p:txBody>
          <a:bodyPr wrap="square" lIns="0" tIns="0" rIns="0" bIns="0" rtlCol="0" anchor="ctr"/>
          <a:lstStyle/>
          <a:p>
            <a:pPr marL="0" indent="0">
              <a:buNone/>
            </a:pPr>
            <a:r>
              <a:rPr lang="en-US" sz="1150" b="1" dirty="0">
                <a:solidFill>
                  <a:srgbClr val="2E6FBA"/>
                </a:solidFill>
              </a:rPr>
              <a:t>3  Dataset-specific contribution</a:t>
            </a:r>
            <a:endParaRPr lang="en-US" sz="1150" dirty="0"/>
          </a:p>
        </p:txBody>
      </p:sp>
      <p:sp>
        <p:nvSpPr>
          <p:cNvPr id="17" name="Text 14"/>
          <p:cNvSpPr txBox="1"/>
          <p:nvPr/>
        </p:nvSpPr>
        <p:spPr>
          <a:xfrm>
            <a:off x="566928" y="2926080"/>
            <a:ext cx="3858768" cy="466344"/>
          </a:xfrm>
          <a:prstGeom prst="rect">
            <a:avLst/>
          </a:prstGeom>
          <a:noFill/>
          <a:ln/>
        </p:spPr>
        <p:txBody>
          <a:bodyPr wrap="square" lIns="0" tIns="0" rIns="0" bIns="0" rtlCol="0" anchor="t"/>
          <a:lstStyle/>
          <a:p>
            <a:pPr marL="0" indent="0">
              <a:buNone/>
            </a:pPr>
            <a:r>
              <a:rPr lang="en-US" sz="1180" dirty="0">
                <a:solidFill>
                  <a:srgbClr val="1B2430"/>
                </a:solidFill>
              </a:rPr>
              <a:t>Implementation and evaluation on Global Superstore (51,290 transactions).</a:t>
            </a:r>
            <a:endParaRPr lang="en-US" sz="1180" dirty="0"/>
          </a:p>
        </p:txBody>
      </p:sp>
      <p:sp>
        <p:nvSpPr>
          <p:cNvPr id="18" name="Shape 15"/>
          <p:cNvSpPr/>
          <p:nvPr/>
        </p:nvSpPr>
        <p:spPr>
          <a:xfrm>
            <a:off x="4617720" y="2578608"/>
            <a:ext cx="4114800" cy="868680"/>
          </a:xfrm>
          <a:prstGeom prst="rect">
            <a:avLst/>
          </a:prstGeom>
          <a:solidFill>
            <a:srgbClr val="FFFFFF"/>
          </a:solidFill>
          <a:ln w="9525">
            <a:solidFill>
              <a:srgbClr val="D5DBE1"/>
            </a:solidFill>
            <a:prstDash val="solid"/>
          </a:ln>
        </p:spPr>
      </p:sp>
      <p:sp>
        <p:nvSpPr>
          <p:cNvPr id="19" name="Shape 16"/>
          <p:cNvSpPr/>
          <p:nvPr/>
        </p:nvSpPr>
        <p:spPr>
          <a:xfrm>
            <a:off x="4617720" y="2578608"/>
            <a:ext cx="64008" cy="868680"/>
          </a:xfrm>
          <a:prstGeom prst="rect">
            <a:avLst/>
          </a:prstGeom>
          <a:solidFill>
            <a:srgbClr val="2E6FBA"/>
          </a:solidFill>
          <a:ln w="12700">
            <a:solidFill>
              <a:srgbClr val="2E6FBA"/>
            </a:solidFill>
            <a:prstDash val="solid"/>
          </a:ln>
        </p:spPr>
      </p:sp>
      <p:sp>
        <p:nvSpPr>
          <p:cNvPr id="20" name="Text 17"/>
          <p:cNvSpPr txBox="1"/>
          <p:nvPr/>
        </p:nvSpPr>
        <p:spPr>
          <a:xfrm>
            <a:off x="4773168" y="2633472"/>
            <a:ext cx="3886200" cy="256032"/>
          </a:xfrm>
          <a:prstGeom prst="rect">
            <a:avLst/>
          </a:prstGeom>
          <a:noFill/>
          <a:ln/>
        </p:spPr>
        <p:txBody>
          <a:bodyPr wrap="square" lIns="0" tIns="0" rIns="0" bIns="0" rtlCol="0" anchor="ctr"/>
          <a:lstStyle/>
          <a:p>
            <a:pPr marL="0" indent="0">
              <a:buNone/>
            </a:pPr>
            <a:r>
              <a:rPr lang="en-US" sz="1150" b="1" dirty="0">
                <a:solidFill>
                  <a:srgbClr val="2E6FBA"/>
                </a:solidFill>
              </a:rPr>
              <a:t>4  Experimental selection</a:t>
            </a:r>
            <a:endParaRPr lang="en-US" sz="1150" dirty="0"/>
          </a:p>
        </p:txBody>
      </p:sp>
      <p:sp>
        <p:nvSpPr>
          <p:cNvPr id="21" name="Text 18"/>
          <p:cNvSpPr txBox="1"/>
          <p:nvPr/>
        </p:nvSpPr>
        <p:spPr>
          <a:xfrm>
            <a:off x="4773168" y="2926080"/>
            <a:ext cx="3858768" cy="466344"/>
          </a:xfrm>
          <a:prstGeom prst="rect">
            <a:avLst/>
          </a:prstGeom>
          <a:noFill/>
          <a:ln/>
        </p:spPr>
        <p:txBody>
          <a:bodyPr wrap="square" lIns="0" tIns="0" rIns="0" bIns="0" rtlCol="0" anchor="t"/>
          <a:lstStyle/>
          <a:p>
            <a:pPr marL="0" indent="0">
              <a:buNone/>
            </a:pPr>
            <a:r>
              <a:rPr lang="en-US" sz="1180" dirty="0">
                <a:solidFill>
                  <a:srgbClr val="1B2430"/>
                </a:solidFill>
              </a:rPr>
              <a:t>Final hybrid chosen from measured results, not assumed.</a:t>
            </a:r>
            <a:endParaRPr lang="en-US" sz="1180" dirty="0"/>
          </a:p>
        </p:txBody>
      </p:sp>
      <p:sp>
        <p:nvSpPr>
          <p:cNvPr id="22" name="Shape 19"/>
          <p:cNvSpPr/>
          <p:nvPr/>
        </p:nvSpPr>
        <p:spPr>
          <a:xfrm>
            <a:off x="411480" y="3511296"/>
            <a:ext cx="4114800" cy="868680"/>
          </a:xfrm>
          <a:prstGeom prst="rect">
            <a:avLst/>
          </a:prstGeom>
          <a:solidFill>
            <a:srgbClr val="FFFFFF"/>
          </a:solidFill>
          <a:ln w="9525">
            <a:solidFill>
              <a:srgbClr val="D5DBE1"/>
            </a:solidFill>
            <a:prstDash val="solid"/>
          </a:ln>
        </p:spPr>
      </p:sp>
      <p:sp>
        <p:nvSpPr>
          <p:cNvPr id="23" name="Shape 20"/>
          <p:cNvSpPr/>
          <p:nvPr/>
        </p:nvSpPr>
        <p:spPr>
          <a:xfrm>
            <a:off x="411480" y="3511296"/>
            <a:ext cx="64008" cy="868680"/>
          </a:xfrm>
          <a:prstGeom prst="rect">
            <a:avLst/>
          </a:prstGeom>
          <a:solidFill>
            <a:srgbClr val="2E6FBA"/>
          </a:solidFill>
          <a:ln w="12700">
            <a:solidFill>
              <a:srgbClr val="2E6FBA"/>
            </a:solidFill>
            <a:prstDash val="solid"/>
          </a:ln>
        </p:spPr>
      </p:sp>
      <p:sp>
        <p:nvSpPr>
          <p:cNvPr id="24" name="Text 21"/>
          <p:cNvSpPr txBox="1"/>
          <p:nvPr/>
        </p:nvSpPr>
        <p:spPr>
          <a:xfrm>
            <a:off x="566928" y="3566160"/>
            <a:ext cx="3886200" cy="256032"/>
          </a:xfrm>
          <a:prstGeom prst="rect">
            <a:avLst/>
          </a:prstGeom>
          <a:noFill/>
          <a:ln/>
        </p:spPr>
        <p:txBody>
          <a:bodyPr wrap="square" lIns="0" tIns="0" rIns="0" bIns="0" rtlCol="0" anchor="ctr"/>
          <a:lstStyle/>
          <a:p>
            <a:pPr marL="0" indent="0">
              <a:buNone/>
            </a:pPr>
            <a:r>
              <a:rPr lang="en-US" sz="1150" b="1" dirty="0">
                <a:solidFill>
                  <a:srgbClr val="2E6FBA"/>
                </a:solidFill>
              </a:rPr>
              <a:t>5  Integrated retail analytics</a:t>
            </a:r>
            <a:endParaRPr lang="en-US" sz="1150" dirty="0"/>
          </a:p>
        </p:txBody>
      </p:sp>
      <p:sp>
        <p:nvSpPr>
          <p:cNvPr id="25" name="Text 22"/>
          <p:cNvSpPr txBox="1"/>
          <p:nvPr/>
        </p:nvSpPr>
        <p:spPr>
          <a:xfrm>
            <a:off x="566928" y="3858768"/>
            <a:ext cx="3858768" cy="466344"/>
          </a:xfrm>
          <a:prstGeom prst="rect">
            <a:avLst/>
          </a:prstGeom>
          <a:noFill/>
          <a:ln/>
        </p:spPr>
        <p:txBody>
          <a:bodyPr wrap="square" lIns="0" tIns="0" rIns="0" bIns="0" rtlCol="0" anchor="t"/>
          <a:lstStyle/>
          <a:p>
            <a:pPr marL="0" indent="0">
              <a:buNone/>
            </a:pPr>
            <a:r>
              <a:rPr lang="en-US" sz="1180" dirty="0">
                <a:solidFill>
                  <a:srgbClr val="1B2430"/>
                </a:solidFill>
              </a:rPr>
              <a:t>Temporal forecast information combined with transaction attributes inside one analytics pipeline.</a:t>
            </a:r>
            <a:endParaRPr lang="en-US" sz="1180" dirty="0"/>
          </a:p>
        </p:txBody>
      </p:sp>
      <p:sp>
        <p:nvSpPr>
          <p:cNvPr id="26" name="Text 23"/>
          <p:cNvSpPr txBox="1"/>
          <p:nvPr/>
        </p:nvSpPr>
        <p:spPr>
          <a:xfrm>
            <a:off x="411480" y="4480560"/>
            <a:ext cx="8321040" cy="384048"/>
          </a:xfrm>
          <a:prstGeom prst="rect">
            <a:avLst/>
          </a:prstGeom>
          <a:noFill/>
          <a:ln/>
        </p:spPr>
        <p:txBody>
          <a:bodyPr wrap="square" lIns="0" tIns="0" rIns="0" bIns="0" rtlCol="0" anchor="t"/>
          <a:lstStyle/>
          <a:p>
            <a:pPr marL="0" indent="0">
              <a:buNone/>
            </a:pPr>
            <a:r>
              <a:rPr lang="en-US" sz="950" i="1" dirty="0">
                <a:solidFill>
                  <a:srgbClr val="5B6770"/>
                </a:solidFill>
              </a:rPr>
              <a:t>Verified against the seven supplied papers only; not a worldwide novelty search.</a:t>
            </a:r>
            <a:endParaRPr lang="en-US" sz="950" dirty="0"/>
          </a:p>
        </p:txBody>
      </p:sp>
      <p:sp>
        <p:nvSpPr>
          <p:cNvPr id="3"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Baseline Models Implemented</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A reference ladder: linear, single tree, bagged trees, boosted trees, and two recurrent models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1941576"/>
        </p:xfrm>
        <a:graphic>
          <a:graphicData uri="http://schemas.openxmlformats.org/drawingml/2006/table">
            <a:tbl>
              <a:tblPr/>
              <a:tblGrid>
                <a:gridCol w="21945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0">
                <a:tc>
                  <a:txBody>
                    <a:bodyPr/>
                    <a:lstStyle/>
                    <a:p>
                      <a:pPr marL="0" indent="0" algn="l">
                        <a:buNone/>
                      </a:pPr>
                      <a:r>
                        <a:rPr lang="en-US" sz="1280" b="1" dirty="0">
                          <a:solidFill>
                            <a:srgbClr val="FFFFFF"/>
                          </a:solidFill>
                          <a:latin typeface="Calibri" pitchFamily="34" charset="0"/>
                          <a:ea typeface="Calibri" pitchFamily="34" charset="-122"/>
                          <a:cs typeface="Calibri" pitchFamily="34" charset="-120"/>
                        </a:rPr>
                        <a:t>Model</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280" b="1" dirty="0">
                          <a:solidFill>
                            <a:srgbClr val="FFFFFF"/>
                          </a:solidFill>
                          <a:latin typeface="Calibri" pitchFamily="34" charset="0"/>
                          <a:ea typeface="Calibri" pitchFamily="34" charset="-122"/>
                          <a:cs typeface="Calibri" pitchFamily="34" charset="-120"/>
                        </a:rPr>
                        <a:t>Type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280" b="1" dirty="0">
                          <a:solidFill>
                            <a:srgbClr val="FFFFFF"/>
                          </a:solidFill>
                          <a:latin typeface="Calibri" pitchFamily="34" charset="0"/>
                          <a:ea typeface="Calibri" pitchFamily="34" charset="-122"/>
                          <a:cs typeface="Calibri" pitchFamily="34" charset="-120"/>
                        </a:rPr>
                        <a:t>Purpose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280" b="1" dirty="0">
                          <a:solidFill>
                            <a:srgbClr val="FFFFFF"/>
                          </a:solidFill>
                          <a:latin typeface="Calibri" pitchFamily="34" charset="0"/>
                          <a:ea typeface="Calibri" pitchFamily="34" charset="-122"/>
                          <a:cs typeface="Calibri" pitchFamily="34" charset="-120"/>
                        </a:rPr>
                        <a:t>Input level</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Linear Regression</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ML</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Simple baseline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Transaction</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Decision Tree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ML</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Nonlinear baseline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Transaction</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Random Forest</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ML</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Ensemble baseline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Transaction</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XGBoost</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ML</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Advanced tree baseline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Transaction</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extLst>
                  <a:ext uri="{0D108BD9-81ED-4DB2-BD59-A6C34878D82A}">
                    <a16:rowId xmlns:a16="http://schemas.microsoft.com/office/drawing/2014/main" val="10004"/>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LSTM</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DL</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Temporal baseline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Monthly series</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GRU</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DL</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Alternative temporal baseline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Monthly series</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bl>
          </a:graphicData>
        </a:graphic>
      </p:graphicFrame>
      <p:sp>
        <p:nvSpPr>
          <p:cNvPr id="6" name="Shape 2"/>
          <p:cNvSpPr/>
          <p:nvPr/>
        </p:nvSpPr>
        <p:spPr>
          <a:xfrm>
            <a:off x="411480" y="3246120"/>
            <a:ext cx="8321040" cy="1097280"/>
          </a:xfrm>
          <a:prstGeom prst="rect">
            <a:avLst/>
          </a:prstGeom>
          <a:solidFill>
            <a:srgbClr val="FFFFFF"/>
          </a:solidFill>
          <a:ln w="9525">
            <a:solidFill>
              <a:srgbClr val="D5DBE1"/>
            </a:solidFill>
            <a:prstDash val="solid"/>
          </a:ln>
        </p:spPr>
      </p:sp>
      <p:sp>
        <p:nvSpPr>
          <p:cNvPr id="7" name="Shape 3"/>
          <p:cNvSpPr/>
          <p:nvPr/>
        </p:nvSpPr>
        <p:spPr>
          <a:xfrm>
            <a:off x="411480" y="3246120"/>
            <a:ext cx="64008" cy="1097280"/>
          </a:xfrm>
          <a:prstGeom prst="rect">
            <a:avLst/>
          </a:prstGeom>
          <a:solidFill>
            <a:srgbClr val="2E6FBA"/>
          </a:solidFill>
          <a:ln w="12700">
            <a:solidFill>
              <a:srgbClr val="2E6FBA"/>
            </a:solidFill>
            <a:prstDash val="solid"/>
          </a:ln>
        </p:spPr>
      </p:sp>
      <p:sp>
        <p:nvSpPr>
          <p:cNvPr id="8" name="Text 4"/>
          <p:cNvSpPr txBox="1"/>
          <p:nvPr/>
        </p:nvSpPr>
        <p:spPr>
          <a:xfrm>
            <a:off x="566928" y="3300984"/>
            <a:ext cx="8092440" cy="256032"/>
          </a:xfrm>
          <a:prstGeom prst="rect">
            <a:avLst/>
          </a:prstGeom>
          <a:noFill/>
          <a:ln/>
        </p:spPr>
        <p:txBody>
          <a:bodyPr wrap="square" lIns="0" tIns="0" rIns="0" bIns="0" rtlCol="0" anchor="ctr"/>
          <a:lstStyle/>
          <a:p>
            <a:pPr marL="0" indent="0">
              <a:buNone/>
            </a:pPr>
            <a:r>
              <a:rPr lang="en-US" sz="1150" b="1" dirty="0">
                <a:solidFill>
                  <a:srgbClr val="2E6FBA"/>
                </a:solidFill>
              </a:rPr>
              <a:t>Why baselines are necessary</a:t>
            </a:r>
            <a:endParaRPr lang="en-US" sz="1150" dirty="0"/>
          </a:p>
        </p:txBody>
      </p:sp>
      <p:sp>
        <p:nvSpPr>
          <p:cNvPr id="9" name="Text 5"/>
          <p:cNvSpPr txBox="1"/>
          <p:nvPr/>
        </p:nvSpPr>
        <p:spPr>
          <a:xfrm>
            <a:off x="566928" y="3593592"/>
            <a:ext cx="8065008" cy="694944"/>
          </a:xfrm>
          <a:prstGeom prst="rect">
            <a:avLst/>
          </a:prstGeom>
          <a:noFill/>
          <a:ln/>
        </p:spPr>
        <p:txBody>
          <a:bodyPr wrap="square" lIns="0" tIns="0" rIns="0" bIns="0" rtlCol="0" anchor="t"/>
          <a:lstStyle/>
          <a:p>
            <a:pPr marL="0" indent="0">
              <a:buNone/>
            </a:pPr>
            <a:r>
              <a:rPr lang="en-US" sz="1239" dirty="0">
                <a:solidFill>
                  <a:srgbClr val="1B2430"/>
                </a:solidFill>
              </a:rPr>
              <a:t>They isolate what each component can do alone, make hybrid gains measurable, and show whether added complexity is justified. A hybrid is only meaningful relative to its strongest standalone component.</a:t>
            </a:r>
            <a:endParaRPr lang="en-US" sz="1239"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Baseline Model Results</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XGBoost is the strongest standalone ML baseline; LSTM/GRU performed poorly under this project's specific setup</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1813560"/>
        </p:xfrm>
        <a:graphic>
          <a:graphicData uri="http://schemas.openxmlformats.org/drawingml/2006/table">
            <a:tbl>
              <a:tblPr/>
              <a:tblGrid>
                <a:gridCol w="1737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0">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Model</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160" b="1" dirty="0">
                          <a:solidFill>
                            <a:srgbClr val="FFFFFF"/>
                          </a:solidFill>
                          <a:latin typeface="Calibri" pitchFamily="34" charset="0"/>
                          <a:ea typeface="Calibri" pitchFamily="34" charset="-122"/>
                          <a:cs typeface="Calibri" pitchFamily="34" charset="-120"/>
                        </a:rPr>
                        <a:t>MAE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160" b="1" dirty="0">
                          <a:solidFill>
                            <a:srgbClr val="FFFFFF"/>
                          </a:solidFill>
                          <a:latin typeface="Calibri" pitchFamily="34" charset="0"/>
                          <a:ea typeface="Calibri" pitchFamily="34" charset="-122"/>
                          <a:cs typeface="Calibri" pitchFamily="34" charset="-120"/>
                        </a:rPr>
                        <a:t>MSE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160" b="1" dirty="0">
                          <a:solidFill>
                            <a:srgbClr val="FFFFFF"/>
                          </a:solidFill>
                          <a:latin typeface="Calibri" pitchFamily="34" charset="0"/>
                          <a:ea typeface="Calibri" pitchFamily="34" charset="-122"/>
                          <a:cs typeface="Calibri" pitchFamily="34" charset="-120"/>
                        </a:rPr>
                        <a:t>RMSE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160" b="1" dirty="0">
                          <a:solidFill>
                            <a:srgbClr val="FFFFFF"/>
                          </a:solidFill>
                          <a:latin typeface="Calibri" pitchFamily="34" charset="0"/>
                          <a:ea typeface="Calibri" pitchFamily="34" charset="-122"/>
                          <a:cs typeface="Calibri" pitchFamily="34" charset="-120"/>
                        </a:rPr>
                        <a:t>R2</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160" b="1" dirty="0">
                          <a:solidFill>
                            <a:srgbClr val="FFFFFF"/>
                          </a:solidFill>
                          <a:latin typeface="Calibri" pitchFamily="34" charset="0"/>
                          <a:ea typeface="Calibri" pitchFamily="34" charset="-122"/>
                          <a:cs typeface="Calibri" pitchFamily="34" charset="-120"/>
                        </a:rPr>
                        <a:t>MAPE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Linear Regression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79.1779</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11,594.2802</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107.6767</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0.6775</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172.7254%</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Decision Tree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37.4702</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4,920.8788</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70.1490</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0.8631</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42.6841%</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Random Forest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34.3455</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3,937.2277</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62.7473</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0.8905</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37.5721%</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XGBoost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160" b="1" dirty="0">
                          <a:solidFill>
                            <a:srgbClr val="1B2430"/>
                          </a:solidFill>
                          <a:latin typeface="Calibri" pitchFamily="34" charset="0"/>
                          <a:ea typeface="Calibri" pitchFamily="34" charset="-122"/>
                          <a:cs typeface="Calibri" pitchFamily="34" charset="-120"/>
                        </a:rPr>
                        <a:t>32.7594</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160" b="1" dirty="0">
                          <a:solidFill>
                            <a:srgbClr val="1B2430"/>
                          </a:solidFill>
                          <a:latin typeface="Calibri" pitchFamily="34" charset="0"/>
                          <a:ea typeface="Calibri" pitchFamily="34" charset="-122"/>
                          <a:cs typeface="Calibri" pitchFamily="34" charset="-120"/>
                        </a:rPr>
                        <a:t>3,246.4890</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160" b="1" dirty="0">
                          <a:solidFill>
                            <a:srgbClr val="1B2430"/>
                          </a:solidFill>
                          <a:latin typeface="Calibri" pitchFamily="34" charset="0"/>
                          <a:ea typeface="Calibri" pitchFamily="34" charset="-122"/>
                          <a:cs typeface="Calibri" pitchFamily="34" charset="-120"/>
                        </a:rPr>
                        <a:t>56.9780</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160" b="1" dirty="0">
                          <a:solidFill>
                            <a:srgbClr val="1B2430"/>
                          </a:solidFill>
                          <a:latin typeface="Calibri" pitchFamily="34" charset="0"/>
                          <a:ea typeface="Calibri" pitchFamily="34" charset="-122"/>
                          <a:cs typeface="Calibri" pitchFamily="34" charset="-120"/>
                        </a:rPr>
                        <a:t>0.9097</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160" b="1" dirty="0">
                          <a:solidFill>
                            <a:srgbClr val="1B2430"/>
                          </a:solidFill>
                          <a:latin typeface="Calibri" pitchFamily="34" charset="0"/>
                          <a:ea typeface="Calibri" pitchFamily="34" charset="-122"/>
                          <a:cs typeface="Calibri" pitchFamily="34" charset="-120"/>
                        </a:rPr>
                        <a:t>34.8814%</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extLst>
                  <a:ext uri="{0D108BD9-81ED-4DB2-BD59-A6C34878D82A}">
                    <a16:rowId xmlns:a16="http://schemas.microsoft.com/office/drawing/2014/main" val="10004"/>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LSTM (monthly)</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118,472.4375</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19,858,909,184</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140,921.642</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-2.4935</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38.5664%</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GRU (monthly)</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123,005.6875</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21,864,896,512</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147,867.8346</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-2.8464</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60" dirty="0">
                          <a:solidFill>
                            <a:srgbClr val="1B2430"/>
                          </a:solidFill>
                          <a:latin typeface="Calibri" pitchFamily="34" charset="0"/>
                          <a:ea typeface="Calibri" pitchFamily="34" charset="-122"/>
                          <a:cs typeface="Calibri" pitchFamily="34" charset="-120"/>
                        </a:rPr>
                        <a:t>39.7416%</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bl>
          </a:graphicData>
        </a:graphic>
      </p:graphicFrame>
      <p:sp>
        <p:nvSpPr>
          <p:cNvPr id="6" name="Text 2"/>
          <p:cNvSpPr txBox="1"/>
          <p:nvPr/>
        </p:nvSpPr>
        <p:spPr>
          <a:xfrm>
            <a:off x="411480" y="3200400"/>
            <a:ext cx="8321040" cy="1188720"/>
          </a:xfrm>
          <a:prstGeom prst="rect">
            <a:avLst/>
          </a:prstGeom>
          <a:noFill/>
          <a:ln/>
        </p:spPr>
        <p:txBody>
          <a:bodyPr wrap="square" lIns="0" tIns="0" rIns="0" bIns="0" rtlCol="0" anchor="t"/>
          <a:lstStyle/>
          <a:p>
            <a:pPr marL="152400" indent="-152400">
              <a:spcAft>
                <a:spcPts val="400"/>
              </a:spcAft>
              <a:buSzPct val="100000"/>
              <a:buChar char="•"/>
            </a:pPr>
            <a:r>
              <a:rPr lang="en-US" sz="1155" dirty="0">
                <a:solidFill>
                  <a:srgbClr val="1B2430"/>
                </a:solidFill>
              </a:rPr>
              <a:t>Linear Regression is weakest among ML baselines; Decision Tree improves substantially; Random Forest improves further</a:t>
            </a:r>
            <a:endParaRPr lang="en-US" sz="1155" dirty="0"/>
          </a:p>
          <a:p>
            <a:pPr marL="152400" indent="-152400">
              <a:spcAft>
                <a:spcPts val="400"/>
              </a:spcAft>
              <a:buSzPct val="100000"/>
              <a:buChar char="•"/>
            </a:pPr>
            <a:r>
              <a:rPr lang="en-US" sz="1155" dirty="0">
                <a:solidFill>
                  <a:srgbClr val="1B2430"/>
                </a:solidFill>
              </a:rPr>
              <a:t>XGBoost is the strongest standalone ML model (R2 0.9097)</a:t>
            </a:r>
            <a:endParaRPr lang="en-US" sz="1155" dirty="0"/>
          </a:p>
          <a:p>
            <a:pPr marL="152400" indent="-152400">
              <a:spcAft>
                <a:spcPts val="400"/>
              </a:spcAft>
              <a:buSzPct val="100000"/>
              <a:buChar char="•"/>
            </a:pPr>
            <a:r>
              <a:rPr lang="en-US" sz="1155" dirty="0">
                <a:solidFill>
                  <a:srgbClr val="1B2430"/>
                </a:solidFill>
              </a:rPr>
              <a:t>LSTM and GRU are scored on 10 monthly totals, ML models on 15,857 transactions: scales and levels differ, so their MAE/RMSE are not comparable</a:t>
            </a:r>
            <a:endParaRPr lang="en-US" sz="1155"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Multiple Hybrid Combinations Explored</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Two factors, four experiments, one common framework</a:t>
            </a:r>
            <a:endParaRPr lang="en-US" sz="1100" dirty="0"/>
          </a:p>
        </p:txBody>
      </p:sp>
      <p:sp>
        <p:nvSpPr>
          <p:cNvPr id="5" name="Shape 2"/>
          <p:cNvSpPr/>
          <p:nvPr/>
        </p:nvSpPr>
        <p:spPr>
          <a:xfrm>
            <a:off x="411480" y="1005840"/>
            <a:ext cx="1005840" cy="457200"/>
          </a:xfrm>
          <a:prstGeom prst="rect">
            <a:avLst/>
          </a:prstGeom>
          <a:solidFill>
            <a:srgbClr val="FFFFFF"/>
          </a:solidFill>
          <a:ln w="12700">
            <a:solidFill>
              <a:srgbClr val="FFFFFF"/>
            </a:solidFill>
            <a:prstDash val="solid"/>
          </a:ln>
        </p:spPr>
      </p:sp>
      <p:sp>
        <p:nvSpPr>
          <p:cNvPr id="6" name="Text 3"/>
          <p:cNvSpPr txBox="1"/>
          <p:nvPr/>
        </p:nvSpPr>
        <p:spPr>
          <a:xfrm>
            <a:off x="411480" y="1005840"/>
            <a:ext cx="1005840" cy="457200"/>
          </a:xfrm>
          <a:prstGeom prst="rect">
            <a:avLst/>
          </a:prstGeom>
          <a:noFill/>
          <a:ln/>
        </p:spPr>
        <p:txBody>
          <a:bodyPr wrap="square" lIns="25400" tIns="25400" rIns="25400" bIns="25400" rtlCol="0" anchor="ctr"/>
          <a:lstStyle/>
          <a:p>
            <a:pPr marL="0" indent="0" algn="ctr">
              <a:buNone/>
            </a:pPr>
            <a:endParaRPr lang="en-US" sz="1000" dirty="0"/>
          </a:p>
        </p:txBody>
      </p:sp>
      <p:sp>
        <p:nvSpPr>
          <p:cNvPr id="7" name="Shape 4"/>
          <p:cNvSpPr/>
          <p:nvPr/>
        </p:nvSpPr>
        <p:spPr>
          <a:xfrm>
            <a:off x="1463040" y="1005840"/>
            <a:ext cx="2194560" cy="457200"/>
          </a:xfrm>
          <a:prstGeom prst="rect">
            <a:avLst/>
          </a:prstGeom>
          <a:solidFill>
            <a:srgbClr val="1F3A5F"/>
          </a:solidFill>
          <a:ln w="12700">
            <a:solidFill>
              <a:srgbClr val="1F3A5F"/>
            </a:solidFill>
            <a:prstDash val="solid"/>
          </a:ln>
        </p:spPr>
      </p:sp>
      <p:sp>
        <p:nvSpPr>
          <p:cNvPr id="8" name="Text 5"/>
          <p:cNvSpPr txBox="1"/>
          <p:nvPr/>
        </p:nvSpPr>
        <p:spPr>
          <a:xfrm>
            <a:off x="1463040" y="1005840"/>
            <a:ext cx="2194560" cy="457200"/>
          </a:xfrm>
          <a:prstGeom prst="rect">
            <a:avLst/>
          </a:prstGeom>
          <a:noFill/>
          <a:ln/>
        </p:spPr>
        <p:txBody>
          <a:bodyPr wrap="square" lIns="25400" tIns="25400" rIns="25400" bIns="25400" rtlCol="0" anchor="ctr"/>
          <a:lstStyle/>
          <a:p>
            <a:pPr marL="0" indent="0" algn="ctr">
              <a:buNone/>
            </a:pPr>
            <a:r>
              <a:rPr lang="en-US" sz="950" b="1" dirty="0">
                <a:solidFill>
                  <a:srgbClr val="FFFFFF"/>
                </a:solidFill>
              </a:rPr>
              <a:t>XGBoost</a:t>
            </a:r>
            <a:endParaRPr lang="en-US" sz="950" dirty="0"/>
          </a:p>
        </p:txBody>
      </p:sp>
      <p:sp>
        <p:nvSpPr>
          <p:cNvPr id="9" name="Shape 6"/>
          <p:cNvSpPr/>
          <p:nvPr/>
        </p:nvSpPr>
        <p:spPr>
          <a:xfrm>
            <a:off x="3703320" y="1005840"/>
            <a:ext cx="2194560" cy="457200"/>
          </a:xfrm>
          <a:prstGeom prst="rect">
            <a:avLst/>
          </a:prstGeom>
          <a:solidFill>
            <a:srgbClr val="1F3A5F"/>
          </a:solidFill>
          <a:ln w="12700">
            <a:solidFill>
              <a:srgbClr val="1F3A5F"/>
            </a:solidFill>
            <a:prstDash val="solid"/>
          </a:ln>
        </p:spPr>
      </p:sp>
      <p:sp>
        <p:nvSpPr>
          <p:cNvPr id="10" name="Text 7"/>
          <p:cNvSpPr txBox="1"/>
          <p:nvPr/>
        </p:nvSpPr>
        <p:spPr>
          <a:xfrm>
            <a:off x="3703320" y="1005840"/>
            <a:ext cx="2194560" cy="457200"/>
          </a:xfrm>
          <a:prstGeom prst="rect">
            <a:avLst/>
          </a:prstGeom>
          <a:noFill/>
          <a:ln/>
        </p:spPr>
        <p:txBody>
          <a:bodyPr wrap="square" lIns="25400" tIns="25400" rIns="25400" bIns="25400" rtlCol="0" anchor="ctr"/>
          <a:lstStyle/>
          <a:p>
            <a:pPr marL="0" indent="0" algn="ctr">
              <a:buNone/>
            </a:pPr>
            <a:r>
              <a:rPr lang="en-US" sz="950" b="1" dirty="0">
                <a:solidFill>
                  <a:srgbClr val="FFFFFF"/>
                </a:solidFill>
              </a:rPr>
              <a:t>Random Forest</a:t>
            </a:r>
            <a:endParaRPr lang="en-US" sz="950" dirty="0"/>
          </a:p>
        </p:txBody>
      </p:sp>
      <p:sp>
        <p:nvSpPr>
          <p:cNvPr id="11" name="Shape 8"/>
          <p:cNvSpPr/>
          <p:nvPr/>
        </p:nvSpPr>
        <p:spPr>
          <a:xfrm>
            <a:off x="411480" y="1508760"/>
            <a:ext cx="1005840" cy="1097280"/>
          </a:xfrm>
          <a:prstGeom prst="rect">
            <a:avLst/>
          </a:prstGeom>
          <a:solidFill>
            <a:srgbClr val="1F3A5F"/>
          </a:solidFill>
          <a:ln w="12700">
            <a:solidFill>
              <a:srgbClr val="1F3A5F"/>
            </a:solidFill>
            <a:prstDash val="solid"/>
          </a:ln>
        </p:spPr>
      </p:sp>
      <p:sp>
        <p:nvSpPr>
          <p:cNvPr id="12" name="Text 9"/>
          <p:cNvSpPr txBox="1"/>
          <p:nvPr/>
        </p:nvSpPr>
        <p:spPr>
          <a:xfrm>
            <a:off x="411480" y="1508760"/>
            <a:ext cx="1005840" cy="1097280"/>
          </a:xfrm>
          <a:prstGeom prst="rect">
            <a:avLst/>
          </a:prstGeom>
          <a:noFill/>
          <a:ln/>
        </p:spPr>
        <p:txBody>
          <a:bodyPr wrap="square" lIns="25400" tIns="25400" rIns="25400" bIns="25400" rtlCol="0" anchor="ctr"/>
          <a:lstStyle/>
          <a:p>
            <a:pPr marL="0" indent="0" algn="ctr">
              <a:buNone/>
            </a:pPr>
            <a:r>
              <a:rPr lang="en-US" sz="950" b="1" dirty="0">
                <a:solidFill>
                  <a:srgbClr val="FFFFFF"/>
                </a:solidFill>
              </a:rPr>
              <a:t>LSTM</a:t>
            </a:r>
            <a:endParaRPr lang="en-US" sz="950" dirty="0"/>
          </a:p>
        </p:txBody>
      </p:sp>
      <p:sp>
        <p:nvSpPr>
          <p:cNvPr id="13" name="Shape 10"/>
          <p:cNvSpPr/>
          <p:nvPr/>
        </p:nvSpPr>
        <p:spPr>
          <a:xfrm>
            <a:off x="411480" y="2651760"/>
            <a:ext cx="1005840" cy="1097280"/>
          </a:xfrm>
          <a:prstGeom prst="rect">
            <a:avLst/>
          </a:prstGeom>
          <a:solidFill>
            <a:srgbClr val="1F3A5F"/>
          </a:solidFill>
          <a:ln w="12700">
            <a:solidFill>
              <a:srgbClr val="1F3A5F"/>
            </a:solidFill>
            <a:prstDash val="solid"/>
          </a:ln>
        </p:spPr>
      </p:sp>
      <p:sp>
        <p:nvSpPr>
          <p:cNvPr id="14" name="Text 11"/>
          <p:cNvSpPr txBox="1"/>
          <p:nvPr/>
        </p:nvSpPr>
        <p:spPr>
          <a:xfrm>
            <a:off x="411480" y="2651760"/>
            <a:ext cx="1005840" cy="1097280"/>
          </a:xfrm>
          <a:prstGeom prst="rect">
            <a:avLst/>
          </a:prstGeom>
          <a:noFill/>
          <a:ln/>
        </p:spPr>
        <p:txBody>
          <a:bodyPr wrap="square" lIns="25400" tIns="25400" rIns="25400" bIns="25400" rtlCol="0" anchor="ctr"/>
          <a:lstStyle/>
          <a:p>
            <a:pPr marL="0" indent="0" algn="ctr">
              <a:buNone/>
            </a:pPr>
            <a:r>
              <a:rPr lang="en-US" sz="950" b="1" dirty="0">
                <a:solidFill>
                  <a:srgbClr val="FFFFFF"/>
                </a:solidFill>
              </a:rPr>
              <a:t>GRU</a:t>
            </a:r>
            <a:endParaRPr lang="en-US" sz="950" dirty="0"/>
          </a:p>
        </p:txBody>
      </p:sp>
      <p:sp>
        <p:nvSpPr>
          <p:cNvPr id="15" name="Shape 12"/>
          <p:cNvSpPr/>
          <p:nvPr/>
        </p:nvSpPr>
        <p:spPr>
          <a:xfrm>
            <a:off x="1463040" y="1508760"/>
            <a:ext cx="2194560" cy="1097280"/>
          </a:xfrm>
          <a:prstGeom prst="rect">
            <a:avLst/>
          </a:prstGeom>
          <a:solidFill>
            <a:srgbClr val="D9822B"/>
          </a:solidFill>
          <a:ln w="12700">
            <a:solidFill>
              <a:srgbClr val="D9822B"/>
            </a:solidFill>
            <a:prstDash val="solid"/>
          </a:ln>
        </p:spPr>
      </p:sp>
      <p:sp>
        <p:nvSpPr>
          <p:cNvPr id="16" name="Text 13"/>
          <p:cNvSpPr txBox="1"/>
          <p:nvPr/>
        </p:nvSpPr>
        <p:spPr>
          <a:xfrm>
            <a:off x="1463040" y="1508760"/>
            <a:ext cx="2194560" cy="1097280"/>
          </a:xfrm>
          <a:prstGeom prst="rect">
            <a:avLst/>
          </a:prstGeom>
          <a:noFill/>
          <a:ln/>
        </p:spPr>
        <p:txBody>
          <a:bodyPr wrap="square" lIns="25400" tIns="25400" rIns="25400" bIns="25400" rtlCol="0" anchor="ctr"/>
          <a:lstStyle/>
          <a:p>
            <a:pPr marL="0" indent="0" algn="ctr">
              <a:buNone/>
            </a:pPr>
            <a:r>
              <a:rPr lang="en-US" sz="1100" b="1" dirty="0">
                <a:solidFill>
                  <a:srgbClr val="FFFFFF"/>
                </a:solidFill>
              </a:rPr>
              <a:t>LSTM + XGBoost</a:t>
            </a:r>
            <a:endParaRPr lang="en-US" sz="1100" dirty="0"/>
          </a:p>
          <a:p>
            <a:pPr marL="0" indent="0" algn="ctr">
              <a:buNone/>
            </a:pPr>
            <a:r>
              <a:rPr lang="en-US" sz="1100" b="1" dirty="0">
                <a:solidFill>
                  <a:srgbClr val="FFFFFF"/>
                </a:solidFill>
              </a:rPr>
              <a:t>(proposed basis)</a:t>
            </a:r>
            <a:endParaRPr lang="en-US" sz="1100" dirty="0"/>
          </a:p>
        </p:txBody>
      </p:sp>
      <p:sp>
        <p:nvSpPr>
          <p:cNvPr id="17" name="Shape 14"/>
          <p:cNvSpPr/>
          <p:nvPr/>
        </p:nvSpPr>
        <p:spPr>
          <a:xfrm>
            <a:off x="3703320" y="1508760"/>
            <a:ext cx="2194560" cy="1097280"/>
          </a:xfrm>
          <a:prstGeom prst="rect">
            <a:avLst/>
          </a:prstGeom>
          <a:solidFill>
            <a:srgbClr val="EAF1FA"/>
          </a:solidFill>
          <a:ln w="12700">
            <a:solidFill>
              <a:srgbClr val="2E6FBA"/>
            </a:solidFill>
            <a:prstDash val="solid"/>
          </a:ln>
        </p:spPr>
      </p:sp>
      <p:sp>
        <p:nvSpPr>
          <p:cNvPr id="18" name="Text 15"/>
          <p:cNvSpPr txBox="1"/>
          <p:nvPr/>
        </p:nvSpPr>
        <p:spPr>
          <a:xfrm>
            <a:off x="3703320" y="1508760"/>
            <a:ext cx="2194560" cy="1097280"/>
          </a:xfrm>
          <a:prstGeom prst="rect">
            <a:avLst/>
          </a:prstGeom>
          <a:noFill/>
          <a:ln/>
        </p:spPr>
        <p:txBody>
          <a:bodyPr wrap="square" lIns="25400" tIns="25400" rIns="25400" bIns="25400" rtlCol="0" anchor="ctr"/>
          <a:lstStyle/>
          <a:p>
            <a:pPr marL="0" indent="0" algn="ctr">
              <a:buNone/>
            </a:pPr>
            <a:r>
              <a:rPr lang="en-US" sz="1100" b="1" dirty="0">
                <a:solidFill>
                  <a:srgbClr val="1F3A5F"/>
                </a:solidFill>
              </a:rPr>
              <a:t>LSTM + Random Forest</a:t>
            </a:r>
            <a:endParaRPr lang="en-US" sz="1100" dirty="0"/>
          </a:p>
        </p:txBody>
      </p:sp>
      <p:sp>
        <p:nvSpPr>
          <p:cNvPr id="19" name="Shape 16"/>
          <p:cNvSpPr/>
          <p:nvPr/>
        </p:nvSpPr>
        <p:spPr>
          <a:xfrm>
            <a:off x="1463040" y="2651760"/>
            <a:ext cx="2194560" cy="1097280"/>
          </a:xfrm>
          <a:prstGeom prst="rect">
            <a:avLst/>
          </a:prstGeom>
          <a:solidFill>
            <a:srgbClr val="EAF1FA"/>
          </a:solidFill>
          <a:ln w="12700">
            <a:solidFill>
              <a:srgbClr val="2E6FBA"/>
            </a:solidFill>
            <a:prstDash val="solid"/>
          </a:ln>
        </p:spPr>
      </p:sp>
      <p:sp>
        <p:nvSpPr>
          <p:cNvPr id="20" name="Text 17"/>
          <p:cNvSpPr txBox="1"/>
          <p:nvPr/>
        </p:nvSpPr>
        <p:spPr>
          <a:xfrm>
            <a:off x="1463040" y="2651760"/>
            <a:ext cx="2194560" cy="1097280"/>
          </a:xfrm>
          <a:prstGeom prst="rect">
            <a:avLst/>
          </a:prstGeom>
          <a:noFill/>
          <a:ln/>
        </p:spPr>
        <p:txBody>
          <a:bodyPr wrap="square" lIns="25400" tIns="25400" rIns="25400" bIns="25400" rtlCol="0" anchor="ctr"/>
          <a:lstStyle/>
          <a:p>
            <a:pPr marL="0" indent="0" algn="ctr">
              <a:buNone/>
            </a:pPr>
            <a:r>
              <a:rPr lang="en-US" sz="1100" b="1" dirty="0">
                <a:solidFill>
                  <a:srgbClr val="1F3A5F"/>
                </a:solidFill>
              </a:rPr>
              <a:t>GRU + XGBoost</a:t>
            </a:r>
            <a:endParaRPr lang="en-US" sz="1100" dirty="0"/>
          </a:p>
        </p:txBody>
      </p:sp>
      <p:sp>
        <p:nvSpPr>
          <p:cNvPr id="21" name="Shape 18"/>
          <p:cNvSpPr/>
          <p:nvPr/>
        </p:nvSpPr>
        <p:spPr>
          <a:xfrm>
            <a:off x="3703320" y="2651760"/>
            <a:ext cx="2194560" cy="1097280"/>
          </a:xfrm>
          <a:prstGeom prst="rect">
            <a:avLst/>
          </a:prstGeom>
          <a:solidFill>
            <a:srgbClr val="EAF1FA"/>
          </a:solidFill>
          <a:ln w="12700">
            <a:solidFill>
              <a:srgbClr val="2E6FBA"/>
            </a:solidFill>
            <a:prstDash val="solid"/>
          </a:ln>
        </p:spPr>
      </p:sp>
      <p:sp>
        <p:nvSpPr>
          <p:cNvPr id="22" name="Text 19"/>
          <p:cNvSpPr txBox="1"/>
          <p:nvPr/>
        </p:nvSpPr>
        <p:spPr>
          <a:xfrm>
            <a:off x="3703320" y="2651760"/>
            <a:ext cx="2194560" cy="1097280"/>
          </a:xfrm>
          <a:prstGeom prst="rect">
            <a:avLst/>
          </a:prstGeom>
          <a:noFill/>
          <a:ln/>
        </p:spPr>
        <p:txBody>
          <a:bodyPr wrap="square" lIns="25400" tIns="25400" rIns="25400" bIns="25400" rtlCol="0" anchor="ctr"/>
          <a:lstStyle/>
          <a:p>
            <a:pPr marL="0" indent="0" algn="ctr">
              <a:buNone/>
            </a:pPr>
            <a:r>
              <a:rPr lang="en-US" sz="1100" b="1" dirty="0">
                <a:solidFill>
                  <a:srgbClr val="1F3A5F"/>
                </a:solidFill>
              </a:rPr>
              <a:t>GRU + Random Forest</a:t>
            </a:r>
            <a:endParaRPr lang="en-US" sz="1100" dirty="0"/>
          </a:p>
        </p:txBody>
      </p:sp>
      <p:sp>
        <p:nvSpPr>
          <p:cNvPr id="23" name="Shape 20"/>
          <p:cNvSpPr/>
          <p:nvPr/>
        </p:nvSpPr>
        <p:spPr>
          <a:xfrm>
            <a:off x="6080760" y="1005840"/>
            <a:ext cx="2651760" cy="868680"/>
          </a:xfrm>
          <a:prstGeom prst="rect">
            <a:avLst/>
          </a:prstGeom>
          <a:solidFill>
            <a:srgbClr val="FFFFFF"/>
          </a:solidFill>
          <a:ln w="9525">
            <a:solidFill>
              <a:srgbClr val="D5DBE1"/>
            </a:solidFill>
            <a:prstDash val="solid"/>
          </a:ln>
        </p:spPr>
      </p:sp>
      <p:sp>
        <p:nvSpPr>
          <p:cNvPr id="24" name="Shape 21"/>
          <p:cNvSpPr/>
          <p:nvPr/>
        </p:nvSpPr>
        <p:spPr>
          <a:xfrm>
            <a:off x="6080760" y="1005840"/>
            <a:ext cx="64008" cy="868680"/>
          </a:xfrm>
          <a:prstGeom prst="rect">
            <a:avLst/>
          </a:prstGeom>
          <a:solidFill>
            <a:srgbClr val="2E6FBA"/>
          </a:solidFill>
          <a:ln w="12700">
            <a:solidFill>
              <a:srgbClr val="2E6FBA"/>
            </a:solidFill>
            <a:prstDash val="solid"/>
          </a:ln>
        </p:spPr>
      </p:sp>
      <p:sp>
        <p:nvSpPr>
          <p:cNvPr id="25" name="Text 22"/>
          <p:cNvSpPr txBox="1"/>
          <p:nvPr/>
        </p:nvSpPr>
        <p:spPr>
          <a:xfrm>
            <a:off x="6236208" y="1060704"/>
            <a:ext cx="2423160" cy="256032"/>
          </a:xfrm>
          <a:prstGeom prst="rect">
            <a:avLst/>
          </a:prstGeom>
          <a:noFill/>
          <a:ln/>
        </p:spPr>
        <p:txBody>
          <a:bodyPr wrap="square" lIns="0" tIns="0" rIns="0" bIns="0" rtlCol="0" anchor="ctr"/>
          <a:lstStyle/>
          <a:p>
            <a:pPr marL="0" indent="0">
              <a:buNone/>
            </a:pPr>
            <a:r>
              <a:rPr lang="en-US" sz="1150" b="1" dirty="0">
                <a:solidFill>
                  <a:srgbClr val="2E6FBA"/>
                </a:solidFill>
              </a:rPr>
              <a:t>Recurrent effect (LSTM vs GRU)</a:t>
            </a:r>
            <a:endParaRPr lang="en-US" sz="1150" dirty="0"/>
          </a:p>
        </p:txBody>
      </p:sp>
      <p:sp>
        <p:nvSpPr>
          <p:cNvPr id="26" name="Text 23"/>
          <p:cNvSpPr txBox="1"/>
          <p:nvPr/>
        </p:nvSpPr>
        <p:spPr>
          <a:xfrm>
            <a:off x="6236208" y="1353312"/>
            <a:ext cx="2395728" cy="466344"/>
          </a:xfrm>
          <a:prstGeom prst="rect">
            <a:avLst/>
          </a:prstGeom>
          <a:noFill/>
          <a:ln/>
        </p:spPr>
        <p:txBody>
          <a:bodyPr wrap="square" lIns="0" tIns="0" rIns="0" bIns="0" rtlCol="0" anchor="t"/>
          <a:lstStyle/>
          <a:p>
            <a:pPr marL="0" indent="0">
              <a:buNone/>
            </a:pPr>
            <a:r>
              <a:rPr lang="en-US" sz="1121" dirty="0">
                <a:solidFill>
                  <a:srgbClr val="1B2430"/>
                </a:solidFill>
              </a:rPr>
              <a:t>Compare rows under the same tree model.</a:t>
            </a:r>
            <a:endParaRPr lang="en-US" sz="1121" dirty="0"/>
          </a:p>
        </p:txBody>
      </p:sp>
      <p:sp>
        <p:nvSpPr>
          <p:cNvPr id="27" name="Shape 24"/>
          <p:cNvSpPr/>
          <p:nvPr/>
        </p:nvSpPr>
        <p:spPr>
          <a:xfrm>
            <a:off x="6080760" y="1965960"/>
            <a:ext cx="2651760" cy="868680"/>
          </a:xfrm>
          <a:prstGeom prst="rect">
            <a:avLst/>
          </a:prstGeom>
          <a:solidFill>
            <a:srgbClr val="FFFFFF"/>
          </a:solidFill>
          <a:ln w="9525">
            <a:solidFill>
              <a:srgbClr val="D5DBE1"/>
            </a:solidFill>
            <a:prstDash val="solid"/>
          </a:ln>
        </p:spPr>
      </p:sp>
      <p:sp>
        <p:nvSpPr>
          <p:cNvPr id="28" name="Shape 25"/>
          <p:cNvSpPr/>
          <p:nvPr/>
        </p:nvSpPr>
        <p:spPr>
          <a:xfrm>
            <a:off x="6080760" y="1965960"/>
            <a:ext cx="64008" cy="868680"/>
          </a:xfrm>
          <a:prstGeom prst="rect">
            <a:avLst/>
          </a:prstGeom>
          <a:solidFill>
            <a:srgbClr val="2E6FBA"/>
          </a:solidFill>
          <a:ln w="12700">
            <a:solidFill>
              <a:srgbClr val="2E6FBA"/>
            </a:solidFill>
            <a:prstDash val="solid"/>
          </a:ln>
        </p:spPr>
      </p:sp>
      <p:sp>
        <p:nvSpPr>
          <p:cNvPr id="29" name="Text 26"/>
          <p:cNvSpPr txBox="1"/>
          <p:nvPr/>
        </p:nvSpPr>
        <p:spPr>
          <a:xfrm>
            <a:off x="6236208" y="2020824"/>
            <a:ext cx="2423160" cy="256032"/>
          </a:xfrm>
          <a:prstGeom prst="rect">
            <a:avLst/>
          </a:prstGeom>
          <a:noFill/>
          <a:ln/>
        </p:spPr>
        <p:txBody>
          <a:bodyPr wrap="square" lIns="0" tIns="0" rIns="0" bIns="0" rtlCol="0" anchor="ctr"/>
          <a:lstStyle/>
          <a:p>
            <a:pPr marL="0" indent="0">
              <a:buNone/>
            </a:pPr>
            <a:r>
              <a:rPr lang="en-US" sz="1150" b="1" dirty="0">
                <a:solidFill>
                  <a:srgbClr val="2E6FBA"/>
                </a:solidFill>
              </a:rPr>
              <a:t>Tree effect (XGBoost vs RF)</a:t>
            </a:r>
            <a:endParaRPr lang="en-US" sz="1150" dirty="0"/>
          </a:p>
        </p:txBody>
      </p:sp>
      <p:sp>
        <p:nvSpPr>
          <p:cNvPr id="30" name="Text 27"/>
          <p:cNvSpPr txBox="1"/>
          <p:nvPr/>
        </p:nvSpPr>
        <p:spPr>
          <a:xfrm>
            <a:off x="6236208" y="2313432"/>
            <a:ext cx="2395728" cy="466344"/>
          </a:xfrm>
          <a:prstGeom prst="rect">
            <a:avLst/>
          </a:prstGeom>
          <a:noFill/>
          <a:ln/>
        </p:spPr>
        <p:txBody>
          <a:bodyPr wrap="square" lIns="0" tIns="0" rIns="0" bIns="0" rtlCol="0" anchor="t"/>
          <a:lstStyle/>
          <a:p>
            <a:pPr marL="0" indent="0">
              <a:buNone/>
            </a:pPr>
            <a:r>
              <a:rPr lang="en-US" sz="1121" dirty="0">
                <a:solidFill>
                  <a:srgbClr val="1B2430"/>
                </a:solidFill>
              </a:rPr>
              <a:t>Compare columns under the same recurrent model.</a:t>
            </a:r>
            <a:endParaRPr lang="en-US" sz="1121" dirty="0"/>
          </a:p>
        </p:txBody>
      </p:sp>
      <p:sp>
        <p:nvSpPr>
          <p:cNvPr id="31" name="Shape 28"/>
          <p:cNvSpPr/>
          <p:nvPr/>
        </p:nvSpPr>
        <p:spPr>
          <a:xfrm>
            <a:off x="6080760" y="2926080"/>
            <a:ext cx="2651760" cy="868680"/>
          </a:xfrm>
          <a:prstGeom prst="rect">
            <a:avLst/>
          </a:prstGeom>
          <a:solidFill>
            <a:srgbClr val="FFFFFF"/>
          </a:solidFill>
          <a:ln w="9525">
            <a:solidFill>
              <a:srgbClr val="D5DBE1"/>
            </a:solidFill>
            <a:prstDash val="solid"/>
          </a:ln>
        </p:spPr>
      </p:sp>
      <p:sp>
        <p:nvSpPr>
          <p:cNvPr id="32" name="Shape 29"/>
          <p:cNvSpPr/>
          <p:nvPr/>
        </p:nvSpPr>
        <p:spPr>
          <a:xfrm>
            <a:off x="6080760" y="2926080"/>
            <a:ext cx="64008" cy="868680"/>
          </a:xfrm>
          <a:prstGeom prst="rect">
            <a:avLst/>
          </a:prstGeom>
          <a:solidFill>
            <a:srgbClr val="2E6FBA"/>
          </a:solidFill>
          <a:ln w="12700">
            <a:solidFill>
              <a:srgbClr val="2E6FBA"/>
            </a:solidFill>
            <a:prstDash val="solid"/>
          </a:ln>
        </p:spPr>
      </p:sp>
      <p:sp>
        <p:nvSpPr>
          <p:cNvPr id="33" name="Text 30"/>
          <p:cNvSpPr txBox="1"/>
          <p:nvPr/>
        </p:nvSpPr>
        <p:spPr>
          <a:xfrm>
            <a:off x="6236208" y="2980944"/>
            <a:ext cx="2423160" cy="256032"/>
          </a:xfrm>
          <a:prstGeom prst="rect">
            <a:avLst/>
          </a:prstGeom>
          <a:noFill/>
          <a:ln/>
        </p:spPr>
        <p:txBody>
          <a:bodyPr wrap="square" lIns="0" tIns="0" rIns="0" bIns="0" rtlCol="0" anchor="ctr"/>
          <a:lstStyle/>
          <a:p>
            <a:pPr marL="0" indent="0">
              <a:buNone/>
            </a:pPr>
            <a:r>
              <a:rPr lang="en-US" sz="1150" b="1" dirty="0">
                <a:solidFill>
                  <a:srgbClr val="2E6FBA"/>
                </a:solidFill>
              </a:rPr>
              <a:t>Interaction</a:t>
            </a:r>
            <a:endParaRPr lang="en-US" sz="1150" dirty="0"/>
          </a:p>
        </p:txBody>
      </p:sp>
      <p:sp>
        <p:nvSpPr>
          <p:cNvPr id="34" name="Text 31"/>
          <p:cNvSpPr txBox="1"/>
          <p:nvPr/>
        </p:nvSpPr>
        <p:spPr>
          <a:xfrm>
            <a:off x="6236208" y="3273552"/>
            <a:ext cx="2395728" cy="466344"/>
          </a:xfrm>
          <a:prstGeom prst="rect">
            <a:avLst/>
          </a:prstGeom>
          <a:noFill/>
          <a:ln/>
        </p:spPr>
        <p:txBody>
          <a:bodyPr wrap="square" lIns="0" tIns="0" rIns="0" bIns="0" rtlCol="0" anchor="t"/>
          <a:lstStyle/>
          <a:p>
            <a:pPr marL="0" indent="0">
              <a:buNone/>
            </a:pPr>
            <a:r>
              <a:rPr lang="en-US" sz="1121" dirty="0">
                <a:solidFill>
                  <a:srgbClr val="1B2430"/>
                </a:solidFill>
              </a:rPr>
              <a:t>Does a particular recurrent-tree pairing do better than either factor alone?</a:t>
            </a:r>
            <a:endParaRPr lang="en-US" sz="1121" dirty="0"/>
          </a:p>
        </p:txBody>
      </p:sp>
      <p:sp>
        <p:nvSpPr>
          <p:cNvPr id="35" name="Text 32"/>
          <p:cNvSpPr txBox="1"/>
          <p:nvPr/>
        </p:nvSpPr>
        <p:spPr>
          <a:xfrm>
            <a:off x="411480" y="3977640"/>
            <a:ext cx="8321040" cy="384048"/>
          </a:xfrm>
          <a:prstGeom prst="rect">
            <a:avLst/>
          </a:prstGeom>
          <a:noFill/>
          <a:ln/>
        </p:spPr>
        <p:txBody>
          <a:bodyPr wrap="square" lIns="0" tIns="0" rIns="0" bIns="0" rtlCol="0" anchor="t"/>
          <a:lstStyle/>
          <a:p>
            <a:pPr marL="0" indent="0">
              <a:buNone/>
            </a:pPr>
            <a:r>
              <a:rPr lang="en-US" sz="950" i="1" dirty="0">
                <a:solidFill>
                  <a:srgbClr val="5B6770"/>
                </a:solidFill>
              </a:rPr>
              <a:t>Common to all four: chronological split, 6-month lookback, 22 transaction predictors plus one temporal feature, identical metrics.</a:t>
            </a:r>
            <a:endParaRPr lang="en-US" sz="950" dirty="0"/>
          </a:p>
        </p:txBody>
      </p:sp>
      <p:sp>
        <p:nvSpPr>
          <p:cNvPr id="3"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Hybrid Experimental Results</a:t>
            </a:r>
            <a:endParaRPr lang="en-US" sz="2200" dirty="0"/>
          </a:p>
        </p:txBody>
      </p:sp>
      <p:sp>
        <p:nvSpPr>
          <p:cNvPr id="4" name="Text 1"/>
          <p:cNvSpPr txBox="1"/>
          <p:nvPr/>
        </p:nvSpPr>
        <p:spPr>
          <a:xfrm>
            <a:off x="411480" y="658368"/>
            <a:ext cx="8321040" cy="256032"/>
          </a:xfrm>
          <a:prstGeom prst="rect">
            <a:avLst/>
          </a:prstGeom>
          <a:noFill/>
          <a:ln/>
        </p:spPr>
        <p:txBody>
          <a:bodyPr wrap="square" lIns="0" tIns="0" rIns="0" bIns="0" rtlCol="0" anchor="ctr"/>
          <a:lstStyle/>
          <a:p>
            <a:pPr marL="0" indent="0">
              <a:buNone/>
            </a:pPr>
            <a:r>
              <a:rPr lang="en-US" sz="1100" i="1" dirty="0">
                <a:solidFill>
                  <a:srgbClr val="5B6770"/>
                </a:solidFill>
              </a:rPr>
              <a:t>XGBoost-based hybrids lead; the two XGBoost pairings are almost identical</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4846320" cy="1249680"/>
        </p:xfrm>
        <a:graphic>
          <a:graphicData uri="http://schemas.openxmlformats.org/drawingml/2006/table">
            <a:tbl>
              <a:tblPr/>
              <a:tblGrid>
                <a:gridCol w="12801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Hybrid</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R2</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LSTM + XGB</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100" b="1" dirty="0">
                          <a:solidFill>
                            <a:srgbClr val="1B2430"/>
                          </a:solidFill>
                          <a:latin typeface="Calibri" pitchFamily="34" charset="0"/>
                          <a:ea typeface="Calibri" pitchFamily="34" charset="-122"/>
                          <a:cs typeface="Calibri" pitchFamily="34" charset="-120"/>
                        </a:rPr>
                        <a:t>32.6901</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100" b="1" dirty="0">
                          <a:solidFill>
                            <a:srgbClr val="1B2430"/>
                          </a:solidFill>
                          <a:latin typeface="Calibri" pitchFamily="34" charset="0"/>
                          <a:ea typeface="Calibri" pitchFamily="34" charset="-122"/>
                          <a:cs typeface="Calibri" pitchFamily="34" charset="-120"/>
                        </a:rPr>
                        <a:t>56.8745</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100" b="1" dirty="0">
                          <a:solidFill>
                            <a:srgbClr val="1B2430"/>
                          </a:solidFill>
                          <a:latin typeface="Calibri" pitchFamily="34" charset="0"/>
                          <a:ea typeface="Calibri" pitchFamily="34" charset="-122"/>
                          <a:cs typeface="Calibri" pitchFamily="34" charset="-120"/>
                        </a:rPr>
                        <a:t>0.9100</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100" b="1" dirty="0">
                          <a:solidFill>
                            <a:srgbClr val="1B2430"/>
                          </a:solidFill>
                          <a:latin typeface="Calibri" pitchFamily="34" charset="0"/>
                          <a:ea typeface="Calibri" pitchFamily="34" charset="-122"/>
                          <a:cs typeface="Calibri" pitchFamily="34" charset="-120"/>
                        </a:rPr>
                        <a:t>34.5552%</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extLst>
                  <a:ext uri="{0D108BD9-81ED-4DB2-BD59-A6C34878D82A}">
                    <a16:rowId xmlns:a16="http://schemas.microsoft.com/office/drawing/2014/main" val="10001"/>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LSTM + RF</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34.3814</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62.8066</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0.8903</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37.6309%</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GRU + XGB</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32.7027</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56.8930</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0.9100</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34.4159%</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GRU + RF</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34.3701</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62.7778</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0.8904</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100" dirty="0">
                          <a:solidFill>
                            <a:srgbClr val="1B2430"/>
                          </a:solidFill>
                          <a:latin typeface="Calibri" pitchFamily="34" charset="0"/>
                          <a:ea typeface="Calibri" pitchFamily="34" charset="-122"/>
                          <a:cs typeface="Calibri" pitchFamily="34" charset="-120"/>
                        </a:rPr>
                        <a:t>37.6611%</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bl>
          </a:graphicData>
        </a:graphic>
      </p:graphicFrame>
      <p:graphicFrame>
        <p:nvGraphicFramePr>
          <p:cNvPr id="6" name="Chart 0"/>
          <p:cNvGraphicFramePr/>
          <p:nvPr/>
        </p:nvGraphicFramePr>
        <p:xfrm>
          <a:off x="5440680" y="914400"/>
          <a:ext cx="329184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2"/>
          <p:cNvSpPr txBox="1"/>
          <p:nvPr/>
        </p:nvSpPr>
        <p:spPr>
          <a:xfrm>
            <a:off x="411480" y="3154680"/>
            <a:ext cx="8321040" cy="15544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B2430"/>
                </a:solidFill>
              </a:rPr>
              <a:t>XGBoost-based hybrids outperform RF-based hybrids on all four metrics</a:t>
            </a:r>
            <a:endParaRPr lang="en-US" sz="1100" dirty="0"/>
          </a:p>
          <a:p>
            <a:pPr marL="152400" indent="-152400">
              <a:spcAft>
                <a:spcPts val="400"/>
              </a:spcAft>
              <a:buSzPct val="100000"/>
              <a:buChar char="•"/>
            </a:pPr>
            <a:r>
              <a:rPr lang="en-US" sz="1100" dirty="0">
                <a:solidFill>
                  <a:srgbClr val="1B2430"/>
                </a:solidFill>
              </a:rPr>
              <a:t>LSTM+XGB and GRU+XGB have nearly identical R2 (0.9100)</a:t>
            </a:r>
            <a:endParaRPr lang="en-US" sz="1100" dirty="0"/>
          </a:p>
          <a:p>
            <a:pPr marL="152400" indent="-152400">
              <a:spcAft>
                <a:spcPts val="400"/>
              </a:spcAft>
              <a:buSzPct val="100000"/>
              <a:buChar char="•"/>
            </a:pPr>
            <a:r>
              <a:rPr lang="en-US" sz="1100" dirty="0">
                <a:solidFill>
                  <a:srgbClr val="1B2430"/>
                </a:solidFill>
              </a:rPr>
              <a:t>GRU+XGB has slightly better MAPE; LSTM+XGB has slightly better MAE and RMSE</a:t>
            </a:r>
            <a:endParaRPr lang="en-US" sz="1100" dirty="0"/>
          </a:p>
          <a:p>
            <a:pPr marL="152400" indent="-152400">
              <a:spcAft>
                <a:spcPts val="400"/>
              </a:spcAft>
              <a:buSzPct val="100000"/>
              <a:buChar char="•"/>
            </a:pPr>
            <a:r>
              <a:rPr lang="en-US" sz="1100" dirty="0">
                <a:solidFill>
                  <a:srgbClr val="1B2430"/>
                </a:solidFill>
              </a:rPr>
              <a:t>RF hybrids are essentially unchanged from plain Random Forest (R2 0.8905)</a:t>
            </a:r>
            <a:endParaRPr lang="en-US" sz="1100" dirty="0"/>
          </a:p>
          <a:p>
            <a:pPr marL="152400" indent="-152400">
              <a:spcAft>
                <a:spcPts val="400"/>
              </a:spcAft>
              <a:buSzPct val="100000"/>
              <a:buChar char="•"/>
            </a:pPr>
            <a:r>
              <a:rPr lang="en-US" sz="1100" dirty="0">
                <a:solidFill>
                  <a:srgbClr val="1B2430"/>
                </a:solidFill>
              </a:rPr>
              <a:t>Selection should use the overall metric profile, not one metric alone</a:t>
            </a:r>
            <a:endParaRPr lang="en-US" sz="1100" dirty="0"/>
          </a:p>
        </p:txBody>
      </p:sp>
      <p:sp>
        <p:nvSpPr>
          <p:cNvPr id="8" name="Text 3"/>
          <p:cNvSpPr txBox="1"/>
          <p:nvPr/>
        </p:nvSpPr>
        <p:spPr>
          <a:xfrm>
            <a:off x="5440680" y="3017520"/>
            <a:ext cx="3291840" cy="274320"/>
          </a:xfrm>
          <a:prstGeom prst="rect">
            <a:avLst/>
          </a:prstGeom>
          <a:noFill/>
          <a:ln/>
        </p:spPr>
        <p:txBody>
          <a:bodyPr wrap="square" lIns="0" tIns="0" rIns="0" bIns="0" rtlCol="0" anchor="ctr"/>
          <a:lstStyle/>
          <a:p>
            <a:pPr marL="0" indent="0">
              <a:buNone/>
            </a:pPr>
            <a:r>
              <a:rPr lang="en-US" sz="850" i="1" dirty="0">
                <a:solidFill>
                  <a:srgbClr val="5B6770"/>
                </a:solidFill>
              </a:rPr>
              <a:t>RMSE axis starts at 50 to make small differences visible; actual differences are small.</a:t>
            </a:r>
            <a:endParaRPr lang="en-US" sz="8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Proposed Model: TATFF-XGBLSTM</a:t>
            </a:r>
            <a:endParaRPr lang="en-US" sz="2200" dirty="0"/>
          </a:p>
        </p:txBody>
      </p:sp>
      <p:sp>
        <p:nvSpPr>
          <p:cNvPr id="4" name="Shape 1"/>
          <p:cNvSpPr/>
          <p:nvPr/>
        </p:nvSpPr>
        <p:spPr>
          <a:xfrm>
            <a:off x="411480" y="777240"/>
            <a:ext cx="8321040" cy="457200"/>
          </a:xfrm>
          <a:prstGeom prst="rect">
            <a:avLst/>
          </a:prstGeom>
          <a:solidFill>
            <a:srgbClr val="D9822B"/>
          </a:solidFill>
          <a:ln w="12700">
            <a:solidFill>
              <a:srgbClr val="D9822B"/>
            </a:solidFill>
            <a:prstDash val="solid"/>
          </a:ln>
        </p:spPr>
      </p:sp>
      <p:sp>
        <p:nvSpPr>
          <p:cNvPr id="5" name="Text 2"/>
          <p:cNvSpPr txBox="1"/>
          <p:nvPr/>
        </p:nvSpPr>
        <p:spPr>
          <a:xfrm>
            <a:off x="411480" y="777240"/>
            <a:ext cx="8321040" cy="457200"/>
          </a:xfrm>
          <a:prstGeom prst="rect">
            <a:avLst/>
          </a:prstGeom>
          <a:noFill/>
          <a:ln/>
        </p:spPr>
        <p:txBody>
          <a:bodyPr wrap="square" lIns="25400" tIns="25400" rIns="25400" bIns="25400" rtlCol="0" anchor="ctr"/>
          <a:lstStyle/>
          <a:p>
            <a:pPr marL="0" indent="0" algn="ctr">
              <a:buNone/>
            </a:pPr>
            <a:r>
              <a:rPr lang="en-US" sz="1200" b="1" dirty="0">
                <a:solidFill>
                  <a:srgbClr val="FFFFFF"/>
                </a:solidFill>
              </a:rPr>
              <a:t>TATFF-XGBLSTM   |   Temporal-Aware Transaction Feature Fusion XGBoost-LSTM   (proposed in this work)</a:t>
            </a:r>
            <a:endParaRPr lang="en-US" sz="1200" dirty="0"/>
          </a:p>
        </p:txBody>
      </p:sp>
      <p:sp>
        <p:nvSpPr>
          <p:cNvPr id="6" name="Shape 3"/>
          <p:cNvSpPr/>
          <p:nvPr/>
        </p:nvSpPr>
        <p:spPr>
          <a:xfrm>
            <a:off x="411480" y="1371600"/>
            <a:ext cx="2697480" cy="1051560"/>
          </a:xfrm>
          <a:prstGeom prst="rect">
            <a:avLst/>
          </a:prstGeom>
          <a:solidFill>
            <a:srgbClr val="FFFFFF"/>
          </a:solidFill>
          <a:ln w="9525">
            <a:solidFill>
              <a:srgbClr val="D5DBE1"/>
            </a:solidFill>
            <a:prstDash val="solid"/>
          </a:ln>
        </p:spPr>
      </p:sp>
      <p:sp>
        <p:nvSpPr>
          <p:cNvPr id="7" name="Shape 4"/>
          <p:cNvSpPr/>
          <p:nvPr/>
        </p:nvSpPr>
        <p:spPr>
          <a:xfrm>
            <a:off x="411480" y="1371600"/>
            <a:ext cx="64008" cy="1051560"/>
          </a:xfrm>
          <a:prstGeom prst="rect">
            <a:avLst/>
          </a:prstGeom>
          <a:solidFill>
            <a:srgbClr val="2E6FBA"/>
          </a:solidFill>
          <a:ln w="12700">
            <a:solidFill>
              <a:srgbClr val="2E6FBA"/>
            </a:solidFill>
            <a:prstDash val="solid"/>
          </a:ln>
        </p:spPr>
      </p:sp>
      <p:sp>
        <p:nvSpPr>
          <p:cNvPr id="8" name="Text 5"/>
          <p:cNvSpPr txBox="1"/>
          <p:nvPr/>
        </p:nvSpPr>
        <p:spPr>
          <a:xfrm>
            <a:off x="566928" y="1426464"/>
            <a:ext cx="2468880" cy="256032"/>
          </a:xfrm>
          <a:prstGeom prst="rect">
            <a:avLst/>
          </a:prstGeom>
          <a:noFill/>
          <a:ln/>
        </p:spPr>
        <p:txBody>
          <a:bodyPr wrap="square" lIns="0" tIns="0" rIns="0" bIns="0" rtlCol="0" anchor="ctr"/>
          <a:lstStyle/>
          <a:p>
            <a:pPr marL="0" indent="0">
              <a:buNone/>
            </a:pPr>
            <a:r>
              <a:rPr lang="en-US" sz="1150" b="1" dirty="0">
                <a:solidFill>
                  <a:srgbClr val="2E6FBA"/>
                </a:solidFill>
              </a:rPr>
              <a:t>LSTM: temporal learner</a:t>
            </a:r>
            <a:endParaRPr lang="en-US" sz="1150" dirty="0"/>
          </a:p>
        </p:txBody>
      </p:sp>
      <p:sp>
        <p:nvSpPr>
          <p:cNvPr id="9" name="Text 6"/>
          <p:cNvSpPr txBox="1"/>
          <p:nvPr/>
        </p:nvSpPr>
        <p:spPr>
          <a:xfrm>
            <a:off x="566928" y="1719072"/>
            <a:ext cx="2441448" cy="649224"/>
          </a:xfrm>
          <a:prstGeom prst="rect">
            <a:avLst/>
          </a:prstGeom>
          <a:noFill/>
          <a:ln/>
        </p:spPr>
        <p:txBody>
          <a:bodyPr wrap="square" lIns="0" tIns="0" rIns="0" bIns="0" rtlCol="0" anchor="t"/>
          <a:lstStyle/>
          <a:p>
            <a:pPr marL="0" indent="0">
              <a:buNone/>
            </a:pPr>
            <a:r>
              <a:rPr lang="en-US" sz="1121" dirty="0">
                <a:solidFill>
                  <a:srgbClr val="1B2430"/>
                </a:solidFill>
              </a:rPr>
              <a:t>Input: previous 6 months of monthly sales. Output: LSTM temporal prediction (one-step).</a:t>
            </a:r>
            <a:endParaRPr lang="en-US" sz="1121" dirty="0"/>
          </a:p>
        </p:txBody>
      </p:sp>
      <p:sp>
        <p:nvSpPr>
          <p:cNvPr id="10" name="Shape 7"/>
          <p:cNvSpPr/>
          <p:nvPr/>
        </p:nvSpPr>
        <p:spPr>
          <a:xfrm>
            <a:off x="3246120" y="1371600"/>
            <a:ext cx="2697480" cy="1051560"/>
          </a:xfrm>
          <a:prstGeom prst="rect">
            <a:avLst/>
          </a:prstGeom>
          <a:solidFill>
            <a:srgbClr val="FFFFFF"/>
          </a:solidFill>
          <a:ln w="9525">
            <a:solidFill>
              <a:srgbClr val="D5DBE1"/>
            </a:solidFill>
            <a:prstDash val="solid"/>
          </a:ln>
        </p:spPr>
      </p:sp>
      <p:sp>
        <p:nvSpPr>
          <p:cNvPr id="11" name="Shape 8"/>
          <p:cNvSpPr/>
          <p:nvPr/>
        </p:nvSpPr>
        <p:spPr>
          <a:xfrm>
            <a:off x="3246120" y="1371600"/>
            <a:ext cx="64008" cy="1051560"/>
          </a:xfrm>
          <a:prstGeom prst="rect">
            <a:avLst/>
          </a:prstGeom>
          <a:solidFill>
            <a:srgbClr val="D9822B"/>
          </a:solidFill>
          <a:ln w="12700">
            <a:solidFill>
              <a:srgbClr val="D9822B"/>
            </a:solidFill>
            <a:prstDash val="solid"/>
          </a:ln>
        </p:spPr>
      </p:sp>
      <p:sp>
        <p:nvSpPr>
          <p:cNvPr id="12" name="Text 9"/>
          <p:cNvSpPr txBox="1"/>
          <p:nvPr/>
        </p:nvSpPr>
        <p:spPr>
          <a:xfrm>
            <a:off x="3401568" y="1426464"/>
            <a:ext cx="2468880" cy="256032"/>
          </a:xfrm>
          <a:prstGeom prst="rect">
            <a:avLst/>
          </a:prstGeom>
          <a:noFill/>
          <a:ln/>
        </p:spPr>
        <p:txBody>
          <a:bodyPr wrap="square" lIns="0" tIns="0" rIns="0" bIns="0" rtlCol="0" anchor="ctr"/>
          <a:lstStyle/>
          <a:p>
            <a:pPr marL="0" indent="0">
              <a:buNone/>
            </a:pPr>
            <a:r>
              <a:rPr lang="en-US" sz="1150" b="1" dirty="0">
                <a:solidFill>
                  <a:srgbClr val="D9822B"/>
                </a:solidFill>
              </a:rPr>
              <a:t>Feature fusion</a:t>
            </a:r>
            <a:endParaRPr lang="en-US" sz="1150" dirty="0"/>
          </a:p>
        </p:txBody>
      </p:sp>
      <p:sp>
        <p:nvSpPr>
          <p:cNvPr id="13" name="Text 10"/>
          <p:cNvSpPr txBox="1"/>
          <p:nvPr/>
        </p:nvSpPr>
        <p:spPr>
          <a:xfrm>
            <a:off x="3401568" y="1719072"/>
            <a:ext cx="2441448" cy="649224"/>
          </a:xfrm>
          <a:prstGeom prst="rect">
            <a:avLst/>
          </a:prstGeom>
          <a:noFill/>
          <a:ln/>
        </p:spPr>
        <p:txBody>
          <a:bodyPr wrap="square" lIns="0" tIns="0" rIns="0" bIns="0" rtlCol="0" anchor="t"/>
          <a:lstStyle/>
          <a:p>
            <a:pPr marL="0" indent="0">
              <a:buNone/>
            </a:pPr>
            <a:r>
              <a:rPr lang="en-US" sz="1121" dirty="0">
                <a:solidFill>
                  <a:srgbClr val="1B2430"/>
                </a:solidFill>
              </a:rPr>
              <a:t>The temporal prediction is attached to each transaction of that month as an additional input feature.</a:t>
            </a:r>
            <a:endParaRPr lang="en-US" sz="1121" dirty="0"/>
          </a:p>
        </p:txBody>
      </p:sp>
      <p:sp>
        <p:nvSpPr>
          <p:cNvPr id="14" name="Shape 11"/>
          <p:cNvSpPr/>
          <p:nvPr/>
        </p:nvSpPr>
        <p:spPr>
          <a:xfrm>
            <a:off x="6080760" y="1371600"/>
            <a:ext cx="2651760" cy="1051560"/>
          </a:xfrm>
          <a:prstGeom prst="rect">
            <a:avLst/>
          </a:prstGeom>
          <a:solidFill>
            <a:srgbClr val="FFFFFF"/>
          </a:solidFill>
          <a:ln w="9525">
            <a:solidFill>
              <a:srgbClr val="D5DBE1"/>
            </a:solidFill>
            <a:prstDash val="solid"/>
          </a:ln>
        </p:spPr>
      </p:sp>
      <p:sp>
        <p:nvSpPr>
          <p:cNvPr id="15" name="Shape 12"/>
          <p:cNvSpPr/>
          <p:nvPr/>
        </p:nvSpPr>
        <p:spPr>
          <a:xfrm>
            <a:off x="6080760" y="1371600"/>
            <a:ext cx="64008" cy="1051560"/>
          </a:xfrm>
          <a:prstGeom prst="rect">
            <a:avLst/>
          </a:prstGeom>
          <a:solidFill>
            <a:srgbClr val="2E6FBA"/>
          </a:solidFill>
          <a:ln w="12700">
            <a:solidFill>
              <a:srgbClr val="2E6FBA"/>
            </a:solidFill>
            <a:prstDash val="solid"/>
          </a:ln>
        </p:spPr>
      </p:sp>
      <p:sp>
        <p:nvSpPr>
          <p:cNvPr id="16" name="Text 13"/>
          <p:cNvSpPr txBox="1"/>
          <p:nvPr/>
        </p:nvSpPr>
        <p:spPr>
          <a:xfrm>
            <a:off x="6236208" y="1426464"/>
            <a:ext cx="2423160" cy="256032"/>
          </a:xfrm>
          <a:prstGeom prst="rect">
            <a:avLst/>
          </a:prstGeom>
          <a:noFill/>
          <a:ln/>
        </p:spPr>
        <p:txBody>
          <a:bodyPr wrap="square" lIns="0" tIns="0" rIns="0" bIns="0" rtlCol="0" anchor="ctr"/>
          <a:lstStyle/>
          <a:p>
            <a:pPr marL="0" indent="0">
              <a:buNone/>
            </a:pPr>
            <a:r>
              <a:rPr lang="en-US" sz="1150" b="1" dirty="0">
                <a:solidFill>
                  <a:srgbClr val="2E6FBA"/>
                </a:solidFill>
              </a:rPr>
              <a:t>XGBoost: final predictor</a:t>
            </a:r>
            <a:endParaRPr lang="en-US" sz="1150" dirty="0"/>
          </a:p>
        </p:txBody>
      </p:sp>
      <p:sp>
        <p:nvSpPr>
          <p:cNvPr id="17" name="Text 14"/>
          <p:cNvSpPr txBox="1"/>
          <p:nvPr/>
        </p:nvSpPr>
        <p:spPr>
          <a:xfrm>
            <a:off x="6236208" y="1719072"/>
            <a:ext cx="2395728" cy="649224"/>
          </a:xfrm>
          <a:prstGeom prst="rect">
            <a:avLst/>
          </a:prstGeom>
          <a:noFill/>
          <a:ln/>
        </p:spPr>
        <p:txBody>
          <a:bodyPr wrap="square" lIns="0" tIns="0" rIns="0" bIns="0" rtlCol="0" anchor="t"/>
          <a:lstStyle/>
          <a:p>
            <a:pPr marL="0" indent="0">
              <a:buNone/>
            </a:pPr>
            <a:r>
              <a:rPr lang="en-US" sz="1121" dirty="0">
                <a:solidFill>
                  <a:srgbClr val="1B2430"/>
                </a:solidFill>
              </a:rPr>
              <a:t>Learns non-linear interactions among 22 transaction features plus the temporal feature; outputs Sales.</a:t>
            </a:r>
            <a:endParaRPr lang="en-US" sz="1121"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11480" y="2606040"/>
          <a:ext cx="8321040" cy="1554480"/>
        </p:xfrm>
        <a:graphic>
          <a:graphicData uri="http://schemas.openxmlformats.org/drawingml/2006/table">
            <a:tbl>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0">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Data characteristic</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Model component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Reason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Historical sales sequence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LSTM</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Captures temporal dependencies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Transaction-level attributes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XGBoost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Captures nonlinear tabular interactions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Temporal + transaction information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Feature fusion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Combines complementary information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Strong ML baseline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XGBoost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Strongest standalone ML model in this study</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Need for hybrid</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LSTM + XGB</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Combines temporal and structured information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Proposed Hybrid Architecture and Workflow</a:t>
            </a:r>
            <a:endParaRPr lang="en-US" sz="2200" dirty="0"/>
          </a:p>
        </p:txBody>
      </p:sp>
      <p:sp>
        <p:nvSpPr>
          <p:cNvPr id="4" name="Shape 1"/>
          <p:cNvSpPr/>
          <p:nvPr/>
        </p:nvSpPr>
        <p:spPr>
          <a:xfrm>
            <a:off x="411480" y="777240"/>
            <a:ext cx="1261872" cy="384048"/>
          </a:xfrm>
          <a:prstGeom prst="rect">
            <a:avLst/>
          </a:prstGeom>
          <a:solidFill>
            <a:srgbClr val="1F3A5F"/>
          </a:solidFill>
          <a:ln w="12700">
            <a:solidFill>
              <a:srgbClr val="1F3A5F"/>
            </a:solidFill>
            <a:prstDash val="solid"/>
          </a:ln>
        </p:spPr>
      </p:sp>
      <p:sp>
        <p:nvSpPr>
          <p:cNvPr id="5" name="Text 2"/>
          <p:cNvSpPr txBox="1"/>
          <p:nvPr/>
        </p:nvSpPr>
        <p:spPr>
          <a:xfrm>
            <a:off x="411480" y="777240"/>
            <a:ext cx="1261872"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Data Sources</a:t>
            </a:r>
            <a:endParaRPr lang="en-US" sz="900" dirty="0"/>
          </a:p>
        </p:txBody>
      </p:sp>
      <p:sp>
        <p:nvSpPr>
          <p:cNvPr id="6" name="Shape 3"/>
          <p:cNvSpPr/>
          <p:nvPr/>
        </p:nvSpPr>
        <p:spPr>
          <a:xfrm>
            <a:off x="1673352" y="969264"/>
            <a:ext cx="155448" cy="0"/>
          </a:xfrm>
          <a:prstGeom prst="line">
            <a:avLst/>
          </a:prstGeom>
          <a:noFill/>
          <a:ln w="19050">
            <a:solidFill>
              <a:srgbClr val="5B6770"/>
            </a:solidFill>
            <a:prstDash val="solid"/>
            <a:tailEnd type="triangle"/>
          </a:ln>
        </p:spPr>
      </p:sp>
      <p:sp>
        <p:nvSpPr>
          <p:cNvPr id="7" name="Shape 4"/>
          <p:cNvSpPr/>
          <p:nvPr/>
        </p:nvSpPr>
        <p:spPr>
          <a:xfrm>
            <a:off x="1828800" y="777240"/>
            <a:ext cx="1261872" cy="384048"/>
          </a:xfrm>
          <a:prstGeom prst="rect">
            <a:avLst/>
          </a:prstGeom>
          <a:solidFill>
            <a:srgbClr val="1F3A5F"/>
          </a:solidFill>
          <a:ln w="12700">
            <a:solidFill>
              <a:srgbClr val="1F3A5F"/>
            </a:solidFill>
            <a:prstDash val="solid"/>
          </a:ln>
        </p:spPr>
      </p:sp>
      <p:sp>
        <p:nvSpPr>
          <p:cNvPr id="8" name="Text 5"/>
          <p:cNvSpPr txBox="1"/>
          <p:nvPr/>
        </p:nvSpPr>
        <p:spPr>
          <a:xfrm>
            <a:off x="1828800" y="777240"/>
            <a:ext cx="1261872"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Preprocessing</a:t>
            </a:r>
            <a:endParaRPr lang="en-US" sz="900" dirty="0"/>
          </a:p>
        </p:txBody>
      </p:sp>
      <p:sp>
        <p:nvSpPr>
          <p:cNvPr id="9" name="Shape 6"/>
          <p:cNvSpPr/>
          <p:nvPr/>
        </p:nvSpPr>
        <p:spPr>
          <a:xfrm>
            <a:off x="3090672" y="969264"/>
            <a:ext cx="155448" cy="0"/>
          </a:xfrm>
          <a:prstGeom prst="line">
            <a:avLst/>
          </a:prstGeom>
          <a:noFill/>
          <a:ln w="19050">
            <a:solidFill>
              <a:srgbClr val="5B6770"/>
            </a:solidFill>
            <a:prstDash val="solid"/>
            <a:tailEnd type="triangle"/>
          </a:ln>
        </p:spPr>
      </p:sp>
      <p:sp>
        <p:nvSpPr>
          <p:cNvPr id="10" name="Shape 7"/>
          <p:cNvSpPr/>
          <p:nvPr/>
        </p:nvSpPr>
        <p:spPr>
          <a:xfrm>
            <a:off x="3246120" y="777240"/>
            <a:ext cx="1261872" cy="384048"/>
          </a:xfrm>
          <a:prstGeom prst="rect">
            <a:avLst/>
          </a:prstGeom>
          <a:solidFill>
            <a:srgbClr val="1F3A5F"/>
          </a:solidFill>
          <a:ln w="12700">
            <a:solidFill>
              <a:srgbClr val="1F3A5F"/>
            </a:solidFill>
            <a:prstDash val="solid"/>
          </a:ln>
        </p:spPr>
      </p:sp>
      <p:sp>
        <p:nvSpPr>
          <p:cNvPr id="11" name="Text 8"/>
          <p:cNvSpPr txBox="1"/>
          <p:nvPr/>
        </p:nvSpPr>
        <p:spPr>
          <a:xfrm>
            <a:off x="3246120" y="777240"/>
            <a:ext cx="1261872"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EDA</a:t>
            </a:r>
            <a:endParaRPr lang="en-US" sz="900" dirty="0"/>
          </a:p>
        </p:txBody>
      </p:sp>
      <p:sp>
        <p:nvSpPr>
          <p:cNvPr id="12" name="Shape 9"/>
          <p:cNvSpPr/>
          <p:nvPr/>
        </p:nvSpPr>
        <p:spPr>
          <a:xfrm>
            <a:off x="4507992" y="969264"/>
            <a:ext cx="155448" cy="0"/>
          </a:xfrm>
          <a:prstGeom prst="line">
            <a:avLst/>
          </a:prstGeom>
          <a:noFill/>
          <a:ln w="19050">
            <a:solidFill>
              <a:srgbClr val="5B6770"/>
            </a:solidFill>
            <a:prstDash val="solid"/>
            <a:tailEnd type="triangle"/>
          </a:ln>
        </p:spPr>
      </p:sp>
      <p:sp>
        <p:nvSpPr>
          <p:cNvPr id="13" name="Shape 10"/>
          <p:cNvSpPr/>
          <p:nvPr/>
        </p:nvSpPr>
        <p:spPr>
          <a:xfrm>
            <a:off x="4663440" y="777240"/>
            <a:ext cx="1261872" cy="384048"/>
          </a:xfrm>
          <a:prstGeom prst="rect">
            <a:avLst/>
          </a:prstGeom>
          <a:solidFill>
            <a:srgbClr val="1F3A5F"/>
          </a:solidFill>
          <a:ln w="12700">
            <a:solidFill>
              <a:srgbClr val="1F3A5F"/>
            </a:solidFill>
            <a:prstDash val="solid"/>
          </a:ln>
        </p:spPr>
      </p:sp>
      <p:sp>
        <p:nvSpPr>
          <p:cNvPr id="14" name="Text 11"/>
          <p:cNvSpPr txBox="1"/>
          <p:nvPr/>
        </p:nvSpPr>
        <p:spPr>
          <a:xfrm>
            <a:off x="4663440" y="777240"/>
            <a:ext cx="1261872"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Feature Engineering</a:t>
            </a:r>
            <a:endParaRPr lang="en-US" sz="900" dirty="0"/>
          </a:p>
        </p:txBody>
      </p:sp>
      <p:sp>
        <p:nvSpPr>
          <p:cNvPr id="15" name="Shape 12"/>
          <p:cNvSpPr/>
          <p:nvPr/>
        </p:nvSpPr>
        <p:spPr>
          <a:xfrm>
            <a:off x="5925312" y="969264"/>
            <a:ext cx="155448" cy="0"/>
          </a:xfrm>
          <a:prstGeom prst="line">
            <a:avLst/>
          </a:prstGeom>
          <a:noFill/>
          <a:ln w="19050">
            <a:solidFill>
              <a:srgbClr val="5B6770"/>
            </a:solidFill>
            <a:prstDash val="solid"/>
            <a:tailEnd type="triangle"/>
          </a:ln>
        </p:spPr>
      </p:sp>
      <p:sp>
        <p:nvSpPr>
          <p:cNvPr id="16" name="Shape 13"/>
          <p:cNvSpPr/>
          <p:nvPr/>
        </p:nvSpPr>
        <p:spPr>
          <a:xfrm>
            <a:off x="6080760" y="777240"/>
            <a:ext cx="1261872" cy="384048"/>
          </a:xfrm>
          <a:prstGeom prst="rect">
            <a:avLst/>
          </a:prstGeom>
          <a:solidFill>
            <a:srgbClr val="1F3A5F"/>
          </a:solidFill>
          <a:ln w="12700">
            <a:solidFill>
              <a:srgbClr val="1F3A5F"/>
            </a:solidFill>
            <a:prstDash val="solid"/>
          </a:ln>
        </p:spPr>
      </p:sp>
      <p:sp>
        <p:nvSpPr>
          <p:cNvPr id="17" name="Text 14"/>
          <p:cNvSpPr txBox="1"/>
          <p:nvPr/>
        </p:nvSpPr>
        <p:spPr>
          <a:xfrm>
            <a:off x="6080760" y="777240"/>
            <a:ext cx="1261872"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Feature Selection</a:t>
            </a:r>
            <a:endParaRPr lang="en-US" sz="900" dirty="0"/>
          </a:p>
        </p:txBody>
      </p:sp>
      <p:sp>
        <p:nvSpPr>
          <p:cNvPr id="18" name="Shape 15"/>
          <p:cNvSpPr/>
          <p:nvPr/>
        </p:nvSpPr>
        <p:spPr>
          <a:xfrm>
            <a:off x="7342632" y="969264"/>
            <a:ext cx="155448" cy="0"/>
          </a:xfrm>
          <a:prstGeom prst="line">
            <a:avLst/>
          </a:prstGeom>
          <a:noFill/>
          <a:ln w="19050">
            <a:solidFill>
              <a:srgbClr val="5B6770"/>
            </a:solidFill>
            <a:prstDash val="solid"/>
            <a:tailEnd type="triangle"/>
          </a:ln>
        </p:spPr>
      </p:sp>
      <p:sp>
        <p:nvSpPr>
          <p:cNvPr id="19" name="Shape 16"/>
          <p:cNvSpPr/>
          <p:nvPr/>
        </p:nvSpPr>
        <p:spPr>
          <a:xfrm>
            <a:off x="7498080" y="777240"/>
            <a:ext cx="1261872" cy="384048"/>
          </a:xfrm>
          <a:prstGeom prst="rect">
            <a:avLst/>
          </a:prstGeom>
          <a:solidFill>
            <a:srgbClr val="2E6FBA"/>
          </a:solidFill>
          <a:ln w="12700">
            <a:solidFill>
              <a:srgbClr val="2E6FBA"/>
            </a:solidFill>
            <a:prstDash val="solid"/>
          </a:ln>
        </p:spPr>
      </p:sp>
      <p:sp>
        <p:nvSpPr>
          <p:cNvPr id="20" name="Text 17"/>
          <p:cNvSpPr txBox="1"/>
          <p:nvPr/>
        </p:nvSpPr>
        <p:spPr>
          <a:xfrm>
            <a:off x="7498080" y="777240"/>
            <a:ext cx="1261872"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Baseline ML / DL</a:t>
            </a:r>
            <a:endParaRPr lang="en-US" sz="900" dirty="0"/>
          </a:p>
        </p:txBody>
      </p:sp>
      <p:sp>
        <p:nvSpPr>
          <p:cNvPr id="21" name="Shape 18"/>
          <p:cNvSpPr/>
          <p:nvPr/>
        </p:nvSpPr>
        <p:spPr>
          <a:xfrm>
            <a:off x="8046720" y="1161288"/>
            <a:ext cx="0" cy="210312"/>
          </a:xfrm>
          <a:prstGeom prst="line">
            <a:avLst/>
          </a:prstGeom>
          <a:noFill/>
          <a:ln w="19050">
            <a:solidFill>
              <a:srgbClr val="5B6770"/>
            </a:solidFill>
            <a:prstDash val="solid"/>
            <a:tailEnd type="triangle"/>
          </a:ln>
        </p:spPr>
      </p:sp>
      <p:sp>
        <p:nvSpPr>
          <p:cNvPr id="22" name="Shape 19"/>
          <p:cNvSpPr/>
          <p:nvPr/>
        </p:nvSpPr>
        <p:spPr>
          <a:xfrm>
            <a:off x="7498080" y="1371600"/>
            <a:ext cx="1261872" cy="384048"/>
          </a:xfrm>
          <a:prstGeom prst="rect">
            <a:avLst/>
          </a:prstGeom>
          <a:solidFill>
            <a:srgbClr val="2E6FBA"/>
          </a:solidFill>
          <a:ln w="12700">
            <a:solidFill>
              <a:srgbClr val="2E6FBA"/>
            </a:solidFill>
            <a:prstDash val="solid"/>
          </a:ln>
        </p:spPr>
      </p:sp>
      <p:sp>
        <p:nvSpPr>
          <p:cNvPr id="23" name="Text 20"/>
          <p:cNvSpPr txBox="1"/>
          <p:nvPr/>
        </p:nvSpPr>
        <p:spPr>
          <a:xfrm>
            <a:off x="7498080" y="1371600"/>
            <a:ext cx="1261872" cy="384048"/>
          </a:xfrm>
          <a:prstGeom prst="rect">
            <a:avLst/>
          </a:prstGeom>
          <a:noFill/>
          <a:ln/>
        </p:spPr>
        <p:txBody>
          <a:bodyPr wrap="square" lIns="25400" tIns="25400" rIns="25400" bIns="25400" rtlCol="0" anchor="ctr"/>
          <a:lstStyle/>
          <a:p>
            <a:pPr marL="0" indent="0" algn="ctr">
              <a:buNone/>
            </a:pPr>
            <a:r>
              <a:rPr lang="en-US" sz="850" b="1" dirty="0">
                <a:solidFill>
                  <a:srgbClr val="FFFFFF"/>
                </a:solidFill>
              </a:rPr>
              <a:t>Multiple Hybrid Experiments</a:t>
            </a:r>
            <a:endParaRPr lang="en-US" sz="850" dirty="0"/>
          </a:p>
        </p:txBody>
      </p:sp>
      <p:sp>
        <p:nvSpPr>
          <p:cNvPr id="24" name="Shape 21"/>
          <p:cNvSpPr/>
          <p:nvPr/>
        </p:nvSpPr>
        <p:spPr>
          <a:xfrm flipH="1">
            <a:off x="7342632" y="1563624"/>
            <a:ext cx="155448" cy="0"/>
          </a:xfrm>
          <a:prstGeom prst="line">
            <a:avLst/>
          </a:prstGeom>
          <a:noFill/>
          <a:ln w="19050">
            <a:solidFill>
              <a:srgbClr val="5B6770"/>
            </a:solidFill>
            <a:prstDash val="solid"/>
            <a:tailEnd type="triangle"/>
          </a:ln>
        </p:spPr>
      </p:sp>
      <p:sp>
        <p:nvSpPr>
          <p:cNvPr id="25" name="Shape 22"/>
          <p:cNvSpPr/>
          <p:nvPr/>
        </p:nvSpPr>
        <p:spPr>
          <a:xfrm>
            <a:off x="6080760" y="1371600"/>
            <a:ext cx="1261872" cy="384048"/>
          </a:xfrm>
          <a:prstGeom prst="rect">
            <a:avLst/>
          </a:prstGeom>
          <a:solidFill>
            <a:srgbClr val="D9822B"/>
          </a:solidFill>
          <a:ln w="12700">
            <a:solidFill>
              <a:srgbClr val="D9822B"/>
            </a:solidFill>
            <a:prstDash val="solid"/>
          </a:ln>
        </p:spPr>
      </p:sp>
      <p:sp>
        <p:nvSpPr>
          <p:cNvPr id="26" name="Text 23"/>
          <p:cNvSpPr txBox="1"/>
          <p:nvPr/>
        </p:nvSpPr>
        <p:spPr>
          <a:xfrm>
            <a:off x="6080760" y="1371600"/>
            <a:ext cx="1261872" cy="384048"/>
          </a:xfrm>
          <a:prstGeom prst="rect">
            <a:avLst/>
          </a:prstGeom>
          <a:noFill/>
          <a:ln/>
        </p:spPr>
        <p:txBody>
          <a:bodyPr wrap="square" lIns="25400" tIns="25400" rIns="25400" bIns="25400" rtlCol="0" anchor="ctr"/>
          <a:lstStyle/>
          <a:p>
            <a:pPr marL="0" indent="0" algn="ctr">
              <a:buNone/>
            </a:pPr>
            <a:r>
              <a:rPr lang="en-US" sz="850" b="1" dirty="0">
                <a:solidFill>
                  <a:srgbClr val="FFFFFF"/>
                </a:solidFill>
              </a:rPr>
              <a:t>TATFF-XGBLSTM</a:t>
            </a:r>
            <a:endParaRPr lang="en-US" sz="850" dirty="0"/>
          </a:p>
        </p:txBody>
      </p:sp>
      <p:sp>
        <p:nvSpPr>
          <p:cNvPr id="27" name="Shape 24"/>
          <p:cNvSpPr/>
          <p:nvPr/>
        </p:nvSpPr>
        <p:spPr>
          <a:xfrm flipH="1">
            <a:off x="5925312" y="1563624"/>
            <a:ext cx="155448" cy="0"/>
          </a:xfrm>
          <a:prstGeom prst="line">
            <a:avLst/>
          </a:prstGeom>
          <a:noFill/>
          <a:ln w="19050">
            <a:solidFill>
              <a:srgbClr val="5B6770"/>
            </a:solidFill>
            <a:prstDash val="solid"/>
            <a:tailEnd type="triangle"/>
          </a:ln>
        </p:spPr>
      </p:sp>
      <p:sp>
        <p:nvSpPr>
          <p:cNvPr id="28" name="Shape 25"/>
          <p:cNvSpPr/>
          <p:nvPr/>
        </p:nvSpPr>
        <p:spPr>
          <a:xfrm>
            <a:off x="4663440" y="1371600"/>
            <a:ext cx="1261872" cy="384048"/>
          </a:xfrm>
          <a:prstGeom prst="rect">
            <a:avLst/>
          </a:prstGeom>
          <a:solidFill>
            <a:srgbClr val="1F3A5F"/>
          </a:solidFill>
          <a:ln w="12700">
            <a:solidFill>
              <a:srgbClr val="1F3A5F"/>
            </a:solidFill>
            <a:prstDash val="solid"/>
          </a:ln>
        </p:spPr>
      </p:sp>
      <p:sp>
        <p:nvSpPr>
          <p:cNvPr id="29" name="Text 26"/>
          <p:cNvSpPr txBox="1"/>
          <p:nvPr/>
        </p:nvSpPr>
        <p:spPr>
          <a:xfrm>
            <a:off x="4663440" y="1371600"/>
            <a:ext cx="1261872" cy="384048"/>
          </a:xfrm>
          <a:prstGeom prst="rect">
            <a:avLst/>
          </a:prstGeom>
          <a:noFill/>
          <a:ln/>
        </p:spPr>
        <p:txBody>
          <a:bodyPr wrap="square" lIns="25400" tIns="25400" rIns="25400" bIns="25400" rtlCol="0" anchor="ctr"/>
          <a:lstStyle/>
          <a:p>
            <a:pPr marL="0" indent="0" algn="ctr">
              <a:buNone/>
            </a:pPr>
            <a:r>
              <a:rPr lang="en-US" sz="850" b="1" dirty="0">
                <a:solidFill>
                  <a:srgbClr val="FFFFFF"/>
                </a:solidFill>
              </a:rPr>
              <a:t>Evaluation</a:t>
            </a:r>
            <a:endParaRPr lang="en-US" sz="850" dirty="0"/>
          </a:p>
        </p:txBody>
      </p:sp>
      <p:sp>
        <p:nvSpPr>
          <p:cNvPr id="30" name="Shape 27"/>
          <p:cNvSpPr/>
          <p:nvPr/>
        </p:nvSpPr>
        <p:spPr>
          <a:xfrm flipH="1">
            <a:off x="4507992" y="1563624"/>
            <a:ext cx="155448" cy="0"/>
          </a:xfrm>
          <a:prstGeom prst="line">
            <a:avLst/>
          </a:prstGeom>
          <a:noFill/>
          <a:ln w="19050">
            <a:solidFill>
              <a:srgbClr val="5B6770"/>
            </a:solidFill>
            <a:prstDash val="solid"/>
            <a:tailEnd type="triangle"/>
          </a:ln>
        </p:spPr>
      </p:sp>
      <p:sp>
        <p:nvSpPr>
          <p:cNvPr id="31" name="Shape 28"/>
          <p:cNvSpPr/>
          <p:nvPr/>
        </p:nvSpPr>
        <p:spPr>
          <a:xfrm>
            <a:off x="3246120" y="1371600"/>
            <a:ext cx="1261872" cy="384048"/>
          </a:xfrm>
          <a:prstGeom prst="rect">
            <a:avLst/>
          </a:prstGeom>
          <a:solidFill>
            <a:srgbClr val="1F3A5F"/>
          </a:solidFill>
          <a:ln w="12700">
            <a:solidFill>
              <a:srgbClr val="1F3A5F"/>
            </a:solidFill>
            <a:prstDash val="solid"/>
          </a:ln>
        </p:spPr>
      </p:sp>
      <p:sp>
        <p:nvSpPr>
          <p:cNvPr id="32" name="Text 29"/>
          <p:cNvSpPr txBox="1"/>
          <p:nvPr/>
        </p:nvSpPr>
        <p:spPr>
          <a:xfrm>
            <a:off x="3246120" y="1371600"/>
            <a:ext cx="1261872" cy="384048"/>
          </a:xfrm>
          <a:prstGeom prst="rect">
            <a:avLst/>
          </a:prstGeom>
          <a:noFill/>
          <a:ln/>
        </p:spPr>
        <p:txBody>
          <a:bodyPr wrap="square" lIns="25400" tIns="25400" rIns="25400" bIns="25400" rtlCol="0" anchor="ctr"/>
          <a:lstStyle/>
          <a:p>
            <a:pPr marL="0" indent="0" algn="ctr">
              <a:buNone/>
            </a:pPr>
            <a:r>
              <a:rPr lang="en-US" sz="850" b="1" dirty="0">
                <a:solidFill>
                  <a:srgbClr val="FFFFFF"/>
                </a:solidFill>
              </a:rPr>
              <a:t>Explainability</a:t>
            </a:r>
            <a:endParaRPr lang="en-US" sz="850" dirty="0"/>
          </a:p>
        </p:txBody>
      </p:sp>
      <p:sp>
        <p:nvSpPr>
          <p:cNvPr id="33" name="Shape 30"/>
          <p:cNvSpPr/>
          <p:nvPr/>
        </p:nvSpPr>
        <p:spPr>
          <a:xfrm flipH="1">
            <a:off x="3090672" y="1563624"/>
            <a:ext cx="155448" cy="0"/>
          </a:xfrm>
          <a:prstGeom prst="line">
            <a:avLst/>
          </a:prstGeom>
          <a:noFill/>
          <a:ln w="19050">
            <a:solidFill>
              <a:srgbClr val="5B6770"/>
            </a:solidFill>
            <a:prstDash val="solid"/>
            <a:tailEnd type="triangle"/>
          </a:ln>
        </p:spPr>
      </p:sp>
      <p:sp>
        <p:nvSpPr>
          <p:cNvPr id="34" name="Shape 31"/>
          <p:cNvSpPr/>
          <p:nvPr/>
        </p:nvSpPr>
        <p:spPr>
          <a:xfrm>
            <a:off x="1828800" y="1371600"/>
            <a:ext cx="1261872" cy="384048"/>
          </a:xfrm>
          <a:prstGeom prst="rect">
            <a:avLst/>
          </a:prstGeom>
          <a:solidFill>
            <a:srgbClr val="1F3A5F"/>
          </a:solidFill>
          <a:ln w="12700">
            <a:solidFill>
              <a:srgbClr val="1F3A5F"/>
            </a:solidFill>
            <a:prstDash val="solid"/>
          </a:ln>
        </p:spPr>
      </p:sp>
      <p:sp>
        <p:nvSpPr>
          <p:cNvPr id="35" name="Text 32"/>
          <p:cNvSpPr txBox="1"/>
          <p:nvPr/>
        </p:nvSpPr>
        <p:spPr>
          <a:xfrm>
            <a:off x="1828800" y="1371600"/>
            <a:ext cx="1261872" cy="384048"/>
          </a:xfrm>
          <a:prstGeom prst="rect">
            <a:avLst/>
          </a:prstGeom>
          <a:noFill/>
          <a:ln/>
        </p:spPr>
        <p:txBody>
          <a:bodyPr wrap="square" lIns="25400" tIns="25400" rIns="25400" bIns="25400" rtlCol="0" anchor="ctr"/>
          <a:lstStyle/>
          <a:p>
            <a:pPr marL="0" indent="0" algn="ctr">
              <a:buNone/>
            </a:pPr>
            <a:r>
              <a:rPr lang="en-US" sz="850" b="1" dirty="0">
                <a:solidFill>
                  <a:srgbClr val="FFFFFF"/>
                </a:solidFill>
              </a:rPr>
              <a:t>Power BI / Insights</a:t>
            </a:r>
            <a:endParaRPr lang="en-US" sz="850" dirty="0"/>
          </a:p>
        </p:txBody>
      </p:sp>
      <p:sp>
        <p:nvSpPr>
          <p:cNvPr id="36" name="Text 33"/>
          <p:cNvSpPr txBox="1"/>
          <p:nvPr/>
        </p:nvSpPr>
        <p:spPr>
          <a:xfrm>
            <a:off x="411480" y="1965960"/>
            <a:ext cx="8321040" cy="228600"/>
          </a:xfrm>
          <a:prstGeom prst="rect">
            <a:avLst/>
          </a:prstGeom>
          <a:noFill/>
          <a:ln/>
        </p:spPr>
        <p:txBody>
          <a:bodyPr wrap="square" lIns="0" tIns="0" rIns="0" bIns="0" rtlCol="0" anchor="ctr"/>
          <a:lstStyle/>
          <a:p>
            <a:pPr marL="0" indent="0">
              <a:buNone/>
            </a:pPr>
            <a:r>
              <a:rPr lang="en-US" sz="1000" b="1" dirty="0">
                <a:solidFill>
                  <a:srgbClr val="D9822B"/>
                </a:solidFill>
              </a:rPr>
              <a:t>PROPOSED BRANCH (this work's model, not a literature model)</a:t>
            </a:r>
            <a:endParaRPr lang="en-US" sz="1000" dirty="0"/>
          </a:p>
        </p:txBody>
      </p:sp>
      <p:sp>
        <p:nvSpPr>
          <p:cNvPr id="37" name="Shape 34"/>
          <p:cNvSpPr/>
          <p:nvPr/>
        </p:nvSpPr>
        <p:spPr>
          <a:xfrm>
            <a:off x="3566160" y="2240280"/>
            <a:ext cx="2103120" cy="365760"/>
          </a:xfrm>
          <a:prstGeom prst="rect">
            <a:avLst/>
          </a:prstGeom>
          <a:solidFill>
            <a:srgbClr val="EAF1FA"/>
          </a:solidFill>
          <a:ln w="12700">
            <a:solidFill>
              <a:srgbClr val="2E6FBA"/>
            </a:solidFill>
            <a:prstDash val="solid"/>
          </a:ln>
        </p:spPr>
      </p:sp>
      <p:sp>
        <p:nvSpPr>
          <p:cNvPr id="38" name="Text 35"/>
          <p:cNvSpPr txBox="1"/>
          <p:nvPr/>
        </p:nvSpPr>
        <p:spPr>
          <a:xfrm>
            <a:off x="3566160" y="2240280"/>
            <a:ext cx="2103120" cy="365760"/>
          </a:xfrm>
          <a:prstGeom prst="rect">
            <a:avLst/>
          </a:prstGeom>
          <a:noFill/>
          <a:ln/>
        </p:spPr>
        <p:txBody>
          <a:bodyPr wrap="square" lIns="25400" tIns="25400" rIns="25400" bIns="25400" rtlCol="0" anchor="ctr"/>
          <a:lstStyle/>
          <a:p>
            <a:pPr marL="0" indent="0" algn="ctr">
              <a:buNone/>
            </a:pPr>
            <a:r>
              <a:rPr lang="en-US" sz="900" b="1" dirty="0">
                <a:solidFill>
                  <a:srgbClr val="1F3A5F"/>
                </a:solidFill>
              </a:rPr>
              <a:t>Transaction-Level Features (22)</a:t>
            </a:r>
            <a:endParaRPr lang="en-US" sz="900" dirty="0"/>
          </a:p>
        </p:txBody>
      </p:sp>
      <p:sp>
        <p:nvSpPr>
          <p:cNvPr id="39" name="Shape 36"/>
          <p:cNvSpPr/>
          <p:nvPr/>
        </p:nvSpPr>
        <p:spPr>
          <a:xfrm>
            <a:off x="411480" y="3063240"/>
            <a:ext cx="1234440" cy="731520"/>
          </a:xfrm>
          <a:prstGeom prst="rect">
            <a:avLst/>
          </a:prstGeom>
          <a:solidFill>
            <a:srgbClr val="EAF1FA"/>
          </a:solidFill>
          <a:ln w="12700">
            <a:solidFill>
              <a:srgbClr val="2E6FBA"/>
            </a:solidFill>
            <a:prstDash val="solid"/>
          </a:ln>
        </p:spPr>
      </p:sp>
      <p:sp>
        <p:nvSpPr>
          <p:cNvPr id="40" name="Text 37"/>
          <p:cNvSpPr txBox="1"/>
          <p:nvPr/>
        </p:nvSpPr>
        <p:spPr>
          <a:xfrm>
            <a:off x="411480" y="3063240"/>
            <a:ext cx="1234440" cy="731520"/>
          </a:xfrm>
          <a:prstGeom prst="rect">
            <a:avLst/>
          </a:prstGeom>
          <a:noFill/>
          <a:ln/>
        </p:spPr>
        <p:txBody>
          <a:bodyPr wrap="square" lIns="25400" tIns="25400" rIns="25400" bIns="25400" rtlCol="0" anchor="ctr"/>
          <a:lstStyle/>
          <a:p>
            <a:pPr marL="0" indent="0" algn="ctr">
              <a:buNone/>
            </a:pPr>
            <a:r>
              <a:rPr lang="en-US" sz="900" b="1" dirty="0">
                <a:solidFill>
                  <a:srgbClr val="1F3A5F"/>
                </a:solidFill>
              </a:rPr>
              <a:t>Historical Monthly Sales</a:t>
            </a:r>
            <a:endParaRPr lang="en-US" sz="900" dirty="0"/>
          </a:p>
        </p:txBody>
      </p:sp>
      <p:sp>
        <p:nvSpPr>
          <p:cNvPr id="41" name="Shape 38"/>
          <p:cNvSpPr/>
          <p:nvPr/>
        </p:nvSpPr>
        <p:spPr>
          <a:xfrm>
            <a:off x="1645920" y="3429000"/>
            <a:ext cx="228600" cy="0"/>
          </a:xfrm>
          <a:prstGeom prst="line">
            <a:avLst/>
          </a:prstGeom>
          <a:noFill/>
          <a:ln w="19050">
            <a:solidFill>
              <a:srgbClr val="5B6770"/>
            </a:solidFill>
            <a:prstDash val="solid"/>
            <a:tailEnd type="triangle"/>
          </a:ln>
        </p:spPr>
      </p:sp>
      <p:sp>
        <p:nvSpPr>
          <p:cNvPr id="42" name="Shape 39"/>
          <p:cNvSpPr/>
          <p:nvPr/>
        </p:nvSpPr>
        <p:spPr>
          <a:xfrm>
            <a:off x="1874520" y="3063240"/>
            <a:ext cx="1143000" cy="731520"/>
          </a:xfrm>
          <a:prstGeom prst="rect">
            <a:avLst/>
          </a:prstGeom>
          <a:solidFill>
            <a:srgbClr val="2E6FBA"/>
          </a:solidFill>
          <a:ln w="12700">
            <a:solidFill>
              <a:srgbClr val="2E6FBA"/>
            </a:solidFill>
            <a:prstDash val="solid"/>
          </a:ln>
        </p:spPr>
      </p:sp>
      <p:sp>
        <p:nvSpPr>
          <p:cNvPr id="43" name="Text 40"/>
          <p:cNvSpPr txBox="1"/>
          <p:nvPr/>
        </p:nvSpPr>
        <p:spPr>
          <a:xfrm>
            <a:off x="1874520" y="3063240"/>
            <a:ext cx="1143000" cy="731520"/>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LSTM (6-month lookback)</a:t>
            </a:r>
            <a:endParaRPr lang="en-US" sz="900" dirty="0"/>
          </a:p>
        </p:txBody>
      </p:sp>
      <p:sp>
        <p:nvSpPr>
          <p:cNvPr id="44" name="Shape 41"/>
          <p:cNvSpPr/>
          <p:nvPr/>
        </p:nvSpPr>
        <p:spPr>
          <a:xfrm>
            <a:off x="3017520" y="3429000"/>
            <a:ext cx="228600" cy="0"/>
          </a:xfrm>
          <a:prstGeom prst="line">
            <a:avLst/>
          </a:prstGeom>
          <a:noFill/>
          <a:ln w="19050">
            <a:solidFill>
              <a:srgbClr val="5B6770"/>
            </a:solidFill>
            <a:prstDash val="solid"/>
            <a:tailEnd type="triangle"/>
          </a:ln>
        </p:spPr>
      </p:sp>
      <p:sp>
        <p:nvSpPr>
          <p:cNvPr id="45" name="Shape 42"/>
          <p:cNvSpPr/>
          <p:nvPr/>
        </p:nvSpPr>
        <p:spPr>
          <a:xfrm>
            <a:off x="3246120" y="3063240"/>
            <a:ext cx="1143000" cy="731520"/>
          </a:xfrm>
          <a:prstGeom prst="rect">
            <a:avLst/>
          </a:prstGeom>
          <a:solidFill>
            <a:srgbClr val="EAF1FA"/>
          </a:solidFill>
          <a:ln w="12700">
            <a:solidFill>
              <a:srgbClr val="2E6FBA"/>
            </a:solidFill>
            <a:prstDash val="solid"/>
          </a:ln>
        </p:spPr>
      </p:sp>
      <p:sp>
        <p:nvSpPr>
          <p:cNvPr id="46" name="Text 43"/>
          <p:cNvSpPr txBox="1"/>
          <p:nvPr/>
        </p:nvSpPr>
        <p:spPr>
          <a:xfrm>
            <a:off x="3246120" y="3063240"/>
            <a:ext cx="1143000" cy="731520"/>
          </a:xfrm>
          <a:prstGeom prst="rect">
            <a:avLst/>
          </a:prstGeom>
          <a:noFill/>
          <a:ln/>
        </p:spPr>
        <p:txBody>
          <a:bodyPr wrap="square" lIns="25400" tIns="25400" rIns="25400" bIns="25400" rtlCol="0" anchor="ctr"/>
          <a:lstStyle/>
          <a:p>
            <a:pPr marL="0" indent="0" algn="ctr">
              <a:buNone/>
            </a:pPr>
            <a:r>
              <a:rPr lang="en-US" sz="900" b="1" dirty="0">
                <a:solidFill>
                  <a:srgbClr val="1F3A5F"/>
                </a:solidFill>
              </a:rPr>
              <a:t>LSTM Temporal Prediction</a:t>
            </a:r>
            <a:endParaRPr lang="en-US" sz="900" dirty="0"/>
          </a:p>
        </p:txBody>
      </p:sp>
      <p:sp>
        <p:nvSpPr>
          <p:cNvPr id="47" name="Shape 44"/>
          <p:cNvSpPr/>
          <p:nvPr/>
        </p:nvSpPr>
        <p:spPr>
          <a:xfrm>
            <a:off x="4389120" y="3429000"/>
            <a:ext cx="274320" cy="0"/>
          </a:xfrm>
          <a:prstGeom prst="line">
            <a:avLst/>
          </a:prstGeom>
          <a:noFill/>
          <a:ln w="19050">
            <a:solidFill>
              <a:srgbClr val="5B6770"/>
            </a:solidFill>
            <a:prstDash val="solid"/>
            <a:tailEnd type="triangle"/>
          </a:ln>
        </p:spPr>
      </p:sp>
      <p:sp>
        <p:nvSpPr>
          <p:cNvPr id="48" name="Shape 45"/>
          <p:cNvSpPr/>
          <p:nvPr/>
        </p:nvSpPr>
        <p:spPr>
          <a:xfrm>
            <a:off x="4663440" y="3063240"/>
            <a:ext cx="1234440" cy="731520"/>
          </a:xfrm>
          <a:prstGeom prst="rect">
            <a:avLst/>
          </a:prstGeom>
          <a:solidFill>
            <a:srgbClr val="D9822B"/>
          </a:solidFill>
          <a:ln w="12700">
            <a:solidFill>
              <a:srgbClr val="D9822B"/>
            </a:solidFill>
            <a:prstDash val="solid"/>
          </a:ln>
        </p:spPr>
      </p:sp>
      <p:sp>
        <p:nvSpPr>
          <p:cNvPr id="49" name="Text 46"/>
          <p:cNvSpPr txBox="1"/>
          <p:nvPr/>
        </p:nvSpPr>
        <p:spPr>
          <a:xfrm>
            <a:off x="4663440" y="3063240"/>
            <a:ext cx="1234440" cy="731520"/>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Feature Fusion (concatenate)</a:t>
            </a:r>
            <a:endParaRPr lang="en-US" sz="900" dirty="0"/>
          </a:p>
        </p:txBody>
      </p:sp>
      <p:sp>
        <p:nvSpPr>
          <p:cNvPr id="50" name="Shape 47"/>
          <p:cNvSpPr/>
          <p:nvPr/>
        </p:nvSpPr>
        <p:spPr>
          <a:xfrm>
            <a:off x="5897880" y="3429000"/>
            <a:ext cx="228600" cy="0"/>
          </a:xfrm>
          <a:prstGeom prst="line">
            <a:avLst/>
          </a:prstGeom>
          <a:noFill/>
          <a:ln w="19050">
            <a:solidFill>
              <a:srgbClr val="5B6770"/>
            </a:solidFill>
            <a:prstDash val="solid"/>
            <a:tailEnd type="triangle"/>
          </a:ln>
        </p:spPr>
      </p:sp>
      <p:sp>
        <p:nvSpPr>
          <p:cNvPr id="51" name="Shape 48"/>
          <p:cNvSpPr/>
          <p:nvPr/>
        </p:nvSpPr>
        <p:spPr>
          <a:xfrm>
            <a:off x="6126480" y="3063240"/>
            <a:ext cx="1097280" cy="731520"/>
          </a:xfrm>
          <a:prstGeom prst="rect">
            <a:avLst/>
          </a:prstGeom>
          <a:solidFill>
            <a:srgbClr val="2E6FBA"/>
          </a:solidFill>
          <a:ln w="12700">
            <a:solidFill>
              <a:srgbClr val="2E6FBA"/>
            </a:solidFill>
            <a:prstDash val="solid"/>
          </a:ln>
        </p:spPr>
      </p:sp>
      <p:sp>
        <p:nvSpPr>
          <p:cNvPr id="52" name="Text 49"/>
          <p:cNvSpPr txBox="1"/>
          <p:nvPr/>
        </p:nvSpPr>
        <p:spPr>
          <a:xfrm>
            <a:off x="6126480" y="3063240"/>
            <a:ext cx="1097280" cy="731520"/>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XGBoost</a:t>
            </a:r>
            <a:endParaRPr lang="en-US" sz="900" dirty="0"/>
          </a:p>
        </p:txBody>
      </p:sp>
      <p:sp>
        <p:nvSpPr>
          <p:cNvPr id="53" name="Shape 50"/>
          <p:cNvSpPr/>
          <p:nvPr/>
        </p:nvSpPr>
        <p:spPr>
          <a:xfrm>
            <a:off x="7223760" y="3429000"/>
            <a:ext cx="228600" cy="0"/>
          </a:xfrm>
          <a:prstGeom prst="line">
            <a:avLst/>
          </a:prstGeom>
          <a:noFill/>
          <a:ln w="19050">
            <a:solidFill>
              <a:srgbClr val="5B6770"/>
            </a:solidFill>
            <a:prstDash val="solid"/>
            <a:tailEnd type="triangle"/>
          </a:ln>
        </p:spPr>
      </p:sp>
      <p:sp>
        <p:nvSpPr>
          <p:cNvPr id="54" name="Shape 51"/>
          <p:cNvSpPr/>
          <p:nvPr/>
        </p:nvSpPr>
        <p:spPr>
          <a:xfrm>
            <a:off x="7452360" y="3063240"/>
            <a:ext cx="1280160" cy="731520"/>
          </a:xfrm>
          <a:prstGeom prst="rect">
            <a:avLst/>
          </a:prstGeom>
          <a:solidFill>
            <a:srgbClr val="1F3A5F"/>
          </a:solidFill>
          <a:ln w="12700">
            <a:solidFill>
              <a:srgbClr val="1F3A5F"/>
            </a:solidFill>
            <a:prstDash val="solid"/>
          </a:ln>
        </p:spPr>
      </p:sp>
      <p:sp>
        <p:nvSpPr>
          <p:cNvPr id="55" name="Text 52"/>
          <p:cNvSpPr txBox="1"/>
          <p:nvPr/>
        </p:nvSpPr>
        <p:spPr>
          <a:xfrm>
            <a:off x="7452360" y="3063240"/>
            <a:ext cx="1280160" cy="731520"/>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Final Sales Prediction</a:t>
            </a:r>
            <a:endParaRPr lang="en-US" sz="900" dirty="0"/>
          </a:p>
        </p:txBody>
      </p:sp>
      <p:sp>
        <p:nvSpPr>
          <p:cNvPr id="56" name="Shape 53"/>
          <p:cNvSpPr/>
          <p:nvPr/>
        </p:nvSpPr>
        <p:spPr>
          <a:xfrm>
            <a:off x="4617720" y="2606040"/>
            <a:ext cx="658368" cy="457200"/>
          </a:xfrm>
          <a:prstGeom prst="line">
            <a:avLst/>
          </a:prstGeom>
          <a:noFill/>
          <a:ln w="19050">
            <a:solidFill>
              <a:srgbClr val="5B6770"/>
            </a:solidFill>
            <a:prstDash val="solid"/>
            <a:tailEnd type="triangle"/>
          </a:ln>
        </p:spPr>
      </p:sp>
      <p:sp>
        <p:nvSpPr>
          <p:cNvPr id="57" name="Text 54"/>
          <p:cNvSpPr txBox="1"/>
          <p:nvPr/>
        </p:nvSpPr>
        <p:spPr>
          <a:xfrm>
            <a:off x="411480" y="3977640"/>
            <a:ext cx="8321040" cy="457200"/>
          </a:xfrm>
          <a:prstGeom prst="rect">
            <a:avLst/>
          </a:prstGeom>
          <a:noFill/>
          <a:ln/>
        </p:spPr>
        <p:txBody>
          <a:bodyPr wrap="square" lIns="0" tIns="0" rIns="0" bIns="0" rtlCol="0" anchor="ctr"/>
          <a:lstStyle/>
          <a:p>
            <a:pPr marL="0" indent="0">
              <a:buNone/>
            </a:pPr>
            <a:r>
              <a:rPr lang="en-US" sz="1000" i="1" dirty="0">
                <a:solidFill>
                  <a:srgbClr val="5B6770"/>
                </a:solidFill>
              </a:rPr>
              <a:t>The LSTM supplies a learned temporal feature. XGBoost makes the final transaction-level prediction. No alpha/gamma weighting and no residual correction.</a:t>
            </a:r>
            <a:endParaRPr lang="en-US" sz="1000" dirty="0"/>
          </a:p>
        </p:txBody>
      </p:sp>
      <p:sp>
        <p:nvSpPr>
          <p:cNvPr id="3"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Experimental Setup: Training, Testing and Validation</a:t>
            </a:r>
            <a:endParaRPr lang="en-US" sz="2200" dirty="0"/>
          </a:p>
        </p:txBody>
      </p:sp>
      <p:sp>
        <p:nvSpPr>
          <p:cNvPr id="4" name="Shape 1"/>
          <p:cNvSpPr/>
          <p:nvPr/>
        </p:nvSpPr>
        <p:spPr>
          <a:xfrm>
            <a:off x="411480" y="822960"/>
            <a:ext cx="1463040" cy="384048"/>
          </a:xfrm>
          <a:prstGeom prst="rect">
            <a:avLst/>
          </a:prstGeom>
          <a:solidFill>
            <a:srgbClr val="1F3A5F"/>
          </a:solidFill>
          <a:ln w="12700">
            <a:solidFill>
              <a:srgbClr val="1F3A5F"/>
            </a:solidFill>
            <a:prstDash val="solid"/>
          </a:ln>
        </p:spPr>
      </p:sp>
      <p:sp>
        <p:nvSpPr>
          <p:cNvPr id="5" name="Text 2"/>
          <p:cNvSpPr txBox="1"/>
          <p:nvPr/>
        </p:nvSpPr>
        <p:spPr>
          <a:xfrm>
            <a:off x="411480" y="82296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Dataset</a:t>
            </a:r>
            <a:endParaRPr lang="en-US" sz="900" dirty="0"/>
          </a:p>
        </p:txBody>
      </p:sp>
      <p:sp>
        <p:nvSpPr>
          <p:cNvPr id="6" name="Shape 3"/>
          <p:cNvSpPr/>
          <p:nvPr/>
        </p:nvSpPr>
        <p:spPr>
          <a:xfrm>
            <a:off x="1874520" y="1014984"/>
            <a:ext cx="228600" cy="0"/>
          </a:xfrm>
          <a:prstGeom prst="line">
            <a:avLst/>
          </a:prstGeom>
          <a:noFill/>
          <a:ln w="19050">
            <a:solidFill>
              <a:srgbClr val="5B6770"/>
            </a:solidFill>
            <a:prstDash val="solid"/>
            <a:tailEnd type="triangle"/>
          </a:ln>
        </p:spPr>
      </p:sp>
      <p:sp>
        <p:nvSpPr>
          <p:cNvPr id="7" name="Shape 4"/>
          <p:cNvSpPr/>
          <p:nvPr/>
        </p:nvSpPr>
        <p:spPr>
          <a:xfrm>
            <a:off x="2103120" y="822960"/>
            <a:ext cx="1463040" cy="384048"/>
          </a:xfrm>
          <a:prstGeom prst="rect">
            <a:avLst/>
          </a:prstGeom>
          <a:solidFill>
            <a:srgbClr val="1F3A5F"/>
          </a:solidFill>
          <a:ln w="12700">
            <a:solidFill>
              <a:srgbClr val="1F3A5F"/>
            </a:solidFill>
            <a:prstDash val="solid"/>
          </a:ln>
        </p:spPr>
      </p:sp>
      <p:sp>
        <p:nvSpPr>
          <p:cNvPr id="8" name="Text 5"/>
          <p:cNvSpPr txBox="1"/>
          <p:nvPr/>
        </p:nvSpPr>
        <p:spPr>
          <a:xfrm>
            <a:off x="2103120" y="82296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Preprocessing</a:t>
            </a:r>
            <a:endParaRPr lang="en-US" sz="900" dirty="0"/>
          </a:p>
        </p:txBody>
      </p:sp>
      <p:sp>
        <p:nvSpPr>
          <p:cNvPr id="9" name="Shape 6"/>
          <p:cNvSpPr/>
          <p:nvPr/>
        </p:nvSpPr>
        <p:spPr>
          <a:xfrm>
            <a:off x="3566160" y="1014984"/>
            <a:ext cx="228600" cy="0"/>
          </a:xfrm>
          <a:prstGeom prst="line">
            <a:avLst/>
          </a:prstGeom>
          <a:noFill/>
          <a:ln w="19050">
            <a:solidFill>
              <a:srgbClr val="5B6770"/>
            </a:solidFill>
            <a:prstDash val="solid"/>
            <a:tailEnd type="triangle"/>
          </a:ln>
        </p:spPr>
      </p:sp>
      <p:sp>
        <p:nvSpPr>
          <p:cNvPr id="10" name="Shape 7"/>
          <p:cNvSpPr/>
          <p:nvPr/>
        </p:nvSpPr>
        <p:spPr>
          <a:xfrm>
            <a:off x="3794760" y="822960"/>
            <a:ext cx="1463040" cy="384048"/>
          </a:xfrm>
          <a:prstGeom prst="rect">
            <a:avLst/>
          </a:prstGeom>
          <a:solidFill>
            <a:srgbClr val="1F3A5F"/>
          </a:solidFill>
          <a:ln w="12700">
            <a:solidFill>
              <a:srgbClr val="1F3A5F"/>
            </a:solidFill>
            <a:prstDash val="solid"/>
          </a:ln>
        </p:spPr>
      </p:sp>
      <p:sp>
        <p:nvSpPr>
          <p:cNvPr id="11" name="Text 8"/>
          <p:cNvSpPr txBox="1"/>
          <p:nvPr/>
        </p:nvSpPr>
        <p:spPr>
          <a:xfrm>
            <a:off x="3794760" y="82296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Feature Eng.</a:t>
            </a:r>
            <a:endParaRPr lang="en-US" sz="900" dirty="0"/>
          </a:p>
        </p:txBody>
      </p:sp>
      <p:sp>
        <p:nvSpPr>
          <p:cNvPr id="12" name="Shape 9"/>
          <p:cNvSpPr/>
          <p:nvPr/>
        </p:nvSpPr>
        <p:spPr>
          <a:xfrm>
            <a:off x="5257800" y="1014984"/>
            <a:ext cx="228600" cy="0"/>
          </a:xfrm>
          <a:prstGeom prst="line">
            <a:avLst/>
          </a:prstGeom>
          <a:noFill/>
          <a:ln w="19050">
            <a:solidFill>
              <a:srgbClr val="5B6770"/>
            </a:solidFill>
            <a:prstDash val="solid"/>
            <a:tailEnd type="triangle"/>
          </a:ln>
        </p:spPr>
      </p:sp>
      <p:sp>
        <p:nvSpPr>
          <p:cNvPr id="13" name="Shape 10"/>
          <p:cNvSpPr/>
          <p:nvPr/>
        </p:nvSpPr>
        <p:spPr>
          <a:xfrm>
            <a:off x="5486400" y="822960"/>
            <a:ext cx="1463040" cy="384048"/>
          </a:xfrm>
          <a:prstGeom prst="rect">
            <a:avLst/>
          </a:prstGeom>
          <a:solidFill>
            <a:srgbClr val="1F3A5F"/>
          </a:solidFill>
          <a:ln w="12700">
            <a:solidFill>
              <a:srgbClr val="1F3A5F"/>
            </a:solidFill>
            <a:prstDash val="solid"/>
          </a:ln>
        </p:spPr>
      </p:sp>
      <p:sp>
        <p:nvSpPr>
          <p:cNvPr id="14" name="Text 11"/>
          <p:cNvSpPr txBox="1"/>
          <p:nvPr/>
        </p:nvSpPr>
        <p:spPr>
          <a:xfrm>
            <a:off x="5486400" y="82296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Feature Selection</a:t>
            </a:r>
            <a:endParaRPr lang="en-US" sz="900" dirty="0"/>
          </a:p>
        </p:txBody>
      </p:sp>
      <p:sp>
        <p:nvSpPr>
          <p:cNvPr id="15" name="Shape 12"/>
          <p:cNvSpPr/>
          <p:nvPr/>
        </p:nvSpPr>
        <p:spPr>
          <a:xfrm>
            <a:off x="6949440" y="1014984"/>
            <a:ext cx="228600" cy="0"/>
          </a:xfrm>
          <a:prstGeom prst="line">
            <a:avLst/>
          </a:prstGeom>
          <a:noFill/>
          <a:ln w="19050">
            <a:solidFill>
              <a:srgbClr val="5B6770"/>
            </a:solidFill>
            <a:prstDash val="solid"/>
            <a:tailEnd type="triangle"/>
          </a:ln>
        </p:spPr>
      </p:sp>
      <p:sp>
        <p:nvSpPr>
          <p:cNvPr id="16" name="Shape 13"/>
          <p:cNvSpPr/>
          <p:nvPr/>
        </p:nvSpPr>
        <p:spPr>
          <a:xfrm>
            <a:off x="7178040" y="822960"/>
            <a:ext cx="1463040" cy="384048"/>
          </a:xfrm>
          <a:prstGeom prst="rect">
            <a:avLst/>
          </a:prstGeom>
          <a:solidFill>
            <a:srgbClr val="1F3A5F"/>
          </a:solidFill>
          <a:ln w="12700">
            <a:solidFill>
              <a:srgbClr val="1F3A5F"/>
            </a:solidFill>
            <a:prstDash val="solid"/>
          </a:ln>
        </p:spPr>
      </p:sp>
      <p:sp>
        <p:nvSpPr>
          <p:cNvPr id="17" name="Text 14"/>
          <p:cNvSpPr txBox="1"/>
          <p:nvPr/>
        </p:nvSpPr>
        <p:spPr>
          <a:xfrm>
            <a:off x="7178040" y="82296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80/20 temporal split</a:t>
            </a:r>
            <a:endParaRPr lang="en-US" sz="900" dirty="0"/>
          </a:p>
        </p:txBody>
      </p:sp>
      <p:sp>
        <p:nvSpPr>
          <p:cNvPr id="18" name="Shape 15"/>
          <p:cNvSpPr/>
          <p:nvPr/>
        </p:nvSpPr>
        <p:spPr>
          <a:xfrm>
            <a:off x="411480" y="1371600"/>
            <a:ext cx="1463040" cy="384048"/>
          </a:xfrm>
          <a:prstGeom prst="rect">
            <a:avLst/>
          </a:prstGeom>
          <a:solidFill>
            <a:srgbClr val="2E6FBA"/>
          </a:solidFill>
          <a:ln w="12700">
            <a:solidFill>
              <a:srgbClr val="2E6FBA"/>
            </a:solidFill>
            <a:prstDash val="solid"/>
          </a:ln>
        </p:spPr>
      </p:sp>
      <p:sp>
        <p:nvSpPr>
          <p:cNvPr id="19" name="Text 16"/>
          <p:cNvSpPr txBox="1"/>
          <p:nvPr/>
        </p:nvSpPr>
        <p:spPr>
          <a:xfrm>
            <a:off x="411480" y="137160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Baseline ML</a:t>
            </a:r>
            <a:endParaRPr lang="en-US" sz="900" dirty="0"/>
          </a:p>
        </p:txBody>
      </p:sp>
      <p:sp>
        <p:nvSpPr>
          <p:cNvPr id="20" name="Shape 17"/>
          <p:cNvSpPr/>
          <p:nvPr/>
        </p:nvSpPr>
        <p:spPr>
          <a:xfrm>
            <a:off x="1874520" y="1563624"/>
            <a:ext cx="228600" cy="0"/>
          </a:xfrm>
          <a:prstGeom prst="line">
            <a:avLst/>
          </a:prstGeom>
          <a:noFill/>
          <a:ln w="19050">
            <a:solidFill>
              <a:srgbClr val="5B6770"/>
            </a:solidFill>
            <a:prstDash val="solid"/>
            <a:tailEnd type="triangle"/>
          </a:ln>
        </p:spPr>
      </p:sp>
      <p:sp>
        <p:nvSpPr>
          <p:cNvPr id="21" name="Shape 18"/>
          <p:cNvSpPr/>
          <p:nvPr/>
        </p:nvSpPr>
        <p:spPr>
          <a:xfrm>
            <a:off x="2103120" y="1371600"/>
            <a:ext cx="1463040" cy="384048"/>
          </a:xfrm>
          <a:prstGeom prst="rect">
            <a:avLst/>
          </a:prstGeom>
          <a:solidFill>
            <a:srgbClr val="2E6FBA"/>
          </a:solidFill>
          <a:ln w="12700">
            <a:solidFill>
              <a:srgbClr val="2E6FBA"/>
            </a:solidFill>
            <a:prstDash val="solid"/>
          </a:ln>
        </p:spPr>
      </p:sp>
      <p:sp>
        <p:nvSpPr>
          <p:cNvPr id="22" name="Text 19"/>
          <p:cNvSpPr txBox="1"/>
          <p:nvPr/>
        </p:nvSpPr>
        <p:spPr>
          <a:xfrm>
            <a:off x="2103120" y="137160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LSTM / GRU</a:t>
            </a:r>
            <a:endParaRPr lang="en-US" sz="900" dirty="0"/>
          </a:p>
        </p:txBody>
      </p:sp>
      <p:sp>
        <p:nvSpPr>
          <p:cNvPr id="23" name="Shape 20"/>
          <p:cNvSpPr/>
          <p:nvPr/>
        </p:nvSpPr>
        <p:spPr>
          <a:xfrm>
            <a:off x="3566160" y="1563624"/>
            <a:ext cx="228600" cy="0"/>
          </a:xfrm>
          <a:prstGeom prst="line">
            <a:avLst/>
          </a:prstGeom>
          <a:noFill/>
          <a:ln w="19050">
            <a:solidFill>
              <a:srgbClr val="5B6770"/>
            </a:solidFill>
            <a:prstDash val="solid"/>
            <a:tailEnd type="triangle"/>
          </a:ln>
        </p:spPr>
      </p:sp>
      <p:sp>
        <p:nvSpPr>
          <p:cNvPr id="24" name="Shape 21"/>
          <p:cNvSpPr/>
          <p:nvPr/>
        </p:nvSpPr>
        <p:spPr>
          <a:xfrm>
            <a:off x="3794760" y="1371600"/>
            <a:ext cx="1463040" cy="384048"/>
          </a:xfrm>
          <a:prstGeom prst="rect">
            <a:avLst/>
          </a:prstGeom>
          <a:solidFill>
            <a:srgbClr val="2E6FBA"/>
          </a:solidFill>
          <a:ln w="12700">
            <a:solidFill>
              <a:srgbClr val="2E6FBA"/>
            </a:solidFill>
            <a:prstDash val="solid"/>
          </a:ln>
        </p:spPr>
      </p:sp>
      <p:sp>
        <p:nvSpPr>
          <p:cNvPr id="25" name="Text 22"/>
          <p:cNvSpPr txBox="1"/>
          <p:nvPr/>
        </p:nvSpPr>
        <p:spPr>
          <a:xfrm>
            <a:off x="3794760" y="137160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Four hybrids</a:t>
            </a:r>
            <a:endParaRPr lang="en-US" sz="900" dirty="0"/>
          </a:p>
        </p:txBody>
      </p:sp>
      <p:sp>
        <p:nvSpPr>
          <p:cNvPr id="26" name="Shape 23"/>
          <p:cNvSpPr/>
          <p:nvPr/>
        </p:nvSpPr>
        <p:spPr>
          <a:xfrm>
            <a:off x="5257800" y="1563624"/>
            <a:ext cx="228600" cy="0"/>
          </a:xfrm>
          <a:prstGeom prst="line">
            <a:avLst/>
          </a:prstGeom>
          <a:noFill/>
          <a:ln w="19050">
            <a:solidFill>
              <a:srgbClr val="5B6770"/>
            </a:solidFill>
            <a:prstDash val="solid"/>
            <a:tailEnd type="triangle"/>
          </a:ln>
        </p:spPr>
      </p:sp>
      <p:sp>
        <p:nvSpPr>
          <p:cNvPr id="27" name="Shape 24"/>
          <p:cNvSpPr/>
          <p:nvPr/>
        </p:nvSpPr>
        <p:spPr>
          <a:xfrm>
            <a:off x="5486400" y="1371600"/>
            <a:ext cx="1463040" cy="384048"/>
          </a:xfrm>
          <a:prstGeom prst="rect">
            <a:avLst/>
          </a:prstGeom>
          <a:solidFill>
            <a:srgbClr val="2E6FBA"/>
          </a:solidFill>
          <a:ln w="12700">
            <a:solidFill>
              <a:srgbClr val="2E6FBA"/>
            </a:solidFill>
            <a:prstDash val="solid"/>
          </a:ln>
        </p:spPr>
      </p:sp>
      <p:sp>
        <p:nvSpPr>
          <p:cNvPr id="28" name="Text 25"/>
          <p:cNvSpPr txBox="1"/>
          <p:nvPr/>
        </p:nvSpPr>
        <p:spPr>
          <a:xfrm>
            <a:off x="5486400" y="137160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Evaluation</a:t>
            </a:r>
            <a:endParaRPr lang="en-US" sz="900" dirty="0"/>
          </a:p>
        </p:txBody>
      </p:sp>
      <p:sp>
        <p:nvSpPr>
          <p:cNvPr id="29" name="Shape 26"/>
          <p:cNvSpPr/>
          <p:nvPr/>
        </p:nvSpPr>
        <p:spPr>
          <a:xfrm>
            <a:off x="6949440" y="1563624"/>
            <a:ext cx="228600" cy="0"/>
          </a:xfrm>
          <a:prstGeom prst="line">
            <a:avLst/>
          </a:prstGeom>
          <a:noFill/>
          <a:ln w="19050">
            <a:solidFill>
              <a:srgbClr val="5B6770"/>
            </a:solidFill>
            <a:prstDash val="solid"/>
            <a:tailEnd type="triangle"/>
          </a:ln>
        </p:spPr>
      </p:sp>
      <p:sp>
        <p:nvSpPr>
          <p:cNvPr id="30" name="Shape 27"/>
          <p:cNvSpPr/>
          <p:nvPr/>
        </p:nvSpPr>
        <p:spPr>
          <a:xfrm>
            <a:off x="7178040" y="1371600"/>
            <a:ext cx="1463040" cy="384048"/>
          </a:xfrm>
          <a:prstGeom prst="rect">
            <a:avLst/>
          </a:prstGeom>
          <a:solidFill>
            <a:srgbClr val="D9822B"/>
          </a:solidFill>
          <a:ln w="12700">
            <a:solidFill>
              <a:srgbClr val="D9822B"/>
            </a:solidFill>
            <a:prstDash val="solid"/>
          </a:ln>
        </p:spPr>
      </p:sp>
      <p:sp>
        <p:nvSpPr>
          <p:cNvPr id="31" name="Text 28"/>
          <p:cNvSpPr txBox="1"/>
          <p:nvPr/>
        </p:nvSpPr>
        <p:spPr>
          <a:xfrm>
            <a:off x="7178040" y="1371600"/>
            <a:ext cx="1463040" cy="384048"/>
          </a:xfrm>
          <a:prstGeom prst="rect">
            <a:avLst/>
          </a:prstGeom>
          <a:noFill/>
          <a:ln/>
        </p:spPr>
        <p:txBody>
          <a:bodyPr wrap="square" lIns="25400" tIns="25400" rIns="25400" bIns="25400" rtlCol="0" anchor="ctr"/>
          <a:lstStyle/>
          <a:p>
            <a:pPr marL="0" indent="0" algn="ctr">
              <a:buNone/>
            </a:pPr>
            <a:r>
              <a:rPr lang="en-US" sz="900" b="1" dirty="0">
                <a:solidFill>
                  <a:srgbClr val="FFFFFF"/>
                </a:solidFill>
              </a:rPr>
              <a:t>Select proposed</a:t>
            </a:r>
            <a:endParaRPr lang="en-US" sz="900" dirty="0"/>
          </a:p>
        </p:txBody>
      </p:sp>
      <p:sp>
        <p:nvSpPr>
          <p:cNvPr id="32" name="Shape 29"/>
          <p:cNvSpPr/>
          <p:nvPr/>
        </p:nvSpPr>
        <p:spPr>
          <a:xfrm>
            <a:off x="7909560" y="1207008"/>
            <a:ext cx="0" cy="164592"/>
          </a:xfrm>
          <a:prstGeom prst="line">
            <a:avLst/>
          </a:prstGeom>
          <a:noFill/>
          <a:ln w="19050">
            <a:solidFill>
              <a:srgbClr val="5B6770"/>
            </a:solidFill>
            <a:prstDash val="solid"/>
            <a:tailEnd type="triangle"/>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2011680"/>
          <a:ext cx="5120640" cy="1917192"/>
        </p:xfrm>
        <a:graphic>
          <a:graphicData uri="http://schemas.openxmlformats.org/drawingml/2006/table">
            <a:tbl>
              <a:tblPr/>
              <a:tblGrid>
                <a:gridCol w="17373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Monthly observations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48 (2011-01 to 2014-12)</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Train / test months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38 / 10 (test from 2014-03-01)</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Transaction rows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Train 35,433 | Test 15,857</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Recurrent lookback</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6 months</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DL validation</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Last 20% of training sequences; early stopping (patience 15)</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100" b="1" dirty="0">
                          <a:solidFill>
                            <a:srgbClr val="1B2430"/>
                          </a:solidFill>
                          <a:latin typeface="Calibri" pitchFamily="34" charset="0"/>
                          <a:ea typeface="Calibri" pitchFamily="34" charset="-122"/>
                          <a:cs typeface="Calibri" pitchFamily="34" charset="-120"/>
                        </a:rPr>
                        <a:t>ML tuning / CV</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00" dirty="0">
                          <a:solidFill>
                            <a:srgbClr val="1B2430"/>
                          </a:solidFill>
                          <a:latin typeface="Calibri" pitchFamily="34" charset="0"/>
                          <a:ea typeface="Calibri" pitchFamily="34" charset="-122"/>
                          <a:cs typeface="Calibri" pitchFamily="34" charset="-120"/>
                        </a:rPr>
                        <a:t>Fixed hyperparameters; no cross-validation</a:t>
                      </a:r>
                      <a:endParaRPr lang="en-US" sz="110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bl>
          </a:graphicData>
        </a:graphic>
      </p:graphicFrame>
      <p:sp>
        <p:nvSpPr>
          <p:cNvPr id="34" name="Shape 30"/>
          <p:cNvSpPr/>
          <p:nvPr/>
        </p:nvSpPr>
        <p:spPr>
          <a:xfrm>
            <a:off x="5715000" y="2011680"/>
            <a:ext cx="3017520" cy="1463040"/>
          </a:xfrm>
          <a:prstGeom prst="rect">
            <a:avLst/>
          </a:prstGeom>
          <a:solidFill>
            <a:srgbClr val="FFFFFF"/>
          </a:solidFill>
          <a:ln w="9525">
            <a:solidFill>
              <a:srgbClr val="D5DBE1"/>
            </a:solidFill>
            <a:prstDash val="solid"/>
          </a:ln>
        </p:spPr>
      </p:sp>
      <p:sp>
        <p:nvSpPr>
          <p:cNvPr id="35" name="Shape 31"/>
          <p:cNvSpPr/>
          <p:nvPr/>
        </p:nvSpPr>
        <p:spPr>
          <a:xfrm>
            <a:off x="5715000" y="2011680"/>
            <a:ext cx="64008" cy="1463040"/>
          </a:xfrm>
          <a:prstGeom prst="rect">
            <a:avLst/>
          </a:prstGeom>
          <a:solidFill>
            <a:srgbClr val="D9822B"/>
          </a:solidFill>
          <a:ln w="12700">
            <a:solidFill>
              <a:srgbClr val="D9822B"/>
            </a:solidFill>
            <a:prstDash val="solid"/>
          </a:ln>
        </p:spPr>
      </p:sp>
      <p:sp>
        <p:nvSpPr>
          <p:cNvPr id="36" name="Text 32"/>
          <p:cNvSpPr txBox="1"/>
          <p:nvPr/>
        </p:nvSpPr>
        <p:spPr>
          <a:xfrm>
            <a:off x="5870448" y="2066544"/>
            <a:ext cx="2788920" cy="256032"/>
          </a:xfrm>
          <a:prstGeom prst="rect">
            <a:avLst/>
          </a:prstGeom>
          <a:noFill/>
          <a:ln/>
        </p:spPr>
        <p:txBody>
          <a:bodyPr wrap="square" lIns="0" tIns="0" rIns="0" bIns="0" rtlCol="0" anchor="ctr"/>
          <a:lstStyle/>
          <a:p>
            <a:pPr marL="0" indent="0">
              <a:buNone/>
            </a:pPr>
            <a:r>
              <a:rPr lang="en-US" sz="1150" b="1" dirty="0">
                <a:solidFill>
                  <a:srgbClr val="D9822B"/>
                </a:solidFill>
              </a:rPr>
              <a:t>Leakage controls</a:t>
            </a:r>
            <a:endParaRPr lang="en-US" sz="1150" dirty="0"/>
          </a:p>
        </p:txBody>
      </p:sp>
      <p:sp>
        <p:nvSpPr>
          <p:cNvPr id="37" name="Text 33"/>
          <p:cNvSpPr txBox="1"/>
          <p:nvPr/>
        </p:nvSpPr>
        <p:spPr>
          <a:xfrm>
            <a:off x="5870448" y="2359152"/>
            <a:ext cx="2761488" cy="1060704"/>
          </a:xfrm>
          <a:prstGeom prst="rect">
            <a:avLst/>
          </a:prstGeom>
          <a:noFill/>
          <a:ln/>
        </p:spPr>
        <p:txBody>
          <a:bodyPr wrap="square" lIns="0" tIns="0" rIns="0" bIns="0" rtlCol="0" anchor="t"/>
          <a:lstStyle/>
          <a:p>
            <a:pPr marL="0" indent="0">
              <a:buNone/>
            </a:pPr>
            <a:r>
              <a:rPr lang="en-US" sz="1121" dirty="0">
                <a:solidFill>
                  <a:srgbClr val="1B2430"/>
                </a:solidFill>
              </a:rPr>
              <a:t>Sales-derived features excluded; chronological split; scalers fitted on training months only; temporal feature uses past months only. Residual risk: Shipping Cost.</a:t>
            </a:r>
            <a:endParaRPr lang="en-US" sz="1121" dirty="0"/>
          </a:p>
        </p:txBody>
      </p:sp>
      <p:sp>
        <p:nvSpPr>
          <p:cNvPr id="38" name="Shape 34"/>
          <p:cNvSpPr/>
          <p:nvPr/>
        </p:nvSpPr>
        <p:spPr>
          <a:xfrm>
            <a:off x="5715000" y="3566160"/>
            <a:ext cx="3017520" cy="868680"/>
          </a:xfrm>
          <a:prstGeom prst="rect">
            <a:avLst/>
          </a:prstGeom>
          <a:solidFill>
            <a:srgbClr val="FFFFFF"/>
          </a:solidFill>
          <a:ln w="9525">
            <a:solidFill>
              <a:srgbClr val="D5DBE1"/>
            </a:solidFill>
            <a:prstDash val="solid"/>
          </a:ln>
        </p:spPr>
      </p:sp>
      <p:sp>
        <p:nvSpPr>
          <p:cNvPr id="39" name="Shape 35"/>
          <p:cNvSpPr/>
          <p:nvPr/>
        </p:nvSpPr>
        <p:spPr>
          <a:xfrm>
            <a:off x="5715000" y="3566160"/>
            <a:ext cx="64008" cy="868680"/>
          </a:xfrm>
          <a:prstGeom prst="rect">
            <a:avLst/>
          </a:prstGeom>
          <a:solidFill>
            <a:srgbClr val="2E6FBA"/>
          </a:solidFill>
          <a:ln w="12700">
            <a:solidFill>
              <a:srgbClr val="2E6FBA"/>
            </a:solidFill>
            <a:prstDash val="solid"/>
          </a:ln>
        </p:spPr>
      </p:sp>
      <p:sp>
        <p:nvSpPr>
          <p:cNvPr id="40" name="Text 36"/>
          <p:cNvSpPr txBox="1"/>
          <p:nvPr/>
        </p:nvSpPr>
        <p:spPr>
          <a:xfrm>
            <a:off x="5870448" y="3621024"/>
            <a:ext cx="2788920" cy="256032"/>
          </a:xfrm>
          <a:prstGeom prst="rect">
            <a:avLst/>
          </a:prstGeom>
          <a:noFill/>
          <a:ln/>
        </p:spPr>
        <p:txBody>
          <a:bodyPr wrap="square" lIns="0" tIns="0" rIns="0" bIns="0" rtlCol="0" anchor="ctr"/>
          <a:lstStyle/>
          <a:p>
            <a:pPr marL="0" indent="0">
              <a:buNone/>
            </a:pPr>
            <a:r>
              <a:rPr lang="en-US" sz="1150" b="1" dirty="0">
                <a:solidFill>
                  <a:srgbClr val="2E6FBA"/>
                </a:solidFill>
              </a:rPr>
              <a:t>Evaluation levels</a:t>
            </a:r>
            <a:endParaRPr lang="en-US" sz="1150" dirty="0"/>
          </a:p>
        </p:txBody>
      </p:sp>
      <p:sp>
        <p:nvSpPr>
          <p:cNvPr id="41" name="Text 37"/>
          <p:cNvSpPr txBox="1"/>
          <p:nvPr/>
        </p:nvSpPr>
        <p:spPr>
          <a:xfrm>
            <a:off x="5870448" y="3913632"/>
            <a:ext cx="2761488" cy="466344"/>
          </a:xfrm>
          <a:prstGeom prst="rect">
            <a:avLst/>
          </a:prstGeom>
          <a:noFill/>
          <a:ln/>
        </p:spPr>
        <p:txBody>
          <a:bodyPr wrap="square" lIns="0" tIns="0" rIns="0" bIns="0" rtlCol="0" anchor="t"/>
          <a:lstStyle/>
          <a:p>
            <a:pPr marL="0" indent="0">
              <a:buNone/>
            </a:pPr>
            <a:r>
              <a:rPr lang="en-US" sz="1121" dirty="0">
                <a:solidFill>
                  <a:srgbClr val="1B2430"/>
                </a:solidFill>
              </a:rPr>
              <a:t>LSTM/GRU: monthly totals (10 points). ML and hybrids: 15,857 transactions.</a:t>
            </a:r>
            <a:endParaRPr lang="en-US" sz="1121" dirty="0"/>
          </a:p>
        </p:txBody>
      </p:sp>
      <p:sp>
        <p:nvSpPr>
          <p:cNvPr id="33"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Evaluation Metrics</a:t>
            </a:r>
            <a:endParaRPr lang="en-US" sz="2200" dirty="0"/>
          </a:p>
        </p:txBody>
      </p:sp>
      <p:sp>
        <p:nvSpPr>
          <p:cNvPr id="5" name="Text 1"/>
          <p:cNvSpPr txBox="1"/>
          <p:nvPr/>
        </p:nvSpPr>
        <p:spPr>
          <a:xfrm>
            <a:off x="411480" y="4160520"/>
            <a:ext cx="8321040" cy="384048"/>
          </a:xfrm>
          <a:prstGeom prst="rect">
            <a:avLst/>
          </a:prstGeom>
          <a:noFill/>
          <a:ln/>
        </p:spPr>
        <p:txBody>
          <a:bodyPr wrap="square" lIns="0" tIns="0" rIns="0" bIns="0" rtlCol="0" anchor="t"/>
          <a:lstStyle/>
          <a:p>
            <a:pPr marL="0" indent="0">
              <a:buNone/>
            </a:pP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22</a:t>
            </a:fld>
            <a:endParaRPr lang="en-US"/>
          </a:p>
        </p:txBody>
      </p:sp>
      <p:pic>
        <p:nvPicPr>
          <p:cNvPr id="4" name="Picture 3">
            <a:extLst>
              <a:ext uri="{FF2B5EF4-FFF2-40B4-BE49-F238E27FC236}">
                <a16:creationId xmlns:a16="http://schemas.microsoft.com/office/drawing/2014/main" id="{C96B2A3D-E4C2-6F53-904C-C2499C496278}"/>
              </a:ext>
            </a:extLst>
          </p:cNvPr>
          <p:cNvPicPr>
            <a:picLocks noChangeAspect="1"/>
          </p:cNvPicPr>
          <p:nvPr/>
        </p:nvPicPr>
        <p:blipFill>
          <a:blip r:embed="rId3"/>
          <a:stretch>
            <a:fillRect/>
          </a:stretch>
        </p:blipFill>
        <p:spPr>
          <a:xfrm>
            <a:off x="1433074" y="606908"/>
            <a:ext cx="5927521" cy="359592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Overall Model Comparison</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11480" y="777240"/>
          <a:ext cx="8321040" cy="2648712"/>
        </p:xfrm>
        <a:graphic>
          <a:graphicData uri="http://schemas.openxmlformats.org/drawingml/2006/table">
            <a:tbl>
              <a:tblPr/>
              <a:tblGrid>
                <a:gridCol w="2240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tblGrid>
              <a:tr h="0">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Model</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040" b="1" dirty="0">
                          <a:solidFill>
                            <a:srgbClr val="FFFFFF"/>
                          </a:solidFill>
                          <a:latin typeface="Calibri" pitchFamily="34" charset="0"/>
                          <a:ea typeface="Calibri" pitchFamily="34" charset="-122"/>
                          <a:cs typeface="Calibri" pitchFamily="34" charset="-120"/>
                        </a:rPr>
                        <a:t>Type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040" b="1" dirty="0">
                          <a:solidFill>
                            <a:srgbClr val="FFFFFF"/>
                          </a:solidFill>
                          <a:latin typeface="Calibri" pitchFamily="34" charset="0"/>
                          <a:ea typeface="Calibri" pitchFamily="34" charset="-122"/>
                          <a:cs typeface="Calibri" pitchFamily="34" charset="-120"/>
                        </a:rPr>
                        <a:t>MAE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040" b="1" dirty="0">
                          <a:solidFill>
                            <a:srgbClr val="FFFFFF"/>
                          </a:solidFill>
                          <a:latin typeface="Calibri" pitchFamily="34" charset="0"/>
                          <a:ea typeface="Calibri" pitchFamily="34" charset="-122"/>
                          <a:cs typeface="Calibri" pitchFamily="34" charset="-120"/>
                        </a:rPr>
                        <a:t>RMSE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040" b="1" dirty="0">
                          <a:solidFill>
                            <a:srgbClr val="FFFFFF"/>
                          </a:solidFill>
                          <a:latin typeface="Calibri" pitchFamily="34" charset="0"/>
                          <a:ea typeface="Calibri" pitchFamily="34" charset="-122"/>
                          <a:cs typeface="Calibri" pitchFamily="34" charset="-120"/>
                        </a:rPr>
                        <a:t>R2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040" b="1" dirty="0">
                          <a:solidFill>
                            <a:srgbClr val="FFFFFF"/>
                          </a:solidFill>
                          <a:latin typeface="Calibri" pitchFamily="34" charset="0"/>
                          <a:ea typeface="Calibri" pitchFamily="34" charset="-122"/>
                          <a:cs typeface="Calibri" pitchFamily="34" charset="-120"/>
                        </a:rPr>
                        <a:t>MAPE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040" b="1" dirty="0">
                          <a:solidFill>
                            <a:srgbClr val="FFFFFF"/>
                          </a:solidFill>
                          <a:latin typeface="Calibri" pitchFamily="34" charset="0"/>
                          <a:ea typeface="Calibri" pitchFamily="34" charset="-122"/>
                          <a:cs typeface="Calibri" pitchFamily="34" charset="-120"/>
                        </a:rPr>
                        <a:t>SMAPE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Linear Regression</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ML baseline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79.1779</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107.6767</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0.6775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172.7254%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72.052%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Decision Tree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ML baseline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37.4702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70.1490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0.8631</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42.6841%</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32.7357%</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Random Forest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ML baseline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34.3455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62.7473</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0.8905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37.5721%</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30.1128%</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XGBoost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Advanced ML baseline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32.7594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56.9780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0.9097</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34.8814%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28.2216%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LSTM (monthly)</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DL baseline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118,472.4375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140,921.642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-2.4935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38.5664%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50.9176%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GRU (monthly)</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DL baseline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123,005.6875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147,867.8346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-2.8464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39.7416%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53.4625%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LSTM + XGBoost (TATFF-XGBLSTM)</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040" b="1" dirty="0">
                          <a:solidFill>
                            <a:srgbClr val="1B2430"/>
                          </a:solidFill>
                          <a:latin typeface="Calibri" pitchFamily="34" charset="0"/>
                          <a:ea typeface="Calibri" pitchFamily="34" charset="-122"/>
                          <a:cs typeface="Calibri" pitchFamily="34" charset="-120"/>
                        </a:rPr>
                        <a:t>Hybrid (proposed)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040" b="1" dirty="0">
                          <a:solidFill>
                            <a:srgbClr val="1B2430"/>
                          </a:solidFill>
                          <a:latin typeface="Calibri" pitchFamily="34" charset="0"/>
                          <a:ea typeface="Calibri" pitchFamily="34" charset="-122"/>
                          <a:cs typeface="Calibri" pitchFamily="34" charset="-120"/>
                        </a:rPr>
                        <a:t>32.6901</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040" b="1" dirty="0">
                          <a:solidFill>
                            <a:srgbClr val="1B2430"/>
                          </a:solidFill>
                          <a:latin typeface="Calibri" pitchFamily="34" charset="0"/>
                          <a:ea typeface="Calibri" pitchFamily="34" charset="-122"/>
                          <a:cs typeface="Calibri" pitchFamily="34" charset="-120"/>
                        </a:rPr>
                        <a:t>56.8745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040" b="1" dirty="0">
                          <a:solidFill>
                            <a:srgbClr val="1B2430"/>
                          </a:solidFill>
                          <a:latin typeface="Calibri" pitchFamily="34" charset="0"/>
                          <a:ea typeface="Calibri" pitchFamily="34" charset="-122"/>
                          <a:cs typeface="Calibri" pitchFamily="34" charset="-120"/>
                        </a:rPr>
                        <a:t>0.9100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040" b="1" dirty="0">
                          <a:solidFill>
                            <a:srgbClr val="1B2430"/>
                          </a:solidFill>
                          <a:latin typeface="Calibri" pitchFamily="34" charset="0"/>
                          <a:ea typeface="Calibri" pitchFamily="34" charset="-122"/>
                          <a:cs typeface="Calibri" pitchFamily="34" charset="-120"/>
                        </a:rPr>
                        <a:t>34.5552%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ctr">
                        <a:buNone/>
                      </a:pPr>
                      <a:r>
                        <a:rPr lang="en-US" sz="1040" b="1" dirty="0">
                          <a:solidFill>
                            <a:srgbClr val="1B2430"/>
                          </a:solidFill>
                          <a:latin typeface="Calibri" pitchFamily="34" charset="0"/>
                          <a:ea typeface="Calibri" pitchFamily="34" charset="-122"/>
                          <a:cs typeface="Calibri" pitchFamily="34" charset="-120"/>
                        </a:rPr>
                        <a:t>28.1627%</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extLst>
                  <a:ext uri="{0D108BD9-81ED-4DB2-BD59-A6C34878D82A}">
                    <a16:rowId xmlns:a16="http://schemas.microsoft.com/office/drawing/2014/main" val="10007"/>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LSTM + Random Forest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Hybrid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34.3814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62.8066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0.8903</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37.6309%</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30.1140%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8"/>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GRU + XGBoost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Hybrid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32.7027</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56.8930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0.9100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34.4159%</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28.1024%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GRU + Random Forest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Hybrid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34.3701</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62.7778</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0.8904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37.6611%</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040" dirty="0">
                          <a:solidFill>
                            <a:srgbClr val="1B2430"/>
                          </a:solidFill>
                          <a:latin typeface="Calibri" pitchFamily="34" charset="0"/>
                          <a:ea typeface="Calibri" pitchFamily="34" charset="-122"/>
                          <a:cs typeface="Calibri" pitchFamily="34" charset="-120"/>
                        </a:rPr>
                        <a:t>30.1156%</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10"/>
                  </a:ext>
                </a:extLst>
              </a:tr>
            </a:tbl>
          </a:graphicData>
        </a:graphic>
      </p:graphicFrame>
      <p:sp>
        <p:nvSpPr>
          <p:cNvPr id="5" name="Text 1"/>
          <p:cNvSpPr txBox="1"/>
          <p:nvPr/>
        </p:nvSpPr>
        <p:spPr>
          <a:xfrm>
            <a:off x="411480" y="4023360"/>
            <a:ext cx="8321040" cy="384048"/>
          </a:xfrm>
          <a:prstGeom prst="rect">
            <a:avLst/>
          </a:prstGeom>
          <a:noFill/>
          <a:ln/>
        </p:spPr>
        <p:txBody>
          <a:bodyPr wrap="square" lIns="0" tIns="0" rIns="0" bIns="0" rtlCol="0" anchor="t"/>
          <a:lstStyle/>
          <a:p>
            <a:pPr marL="0" indent="0">
              <a:buNone/>
            </a:pPr>
            <a:r>
              <a:rPr lang="en-US" sz="950" i="1" dirty="0">
                <a:solidFill>
                  <a:srgbClr val="5B6770"/>
                </a:solidFill>
              </a:rPr>
              <a:t>LSTM and GRU are evaluated on 10 monthly totals; all other models on 15,857 test transactions. Compare MAE/RMSE only within the transaction-level group.</a:t>
            </a: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Model Comparison Charts and Rankings</a:t>
            </a:r>
            <a:endParaRPr lang="en-US" sz="2200" dirty="0"/>
          </a:p>
        </p:txBody>
      </p:sp>
      <p:graphicFrame>
        <p:nvGraphicFramePr>
          <p:cNvPr id="4" name="Chart 0"/>
          <p:cNvGraphicFramePr/>
          <p:nvPr/>
        </p:nvGraphicFramePr>
        <p:xfrm>
          <a:off x="320040" y="731520"/>
          <a:ext cx="3017520" cy="228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3337560" y="731520"/>
          <a:ext cx="3017520"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6355080" y="731520"/>
          <a:ext cx="2468880" cy="228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11480" y="3108960"/>
          <a:ext cx="8321040" cy="1203960"/>
        </p:xfrm>
        <a:graphic>
          <a:graphicData uri="http://schemas.openxmlformats.org/drawingml/2006/table">
            <a:tbl>
              <a:tblPr/>
              <a:tblGrid>
                <a:gridCol w="2011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0">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Rank (transaction-level models)</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1st</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2nd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040" b="1" dirty="0">
                          <a:solidFill>
                            <a:srgbClr val="FFFFFF"/>
                          </a:solidFill>
                          <a:latin typeface="Calibri" pitchFamily="34" charset="0"/>
                          <a:ea typeface="Calibri" pitchFamily="34" charset="-122"/>
                          <a:cs typeface="Calibri" pitchFamily="34" charset="-120"/>
                        </a:rPr>
                        <a:t>3rd</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R2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LSTM+XGB / GRU+XGB (0.9100, tie)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XGBoost 0.9097</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Random Forest 0.8905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RMSE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LSTM+XGB 56.8745</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GRU+XGB 56.8930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XGBoost 56.9780</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MAE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LSTM+XGB 32.6901</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GRU+XGB 32.7027</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XGBoost 32.7594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40" b="1" dirty="0">
                          <a:solidFill>
                            <a:srgbClr val="1B2430"/>
                          </a:solidFill>
                          <a:latin typeface="Calibri" pitchFamily="34" charset="0"/>
                          <a:ea typeface="Calibri" pitchFamily="34" charset="-122"/>
                          <a:cs typeface="Calibri" pitchFamily="34" charset="-120"/>
                        </a:rPr>
                        <a:t>MAPE</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GRU+XGB 34.4159%</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LSTM+XGB 34.5552%</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040" dirty="0">
                          <a:solidFill>
                            <a:srgbClr val="1B2430"/>
                          </a:solidFill>
                          <a:latin typeface="Calibri" pitchFamily="34" charset="0"/>
                          <a:ea typeface="Calibri" pitchFamily="34" charset="-122"/>
                          <a:cs typeface="Calibri" pitchFamily="34" charset="-120"/>
                        </a:rPr>
                        <a:t>XGBoost 34.8814%</a:t>
                      </a:r>
                      <a:endParaRPr lang="en-US" sz="104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bl>
          </a:graphicData>
        </a:graphic>
      </p:graphicFrame>
      <p:sp>
        <p:nvSpPr>
          <p:cNvPr id="8" name="Text 1"/>
          <p:cNvSpPr txBox="1"/>
          <p:nvPr/>
        </p:nvSpPr>
        <p:spPr>
          <a:xfrm>
            <a:off x="411480" y="4434840"/>
            <a:ext cx="8321040" cy="384048"/>
          </a:xfrm>
          <a:prstGeom prst="rect">
            <a:avLst/>
          </a:prstGeom>
          <a:noFill/>
          <a:ln/>
        </p:spPr>
        <p:txBody>
          <a:bodyPr wrap="square" lIns="0" tIns="0" rIns="0" bIns="0" rtlCol="0" anchor="t"/>
          <a:lstStyle/>
          <a:p>
            <a:pPr marL="0" indent="0">
              <a:buNone/>
            </a:pPr>
            <a:r>
              <a:rPr lang="en-US" sz="950" i="1" dirty="0">
                <a:solidFill>
                  <a:srgbClr val="5B6770"/>
                </a:solidFill>
              </a:rPr>
              <a:t>Three XGBoost-based models are consistently the top three; no single model is declared best overall.</a:t>
            </a:r>
            <a:endParaRPr lang="en-US" sz="950" dirty="0"/>
          </a:p>
        </p:txBody>
      </p:sp>
      <p:sp>
        <p:nvSpPr>
          <p:cNvPr id="3"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Proposed Model vs XGBoost and Why the Hybrid Behaves Differently</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11480" y="777240"/>
          <a:ext cx="4389120" cy="1341120"/>
        </p:xfrm>
        <a:graphic>
          <a:graphicData uri="http://schemas.openxmlformats.org/drawingml/2006/table">
            <a:tbl>
              <a:tblPr/>
              <a:tblGrid>
                <a:gridCol w="8229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0">
                <a:tc>
                  <a:txBody>
                    <a:bodyPr/>
                    <a:lstStyle/>
                    <a:p>
                      <a:pPr marL="0" indent="0" algn="l">
                        <a:buNone/>
                      </a:pPr>
                      <a:r>
                        <a:rPr lang="en-US" sz="1220" b="1" dirty="0">
                          <a:solidFill>
                            <a:srgbClr val="FFFFFF"/>
                          </a:solidFill>
                          <a:latin typeface="Calibri" pitchFamily="34" charset="0"/>
                          <a:ea typeface="Calibri" pitchFamily="34" charset="-122"/>
                          <a:cs typeface="Calibri" pitchFamily="34" charset="-120"/>
                        </a:rPr>
                        <a:t>Metric</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220" b="1" dirty="0">
                          <a:solidFill>
                            <a:srgbClr val="FFFFFF"/>
                          </a:solidFill>
                          <a:latin typeface="Calibri" pitchFamily="34" charset="0"/>
                          <a:ea typeface="Calibri" pitchFamily="34" charset="-122"/>
                          <a:cs typeface="Calibri" pitchFamily="34" charset="-120"/>
                        </a:rPr>
                        <a:t>XGBoost</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220" b="1" dirty="0">
                          <a:solidFill>
                            <a:srgbClr val="FFFFFF"/>
                          </a:solidFill>
                          <a:latin typeface="Calibri" pitchFamily="34" charset="0"/>
                          <a:ea typeface="Calibri" pitchFamily="34" charset="-122"/>
                          <a:cs typeface="Calibri" pitchFamily="34" charset="-120"/>
                        </a:rPr>
                        <a:t>TATFF-XGBLSTM</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ctr">
                        <a:buNone/>
                      </a:pPr>
                      <a:r>
                        <a:rPr lang="en-US" sz="1220" b="1" dirty="0">
                          <a:solidFill>
                            <a:srgbClr val="FFFFFF"/>
                          </a:solidFill>
                          <a:latin typeface="Calibri" pitchFamily="34" charset="0"/>
                          <a:ea typeface="Calibri" pitchFamily="34" charset="-122"/>
                          <a:cs typeface="Calibri" pitchFamily="34" charset="-120"/>
                        </a:rPr>
                        <a:t>Improvement</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MAE</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32.7594</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32.6901</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~0.21%</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RMSE</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56.9780</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56.8745</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~0.18%</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R2</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0.9097</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0.9100</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+0.0003</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20" b="1" dirty="0">
                          <a:solidFill>
                            <a:srgbClr val="1B2430"/>
                          </a:solidFill>
                          <a:latin typeface="Calibri" pitchFamily="34" charset="0"/>
                          <a:ea typeface="Calibri" pitchFamily="34" charset="-122"/>
                          <a:cs typeface="Calibri" pitchFamily="34" charset="-120"/>
                        </a:rPr>
                        <a:t>MAPE</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34.8814%</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34.5552%</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ctr">
                        <a:buNone/>
                      </a:pPr>
                      <a:r>
                        <a:rPr lang="en-US" sz="1220" dirty="0">
                          <a:solidFill>
                            <a:srgbClr val="1B2430"/>
                          </a:solidFill>
                          <a:latin typeface="Calibri" pitchFamily="34" charset="0"/>
                          <a:ea typeface="Calibri" pitchFamily="34" charset="-122"/>
                          <a:cs typeface="Calibri" pitchFamily="34" charset="-120"/>
                        </a:rPr>
                        <a:t>~0.94%</a:t>
                      </a:r>
                      <a:endParaRPr lang="en-US" sz="122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bl>
          </a:graphicData>
        </a:graphic>
      </p:graphicFrame>
      <p:sp>
        <p:nvSpPr>
          <p:cNvPr id="5" name="Shape 1"/>
          <p:cNvSpPr/>
          <p:nvPr/>
        </p:nvSpPr>
        <p:spPr>
          <a:xfrm>
            <a:off x="411480" y="2423160"/>
            <a:ext cx="4389120" cy="365760"/>
          </a:xfrm>
          <a:prstGeom prst="rect">
            <a:avLst/>
          </a:prstGeom>
          <a:solidFill>
            <a:srgbClr val="FCEFD9"/>
          </a:solidFill>
          <a:ln w="12700">
            <a:solidFill>
              <a:srgbClr val="FCEFD9"/>
            </a:solidFill>
            <a:prstDash val="solid"/>
          </a:ln>
        </p:spPr>
      </p:sp>
      <p:sp>
        <p:nvSpPr>
          <p:cNvPr id="6" name="Text 2"/>
          <p:cNvSpPr txBox="1"/>
          <p:nvPr/>
        </p:nvSpPr>
        <p:spPr>
          <a:xfrm>
            <a:off x="411480" y="2423160"/>
            <a:ext cx="4389120" cy="365760"/>
          </a:xfrm>
          <a:prstGeom prst="rect">
            <a:avLst/>
          </a:prstGeom>
          <a:noFill/>
          <a:ln/>
        </p:spPr>
        <p:txBody>
          <a:bodyPr wrap="square" lIns="25400" tIns="25400" rIns="25400" bIns="25400" rtlCol="0" anchor="ctr"/>
          <a:lstStyle/>
          <a:p>
            <a:pPr marL="0" indent="0" algn="ctr">
              <a:buNone/>
            </a:pPr>
            <a:r>
              <a:rPr lang="en-US" sz="1050" b="1" dirty="0">
                <a:solidFill>
                  <a:srgbClr val="1F3A5F"/>
                </a:solidFill>
              </a:rPr>
              <a:t>Improvement is measurable but modest.</a:t>
            </a:r>
            <a:endParaRPr lang="en-US" sz="1050" dirty="0"/>
          </a:p>
        </p:txBody>
      </p:sp>
      <p:sp>
        <p:nvSpPr>
          <p:cNvPr id="7" name="Shape 3"/>
          <p:cNvSpPr/>
          <p:nvPr/>
        </p:nvSpPr>
        <p:spPr>
          <a:xfrm>
            <a:off x="411480" y="2926080"/>
            <a:ext cx="4389120" cy="1508760"/>
          </a:xfrm>
          <a:prstGeom prst="rect">
            <a:avLst/>
          </a:prstGeom>
          <a:solidFill>
            <a:srgbClr val="FFFFFF"/>
          </a:solidFill>
          <a:ln w="9525">
            <a:solidFill>
              <a:srgbClr val="D5DBE1"/>
            </a:solidFill>
            <a:prstDash val="solid"/>
          </a:ln>
        </p:spPr>
      </p:sp>
      <p:sp>
        <p:nvSpPr>
          <p:cNvPr id="8" name="Shape 4"/>
          <p:cNvSpPr/>
          <p:nvPr/>
        </p:nvSpPr>
        <p:spPr>
          <a:xfrm>
            <a:off x="411480" y="2926080"/>
            <a:ext cx="64008" cy="1508760"/>
          </a:xfrm>
          <a:prstGeom prst="rect">
            <a:avLst/>
          </a:prstGeom>
          <a:solidFill>
            <a:srgbClr val="D9822B"/>
          </a:solidFill>
          <a:ln w="12700">
            <a:solidFill>
              <a:srgbClr val="D9822B"/>
            </a:solidFill>
            <a:prstDash val="solid"/>
          </a:ln>
        </p:spPr>
      </p:sp>
      <p:sp>
        <p:nvSpPr>
          <p:cNvPr id="9" name="Text 5"/>
          <p:cNvSpPr txBox="1"/>
          <p:nvPr/>
        </p:nvSpPr>
        <p:spPr>
          <a:xfrm>
            <a:off x="566928" y="2980944"/>
            <a:ext cx="4160520" cy="256032"/>
          </a:xfrm>
          <a:prstGeom prst="rect">
            <a:avLst/>
          </a:prstGeom>
          <a:noFill/>
          <a:ln/>
        </p:spPr>
        <p:txBody>
          <a:bodyPr wrap="square" lIns="0" tIns="0" rIns="0" bIns="0" rtlCol="0" anchor="ctr"/>
          <a:lstStyle/>
          <a:p>
            <a:pPr marL="0" indent="0">
              <a:buNone/>
            </a:pPr>
            <a:r>
              <a:rPr lang="en-US" sz="1150" b="1" dirty="0">
                <a:solidFill>
                  <a:srgbClr val="D9822B"/>
                </a:solidFill>
              </a:rPr>
              <a:t>Caveat on attribution</a:t>
            </a:r>
            <a:endParaRPr lang="en-US" sz="1150" dirty="0"/>
          </a:p>
        </p:txBody>
      </p:sp>
      <p:sp>
        <p:nvSpPr>
          <p:cNvPr id="10" name="Text 6"/>
          <p:cNvSpPr txBox="1"/>
          <p:nvPr/>
        </p:nvSpPr>
        <p:spPr>
          <a:xfrm>
            <a:off x="566928" y="3273552"/>
            <a:ext cx="4133088" cy="1106424"/>
          </a:xfrm>
          <a:prstGeom prst="rect">
            <a:avLst/>
          </a:prstGeom>
          <a:noFill/>
          <a:ln/>
        </p:spPr>
        <p:txBody>
          <a:bodyPr wrap="square" lIns="0" tIns="0" rIns="0" bIns="0" rtlCol="0" anchor="t"/>
          <a:lstStyle/>
          <a:p>
            <a:pPr marL="0" indent="0">
              <a:buNone/>
            </a:pPr>
            <a:r>
              <a:rPr lang="en-US" sz="1121" dirty="0">
                <a:solidFill>
                  <a:srgbClr val="1B2430"/>
                </a:solidFill>
              </a:rPr>
              <a:t>Baseline XGBoost (300 trees, lr 0.05) and hybrid XGBoost (350 trees, lr 0.04, min_child_weight 2) use different hyperparameters; one split, no significance test. RF hybrids did not improve over plain RF.</a:t>
            </a:r>
            <a:endParaRPr lang="en-US" sz="1121" dirty="0"/>
          </a:p>
        </p:txBody>
      </p:sp>
      <p:sp>
        <p:nvSpPr>
          <p:cNvPr id="11" name="Shape 7"/>
          <p:cNvSpPr/>
          <p:nvPr/>
        </p:nvSpPr>
        <p:spPr>
          <a:xfrm>
            <a:off x="4983480" y="777240"/>
            <a:ext cx="3749040" cy="3657600"/>
          </a:xfrm>
          <a:prstGeom prst="rect">
            <a:avLst/>
          </a:prstGeom>
          <a:solidFill>
            <a:srgbClr val="FFFFFF"/>
          </a:solidFill>
          <a:ln w="9525">
            <a:solidFill>
              <a:srgbClr val="D5DBE1"/>
            </a:solidFill>
            <a:prstDash val="solid"/>
          </a:ln>
        </p:spPr>
      </p:sp>
      <p:sp>
        <p:nvSpPr>
          <p:cNvPr id="12" name="Shape 8"/>
          <p:cNvSpPr/>
          <p:nvPr/>
        </p:nvSpPr>
        <p:spPr>
          <a:xfrm>
            <a:off x="4983480" y="777240"/>
            <a:ext cx="64008" cy="3657600"/>
          </a:xfrm>
          <a:prstGeom prst="rect">
            <a:avLst/>
          </a:prstGeom>
          <a:solidFill>
            <a:srgbClr val="2E6FBA"/>
          </a:solidFill>
          <a:ln w="12700">
            <a:solidFill>
              <a:srgbClr val="2E6FBA"/>
            </a:solidFill>
            <a:prstDash val="solid"/>
          </a:ln>
        </p:spPr>
      </p:sp>
      <p:sp>
        <p:nvSpPr>
          <p:cNvPr id="13" name="Text 9"/>
          <p:cNvSpPr txBox="1"/>
          <p:nvPr/>
        </p:nvSpPr>
        <p:spPr>
          <a:xfrm>
            <a:off x="5138928" y="832104"/>
            <a:ext cx="3520440" cy="256032"/>
          </a:xfrm>
          <a:prstGeom prst="rect">
            <a:avLst/>
          </a:prstGeom>
          <a:noFill/>
          <a:ln/>
        </p:spPr>
        <p:txBody>
          <a:bodyPr wrap="square" lIns="0" tIns="0" rIns="0" bIns="0" rtlCol="0" anchor="ctr"/>
          <a:lstStyle/>
          <a:p>
            <a:pPr marL="0" indent="0">
              <a:buNone/>
            </a:pPr>
            <a:r>
              <a:rPr lang="en-US" sz="1150" b="1" dirty="0">
                <a:solidFill>
                  <a:srgbClr val="2E6FBA"/>
                </a:solidFill>
              </a:rPr>
              <a:t>Why the hybrid behaves differently</a:t>
            </a:r>
            <a:endParaRPr lang="en-US" sz="1150" dirty="0"/>
          </a:p>
        </p:txBody>
      </p:sp>
      <p:sp>
        <p:nvSpPr>
          <p:cNvPr id="14" name="Text 10"/>
          <p:cNvSpPr txBox="1"/>
          <p:nvPr/>
        </p:nvSpPr>
        <p:spPr>
          <a:xfrm>
            <a:off x="5138928" y="1124712"/>
            <a:ext cx="3493008" cy="3255264"/>
          </a:xfrm>
          <a:prstGeom prst="rect">
            <a:avLst/>
          </a:prstGeom>
          <a:noFill/>
          <a:ln/>
        </p:spPr>
        <p:txBody>
          <a:bodyPr wrap="square" lIns="0" tIns="0" rIns="0" bIns="0" rtlCol="0" anchor="t"/>
          <a:lstStyle/>
          <a:p>
            <a:pPr marL="152400" indent="-152400">
              <a:spcAft>
                <a:spcPts val="400"/>
              </a:spcAft>
              <a:buSzPct val="100000"/>
              <a:buChar char="•"/>
            </a:pPr>
            <a:r>
              <a:rPr lang="en-US" sz="1129" dirty="0">
                <a:solidFill>
                  <a:srgbClr val="1B2430"/>
                </a:solidFill>
              </a:rPr>
              <a:t>XGBoost already captures non-linear transaction relationships</a:t>
            </a:r>
            <a:endParaRPr lang="en-US" sz="1129" dirty="0"/>
          </a:p>
          <a:p>
            <a:pPr marL="152400" indent="-152400">
              <a:spcAft>
                <a:spcPts val="400"/>
              </a:spcAft>
              <a:buSzPct val="100000"/>
              <a:buChar char="•"/>
            </a:pPr>
            <a:r>
              <a:rPr lang="en-US" sz="1129" dirty="0">
                <a:solidFill>
                  <a:srgbClr val="1B2430"/>
                </a:solidFill>
              </a:rPr>
              <a:t>LSTM adds temporal context that transaction features do not directly represent</a:t>
            </a:r>
            <a:endParaRPr lang="en-US" sz="1129" dirty="0"/>
          </a:p>
          <a:p>
            <a:pPr marL="152400" indent="-152400">
              <a:spcAft>
                <a:spcPts val="400"/>
              </a:spcAft>
              <a:buSzPct val="100000"/>
              <a:buChar char="•"/>
            </a:pPr>
            <a:r>
              <a:rPr lang="en-US" sz="1129" dirty="0">
                <a:solidFill>
                  <a:srgbClr val="1B2430"/>
                </a:solidFill>
              </a:rPr>
              <a:t>Fusion gives XGBoost access to that context</a:t>
            </a:r>
            <a:endParaRPr lang="en-US" sz="1129" dirty="0"/>
          </a:p>
          <a:p>
            <a:pPr marL="152400" indent="-152400">
              <a:spcAft>
                <a:spcPts val="400"/>
              </a:spcAft>
              <a:buSzPct val="100000"/>
              <a:buChar char="•"/>
            </a:pPr>
            <a:r>
              <a:rPr lang="en-US" sz="1129" dirty="0">
                <a:solidFill>
                  <a:srgbClr val="1B2430"/>
                </a:solidFill>
              </a:rPr>
              <a:t>Strong baseline, so gain is incremental, not dramatic</a:t>
            </a:r>
            <a:endParaRPr lang="en-US" sz="1129" dirty="0"/>
          </a:p>
          <a:p>
            <a:pPr marL="152400" indent="-152400">
              <a:spcAft>
                <a:spcPts val="400"/>
              </a:spcAft>
              <a:buSzPct val="100000"/>
              <a:buChar char="•"/>
            </a:pPr>
            <a:r>
              <a:rPr lang="en-US" sz="1129" dirty="0">
                <a:solidFill>
                  <a:srgbClr val="1B2430"/>
                </a:solidFill>
              </a:rPr>
              <a:t>The recurrent model works better as a feature generator than as the final predictor in this setup</a:t>
            </a:r>
            <a:endParaRPr lang="en-US" sz="1129"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Final Hybrid Selection and Justification</a:t>
            </a:r>
            <a:endParaRPr lang="en-US" sz="2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11480" y="822960"/>
          <a:ext cx="8321040" cy="1386840"/>
        </p:xfrm>
        <a:graphic>
          <a:graphicData uri="http://schemas.openxmlformats.org/drawingml/2006/table">
            <a:tbl>
              <a:tblPr/>
              <a:tblGrid>
                <a:gridCol w="1645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0">
                <a:tc>
                  <a:txBody>
                    <a:bodyPr/>
                    <a:lstStyle/>
                    <a:p>
                      <a:pPr marL="0" indent="0" algn="l">
                        <a:buNone/>
                      </a:pPr>
                      <a:r>
                        <a:rPr lang="en-US" sz="1280" b="1" dirty="0">
                          <a:solidFill>
                            <a:srgbClr val="FFFFFF"/>
                          </a:solidFill>
                          <a:latin typeface="Calibri" pitchFamily="34" charset="0"/>
                          <a:ea typeface="Calibri" pitchFamily="34" charset="-122"/>
                          <a:cs typeface="Calibri" pitchFamily="34" charset="-120"/>
                        </a:rPr>
                        <a:t>Candidate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280" b="1" dirty="0">
                          <a:solidFill>
                            <a:srgbClr val="FFFFFF"/>
                          </a:solidFill>
                          <a:latin typeface="Calibri" pitchFamily="34" charset="0"/>
                          <a:ea typeface="Calibri" pitchFamily="34" charset="-122"/>
                          <a:cs typeface="Calibri" pitchFamily="34" charset="-120"/>
                        </a:rPr>
                        <a:t>Strength</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280" b="1" dirty="0">
                          <a:solidFill>
                            <a:srgbClr val="FFFFFF"/>
                          </a:solidFill>
                          <a:latin typeface="Calibri" pitchFamily="34" charset="0"/>
                          <a:ea typeface="Calibri" pitchFamily="34" charset="-122"/>
                          <a:cs typeface="Calibri" pitchFamily="34" charset="-120"/>
                        </a:rPr>
                        <a:t>Limitation</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280" b="1" dirty="0">
                          <a:solidFill>
                            <a:srgbClr val="FFFFFF"/>
                          </a:solidFill>
                          <a:latin typeface="Calibri" pitchFamily="34" charset="0"/>
                          <a:ea typeface="Calibri" pitchFamily="34" charset="-122"/>
                          <a:cs typeface="Calibri" pitchFamily="34" charset="-120"/>
                        </a:rPr>
                        <a:t>Decision</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LSTM + XGB</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Best MAE and RMSE among hybrids; R2 0.9100</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MAPE not lowest</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Selected</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CEFD9"/>
                    </a:solidFill>
                  </a:tcPr>
                </a:tc>
                <a:extLst>
                  <a:ext uri="{0D108BD9-81ED-4DB2-BD59-A6C34878D82A}">
                    <a16:rowId xmlns:a16="http://schemas.microsoft.com/office/drawing/2014/main" val="10001"/>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GRU + XGB</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Lowest MAPE among hybrids; R2 0.9100</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Slightly worse MAE / RMSE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Alternative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LSTM + RF</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Stable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Lower R2 (0.8903)</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Not selected</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80" b="1" dirty="0">
                          <a:solidFill>
                            <a:srgbClr val="1B2430"/>
                          </a:solidFill>
                          <a:latin typeface="Calibri" pitchFamily="34" charset="0"/>
                          <a:ea typeface="Calibri" pitchFamily="34" charset="-122"/>
                          <a:cs typeface="Calibri" pitchFamily="34" charset="-120"/>
                        </a:rPr>
                        <a:t>GRU + RF</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Stable</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Lower R2 (0.8904)</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280" dirty="0">
                          <a:solidFill>
                            <a:srgbClr val="1B2430"/>
                          </a:solidFill>
                          <a:latin typeface="Calibri" pitchFamily="34" charset="0"/>
                          <a:ea typeface="Calibri" pitchFamily="34" charset="-122"/>
                          <a:cs typeface="Calibri" pitchFamily="34" charset="-120"/>
                        </a:rPr>
                        <a:t>Not selected</a:t>
                      </a:r>
                      <a:endParaRPr lang="en-US" sz="128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bl>
          </a:graphicData>
        </a:graphic>
      </p:graphicFrame>
      <p:sp>
        <p:nvSpPr>
          <p:cNvPr id="5" name="Shape 1"/>
          <p:cNvSpPr/>
          <p:nvPr/>
        </p:nvSpPr>
        <p:spPr>
          <a:xfrm>
            <a:off x="411480" y="2743200"/>
            <a:ext cx="8321040" cy="1737360"/>
          </a:xfrm>
          <a:prstGeom prst="rect">
            <a:avLst/>
          </a:prstGeom>
          <a:solidFill>
            <a:srgbClr val="FFFFFF"/>
          </a:solidFill>
          <a:ln w="9525">
            <a:solidFill>
              <a:srgbClr val="D5DBE1"/>
            </a:solidFill>
            <a:prstDash val="solid"/>
          </a:ln>
        </p:spPr>
      </p:sp>
      <p:sp>
        <p:nvSpPr>
          <p:cNvPr id="6" name="Shape 2"/>
          <p:cNvSpPr/>
          <p:nvPr/>
        </p:nvSpPr>
        <p:spPr>
          <a:xfrm>
            <a:off x="411480" y="2743200"/>
            <a:ext cx="64008" cy="1737360"/>
          </a:xfrm>
          <a:prstGeom prst="rect">
            <a:avLst/>
          </a:prstGeom>
          <a:solidFill>
            <a:srgbClr val="D9822B"/>
          </a:solidFill>
          <a:ln w="12700">
            <a:solidFill>
              <a:srgbClr val="D9822B"/>
            </a:solidFill>
            <a:prstDash val="solid"/>
          </a:ln>
        </p:spPr>
      </p:sp>
      <p:sp>
        <p:nvSpPr>
          <p:cNvPr id="7" name="Text 3"/>
          <p:cNvSpPr txBox="1"/>
          <p:nvPr/>
        </p:nvSpPr>
        <p:spPr>
          <a:xfrm>
            <a:off x="566928" y="2798064"/>
            <a:ext cx="8092440" cy="256032"/>
          </a:xfrm>
          <a:prstGeom prst="rect">
            <a:avLst/>
          </a:prstGeom>
          <a:noFill/>
          <a:ln/>
        </p:spPr>
        <p:txBody>
          <a:bodyPr wrap="square" lIns="0" tIns="0" rIns="0" bIns="0" rtlCol="0" anchor="ctr"/>
          <a:lstStyle/>
          <a:p>
            <a:pPr marL="0" indent="0">
              <a:buNone/>
            </a:pPr>
            <a:r>
              <a:rPr lang="en-US" sz="1150" b="1" dirty="0">
                <a:solidFill>
                  <a:srgbClr val="D9822B"/>
                </a:solidFill>
              </a:rPr>
              <a:t>Why TATFF-XGBLSTM was selected</a:t>
            </a:r>
            <a:endParaRPr lang="en-US" sz="1150" dirty="0"/>
          </a:p>
        </p:txBody>
      </p:sp>
      <p:sp>
        <p:nvSpPr>
          <p:cNvPr id="8" name="Text 4"/>
          <p:cNvSpPr txBox="1"/>
          <p:nvPr/>
        </p:nvSpPr>
        <p:spPr>
          <a:xfrm>
            <a:off x="566928" y="3090672"/>
            <a:ext cx="8065008" cy="1335024"/>
          </a:xfrm>
          <a:prstGeom prst="rect">
            <a:avLst/>
          </a:prstGeom>
          <a:noFill/>
          <a:ln/>
        </p:spPr>
        <p:txBody>
          <a:bodyPr wrap="square" lIns="0" tIns="0" rIns="0" bIns="0" rtlCol="0" anchor="t"/>
          <a:lstStyle/>
          <a:p>
            <a:pPr marL="152400" indent="-152400">
              <a:spcAft>
                <a:spcPts val="400"/>
              </a:spcAft>
              <a:buSzPct val="100000"/>
              <a:buChar char="•"/>
            </a:pPr>
            <a:r>
              <a:rPr lang="en-US" sz="1247" dirty="0">
                <a:solidFill>
                  <a:srgbClr val="1B2430"/>
                </a:solidFill>
              </a:rPr>
              <a:t>XGBoost was the strongest standalone ML model and XGBoost hybrids beat RF hybrids</a:t>
            </a:r>
            <a:endParaRPr lang="en-US" sz="1247" dirty="0"/>
          </a:p>
          <a:p>
            <a:pPr marL="152400" indent="-152400">
              <a:spcAft>
                <a:spcPts val="400"/>
              </a:spcAft>
              <a:buSzPct val="100000"/>
              <a:buChar char="•"/>
            </a:pPr>
            <a:r>
              <a:rPr lang="en-US" sz="1247" dirty="0">
                <a:solidFill>
                  <a:srgbClr val="1B2430"/>
                </a:solidFill>
              </a:rPr>
              <a:t>Among XGBoost hybrids, LSTM+XGB has the best MAE and RMSE and ties on R2</a:t>
            </a:r>
            <a:endParaRPr lang="en-US" sz="1247" dirty="0"/>
          </a:p>
          <a:p>
            <a:pPr marL="152400" indent="-152400">
              <a:spcAft>
                <a:spcPts val="400"/>
              </a:spcAft>
              <a:buSzPct val="100000"/>
              <a:buChar char="•"/>
            </a:pPr>
            <a:r>
              <a:rPr lang="en-US" sz="1247" dirty="0">
                <a:solidFill>
                  <a:srgbClr val="1B2430"/>
                </a:solidFill>
              </a:rPr>
              <a:t>It improves on the strongest baseline on MAE, RMSE, R2 and MAPE</a:t>
            </a:r>
            <a:endParaRPr lang="en-US" sz="1247" dirty="0"/>
          </a:p>
          <a:p>
            <a:pPr marL="152400" indent="-152400">
              <a:spcAft>
                <a:spcPts val="400"/>
              </a:spcAft>
              <a:buSzPct val="100000"/>
              <a:buChar char="•"/>
            </a:pPr>
            <a:r>
              <a:rPr lang="en-US" sz="1247" dirty="0">
                <a:solidFill>
                  <a:srgbClr val="1B2430"/>
                </a:solidFill>
              </a:rPr>
              <a:t>Its fusion design (temporal feature into XGBoost) is clear and explainable</a:t>
            </a:r>
            <a:endParaRPr lang="en-US" sz="1247" dirty="0"/>
          </a:p>
          <a:p>
            <a:pPr marL="152400" indent="-152400">
              <a:spcAft>
                <a:spcPts val="400"/>
              </a:spcAft>
              <a:buSzPct val="100000"/>
              <a:buChar char="•"/>
            </a:pPr>
            <a:r>
              <a:rPr lang="en-US" sz="1247" dirty="0">
                <a:solidFill>
                  <a:srgbClr val="1B2430"/>
                </a:solidFill>
              </a:rPr>
              <a:t>GRU+XGB remains a near-equal alternative; the margins are small and untested statistically</a:t>
            </a:r>
            <a:endParaRPr lang="en-US" sz="1247"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Literature vs Our Model</a:t>
            </a:r>
            <a:endParaRPr lang="en-US" sz="2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11480" y="822960"/>
          <a:ext cx="8321040" cy="2508504"/>
        </p:xfrm>
        <a:graphic>
          <a:graphicData uri="http://schemas.openxmlformats.org/drawingml/2006/table">
            <a:tbl>
              <a:tblPr/>
              <a:tblGrid>
                <a:gridCol w="17373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0">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Aspect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Literature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tc>
                  <a:txBody>
                    <a:bodyPr/>
                    <a:lstStyle/>
                    <a:p>
                      <a:pPr marL="0" indent="0" algn="l">
                        <a:buNone/>
                      </a:pPr>
                      <a:r>
                        <a:rPr lang="en-US" sz="1160" b="1" dirty="0">
                          <a:solidFill>
                            <a:srgbClr val="FFFFFF"/>
                          </a:solidFill>
                          <a:latin typeface="Calibri" pitchFamily="34" charset="0"/>
                          <a:ea typeface="Calibri" pitchFamily="34" charset="-122"/>
                          <a:cs typeface="Calibri" pitchFamily="34" charset="-120"/>
                        </a:rPr>
                        <a:t>Our work</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Dataset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Different retail datasets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Global Superstore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Temporal learner</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LSTM / GRU and variants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LSTM / GRU</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Tree model</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RF / XGBoost and variants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RF / XGBoost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Hybrid design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Varies: residual, feature vectors, ensembles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Feature-level temporal prediction fusion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Hybrid comparison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Mostly one proposed model; some large sweeps on aggregated series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Four systematic combinations at transaction level</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Final selection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Paper-specific</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Experiment-driven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Evaluation</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Paper-specific metrics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MAE, MSE, RMSE, R2, MAPE, SMAPE</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160" b="1" dirty="0">
                          <a:solidFill>
                            <a:srgbClr val="1B2430"/>
                          </a:solidFill>
                          <a:latin typeface="Calibri" pitchFamily="34" charset="0"/>
                          <a:ea typeface="Calibri" pitchFamily="34" charset="-122"/>
                          <a:cs typeface="Calibri" pitchFamily="34" charset="-120"/>
                        </a:rPr>
                        <a:t>Business context</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Retail forecasting</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tc>
                  <a:txBody>
                    <a:bodyPr/>
                    <a:lstStyle/>
                    <a:p>
                      <a:pPr marL="0" indent="0" algn="l">
                        <a:buNone/>
                      </a:pPr>
                      <a:r>
                        <a:rPr lang="en-US" sz="1160" dirty="0">
                          <a:solidFill>
                            <a:srgbClr val="1B2430"/>
                          </a:solidFill>
                          <a:latin typeface="Calibri" pitchFamily="34" charset="0"/>
                          <a:ea typeface="Calibri" pitchFamily="34" charset="-122"/>
                          <a:cs typeface="Calibri" pitchFamily="34" charset="-120"/>
                        </a:rPr>
                        <a:t>Global Superstore transaction sales</a:t>
                      </a:r>
                      <a:endParaRPr lang="en-US" sz="1160" dirty="0">
                        <a:latin typeface="Calibri" charset="0"/>
                        <a:ea typeface="Calibri" charset="0"/>
                        <a:cs typeface="Calibri" charset="0"/>
                      </a:endParaRPr>
                    </a:p>
                  </a:txBody>
                  <a:tcPr marL="64008" marR="64008" marT="41148" marB="4114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4F6F8"/>
                    </a:solidFill>
                  </a:tcPr>
                </a:tc>
                <a:extLst>
                  <a:ext uri="{0D108BD9-81ED-4DB2-BD59-A6C34878D82A}">
                    <a16:rowId xmlns:a16="http://schemas.microsoft.com/office/drawing/2014/main" val="10008"/>
                  </a:ext>
                </a:extLst>
              </a:tr>
            </a:tbl>
          </a:graphicData>
        </a:graphic>
      </p:graphicFrame>
      <p:sp>
        <p:nvSpPr>
          <p:cNvPr id="5" name="Shape 1"/>
          <p:cNvSpPr/>
          <p:nvPr/>
        </p:nvSpPr>
        <p:spPr>
          <a:xfrm>
            <a:off x="411480" y="3794760"/>
            <a:ext cx="8321040" cy="640080"/>
          </a:xfrm>
          <a:prstGeom prst="rect">
            <a:avLst/>
          </a:prstGeom>
          <a:solidFill>
            <a:srgbClr val="FCEFD9"/>
          </a:solidFill>
          <a:ln w="12700">
            <a:solidFill>
              <a:srgbClr val="FCEFD9"/>
            </a:solidFill>
            <a:prstDash val="solid"/>
          </a:ln>
        </p:spPr>
      </p:sp>
      <p:sp>
        <p:nvSpPr>
          <p:cNvPr id="6" name="Text 2"/>
          <p:cNvSpPr txBox="1"/>
          <p:nvPr/>
        </p:nvSpPr>
        <p:spPr>
          <a:xfrm>
            <a:off x="411480" y="3794760"/>
            <a:ext cx="8321040" cy="640080"/>
          </a:xfrm>
          <a:prstGeom prst="rect">
            <a:avLst/>
          </a:prstGeom>
          <a:noFill/>
          <a:ln/>
        </p:spPr>
        <p:txBody>
          <a:bodyPr wrap="square" lIns="25400" tIns="25400" rIns="25400" bIns="25400" rtlCol="0" anchor="ctr"/>
          <a:lstStyle/>
          <a:p>
            <a:pPr marL="0" indent="0" algn="ctr">
              <a:buNone/>
            </a:pPr>
            <a:r>
              <a:rPr lang="en-US" sz="1050" b="1" dirty="0">
                <a:solidFill>
                  <a:srgbClr val="1F3A5F"/>
                </a:solidFill>
              </a:rPr>
              <a:t>Literature results provide contextual benchmarking and methodological comparison; direct numerical comparison is limited because datasets, horizons, scales and evaluation setups differ.</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Results and Discussion</a:t>
            </a:r>
            <a:endParaRPr lang="en-US" sz="2200" dirty="0"/>
          </a:p>
        </p:txBody>
      </p:sp>
      <p:sp>
        <p:nvSpPr>
          <p:cNvPr id="4" name="Shape 1"/>
          <p:cNvSpPr/>
          <p:nvPr/>
        </p:nvSpPr>
        <p:spPr>
          <a:xfrm>
            <a:off x="411480" y="822960"/>
            <a:ext cx="4114800" cy="3566160"/>
          </a:xfrm>
          <a:prstGeom prst="rect">
            <a:avLst/>
          </a:prstGeom>
          <a:solidFill>
            <a:srgbClr val="FFFFFF"/>
          </a:solidFill>
          <a:ln w="9525">
            <a:solidFill>
              <a:srgbClr val="D5DBE1"/>
            </a:solidFill>
            <a:prstDash val="solid"/>
          </a:ln>
        </p:spPr>
      </p:sp>
      <p:sp>
        <p:nvSpPr>
          <p:cNvPr id="5" name="Shape 2"/>
          <p:cNvSpPr/>
          <p:nvPr/>
        </p:nvSpPr>
        <p:spPr>
          <a:xfrm>
            <a:off x="411480" y="822960"/>
            <a:ext cx="64008" cy="3566160"/>
          </a:xfrm>
          <a:prstGeom prst="rect">
            <a:avLst/>
          </a:prstGeom>
          <a:solidFill>
            <a:srgbClr val="2E6FBA"/>
          </a:solidFill>
          <a:ln w="12700">
            <a:solidFill>
              <a:srgbClr val="2E6FBA"/>
            </a:solidFill>
            <a:prstDash val="solid"/>
          </a:ln>
        </p:spPr>
      </p:sp>
      <p:sp>
        <p:nvSpPr>
          <p:cNvPr id="6" name="Text 3"/>
          <p:cNvSpPr txBox="1"/>
          <p:nvPr/>
        </p:nvSpPr>
        <p:spPr>
          <a:xfrm>
            <a:off x="566928" y="877824"/>
            <a:ext cx="3886200" cy="256032"/>
          </a:xfrm>
          <a:prstGeom prst="rect">
            <a:avLst/>
          </a:prstGeom>
          <a:noFill/>
          <a:ln/>
        </p:spPr>
        <p:txBody>
          <a:bodyPr wrap="square" lIns="0" tIns="0" rIns="0" bIns="0" rtlCol="0" anchor="ctr"/>
          <a:lstStyle/>
          <a:p>
            <a:pPr marL="0" indent="0">
              <a:buNone/>
            </a:pPr>
            <a:r>
              <a:rPr lang="en-US" sz="1150" b="1" dirty="0">
                <a:solidFill>
                  <a:srgbClr val="2E6FBA"/>
                </a:solidFill>
              </a:rPr>
              <a:t>What the experiments show</a:t>
            </a:r>
            <a:endParaRPr lang="en-US" sz="1150" dirty="0"/>
          </a:p>
        </p:txBody>
      </p:sp>
      <p:sp>
        <p:nvSpPr>
          <p:cNvPr id="7" name="Text 4"/>
          <p:cNvSpPr txBox="1"/>
          <p:nvPr/>
        </p:nvSpPr>
        <p:spPr>
          <a:xfrm>
            <a:off x="566928" y="1170432"/>
            <a:ext cx="3858768" cy="3163824"/>
          </a:xfrm>
          <a:prstGeom prst="rect">
            <a:avLst/>
          </a:prstGeom>
          <a:noFill/>
          <a:ln/>
        </p:spPr>
        <p:txBody>
          <a:bodyPr wrap="square" lIns="0" tIns="0" rIns="0" bIns="0" rtlCol="0" anchor="t"/>
          <a:lstStyle/>
          <a:p>
            <a:pPr marL="152400" indent="-152400">
              <a:spcAft>
                <a:spcPts val="400"/>
              </a:spcAft>
              <a:buSzPct val="100000"/>
              <a:buChar char="•"/>
            </a:pPr>
            <a:r>
              <a:rPr lang="en-US" sz="1247" dirty="0">
                <a:solidFill>
                  <a:srgbClr val="1B2430"/>
                </a:solidFill>
              </a:rPr>
              <a:t>XGBoost is the strongest standalone ML baseline; RF is second</a:t>
            </a:r>
            <a:endParaRPr lang="en-US" sz="1247" dirty="0"/>
          </a:p>
          <a:p>
            <a:pPr marL="152400" indent="-152400">
              <a:spcAft>
                <a:spcPts val="400"/>
              </a:spcAft>
              <a:buSzPct val="100000"/>
              <a:buChar char="•"/>
            </a:pPr>
            <a:r>
              <a:rPr lang="en-US" sz="1247" dirty="0">
                <a:solidFill>
                  <a:srgbClr val="1B2430"/>
                </a:solidFill>
              </a:rPr>
              <a:t>LSTM and GRU alone performed poorly under this project's experimental setup</a:t>
            </a:r>
            <a:endParaRPr lang="en-US" sz="1247" dirty="0"/>
          </a:p>
          <a:p>
            <a:pPr marL="152400" indent="-152400">
              <a:spcAft>
                <a:spcPts val="400"/>
              </a:spcAft>
              <a:buSzPct val="100000"/>
              <a:buChar char="•"/>
            </a:pPr>
            <a:r>
              <a:rPr lang="en-US" sz="1247" dirty="0">
                <a:solidFill>
                  <a:srgbClr val="1B2430"/>
                </a:solidFill>
              </a:rPr>
              <a:t>Adding the temporal prediction to XGBoost improves it slightly</a:t>
            </a:r>
            <a:endParaRPr lang="en-US" sz="1247" dirty="0"/>
          </a:p>
          <a:p>
            <a:pPr marL="152400" indent="-152400">
              <a:spcAft>
                <a:spcPts val="400"/>
              </a:spcAft>
              <a:buSzPct val="100000"/>
              <a:buChar char="•"/>
            </a:pPr>
            <a:r>
              <a:rPr lang="en-US" sz="1247" dirty="0">
                <a:solidFill>
                  <a:srgbClr val="1B2430"/>
                </a:solidFill>
              </a:rPr>
              <a:t>XGBoost hybrids outperform RF hybrids; RF hybrids match plain RF</a:t>
            </a:r>
            <a:endParaRPr lang="en-US" sz="1247" dirty="0"/>
          </a:p>
          <a:p>
            <a:pPr marL="152400" indent="-152400">
              <a:spcAft>
                <a:spcPts val="400"/>
              </a:spcAft>
              <a:buSzPct val="100000"/>
              <a:buChar char="•"/>
            </a:pPr>
            <a:r>
              <a:rPr lang="en-US" sz="1247" dirty="0">
                <a:solidFill>
                  <a:srgbClr val="1B2430"/>
                </a:solidFill>
              </a:rPr>
              <a:t>LSTM+XGB and GRU+XGB are extremely close; GRU+XGB has slightly lower MAPE</a:t>
            </a:r>
            <a:endParaRPr lang="en-US" sz="1247" dirty="0"/>
          </a:p>
          <a:p>
            <a:pPr marL="152400" indent="-152400">
              <a:spcAft>
                <a:spcPts val="400"/>
              </a:spcAft>
              <a:buSzPct val="100000"/>
              <a:buChar char="•"/>
            </a:pPr>
            <a:r>
              <a:rPr lang="en-US" sz="1247" dirty="0">
                <a:solidFill>
                  <a:srgbClr val="1B2430"/>
                </a:solidFill>
              </a:rPr>
              <a:t>TATFF-XGBLSTM gives measurable but modest improvement over XGBoost</a:t>
            </a:r>
            <a:endParaRPr lang="en-US" sz="1247" dirty="0"/>
          </a:p>
        </p:txBody>
      </p:sp>
      <p:sp>
        <p:nvSpPr>
          <p:cNvPr id="8" name="Shape 5"/>
          <p:cNvSpPr/>
          <p:nvPr/>
        </p:nvSpPr>
        <p:spPr>
          <a:xfrm>
            <a:off x="4663440" y="822960"/>
            <a:ext cx="4069080" cy="3566160"/>
          </a:xfrm>
          <a:prstGeom prst="rect">
            <a:avLst/>
          </a:prstGeom>
          <a:solidFill>
            <a:srgbClr val="FFFFFF"/>
          </a:solidFill>
          <a:ln w="9525">
            <a:solidFill>
              <a:srgbClr val="D5DBE1"/>
            </a:solidFill>
            <a:prstDash val="solid"/>
          </a:ln>
        </p:spPr>
      </p:sp>
      <p:sp>
        <p:nvSpPr>
          <p:cNvPr id="9" name="Shape 6"/>
          <p:cNvSpPr/>
          <p:nvPr/>
        </p:nvSpPr>
        <p:spPr>
          <a:xfrm>
            <a:off x="4663440" y="822960"/>
            <a:ext cx="64008" cy="3566160"/>
          </a:xfrm>
          <a:prstGeom prst="rect">
            <a:avLst/>
          </a:prstGeom>
          <a:solidFill>
            <a:srgbClr val="D9822B"/>
          </a:solidFill>
          <a:ln w="12700">
            <a:solidFill>
              <a:srgbClr val="D9822B"/>
            </a:solidFill>
            <a:prstDash val="solid"/>
          </a:ln>
        </p:spPr>
      </p:sp>
      <p:sp>
        <p:nvSpPr>
          <p:cNvPr id="10" name="Text 7"/>
          <p:cNvSpPr txBox="1"/>
          <p:nvPr/>
        </p:nvSpPr>
        <p:spPr>
          <a:xfrm>
            <a:off x="4818888" y="877824"/>
            <a:ext cx="3840480" cy="256032"/>
          </a:xfrm>
          <a:prstGeom prst="rect">
            <a:avLst/>
          </a:prstGeom>
          <a:noFill/>
          <a:ln/>
        </p:spPr>
        <p:txBody>
          <a:bodyPr wrap="square" lIns="0" tIns="0" rIns="0" bIns="0" rtlCol="0" anchor="ctr"/>
          <a:lstStyle/>
          <a:p>
            <a:pPr marL="0" indent="0">
              <a:buNone/>
            </a:pPr>
            <a:r>
              <a:rPr lang="en-US" sz="1150" b="1" dirty="0">
                <a:solidFill>
                  <a:srgbClr val="D9822B"/>
                </a:solidFill>
              </a:rPr>
              <a:t>Key insights and limits</a:t>
            </a:r>
            <a:endParaRPr lang="en-US" sz="1150" dirty="0"/>
          </a:p>
        </p:txBody>
      </p:sp>
      <p:sp>
        <p:nvSpPr>
          <p:cNvPr id="11" name="Text 8"/>
          <p:cNvSpPr txBox="1"/>
          <p:nvPr/>
        </p:nvSpPr>
        <p:spPr>
          <a:xfrm>
            <a:off x="4818888" y="1170432"/>
            <a:ext cx="3813048" cy="3163824"/>
          </a:xfrm>
          <a:prstGeom prst="rect">
            <a:avLst/>
          </a:prstGeom>
          <a:noFill/>
          <a:ln/>
        </p:spPr>
        <p:txBody>
          <a:bodyPr wrap="square" lIns="0" tIns="0" rIns="0" bIns="0" rtlCol="0" anchor="t"/>
          <a:lstStyle/>
          <a:p>
            <a:pPr marL="152400" indent="-152400">
              <a:spcAft>
                <a:spcPts val="400"/>
              </a:spcAft>
              <a:buSzPct val="100000"/>
              <a:buChar char="•"/>
            </a:pPr>
            <a:r>
              <a:rPr lang="en-US" sz="1247" dirty="0">
                <a:solidFill>
                  <a:srgbClr val="1B2430"/>
                </a:solidFill>
              </a:rPr>
              <a:t>The tree learner matters more than the recurrent learner in this study</a:t>
            </a:r>
            <a:endParaRPr lang="en-US" sz="1247" dirty="0"/>
          </a:p>
          <a:p>
            <a:pPr marL="152400" indent="-152400">
              <a:spcAft>
                <a:spcPts val="400"/>
              </a:spcAft>
              <a:buSzPct val="100000"/>
              <a:buChar char="•"/>
            </a:pPr>
            <a:r>
              <a:rPr lang="en-US" sz="1247" dirty="0">
                <a:solidFill>
                  <a:srgbClr val="1B2430"/>
                </a:solidFill>
              </a:rPr>
              <a:t>Recurrent models are more useful as feature generators than final predictors here</a:t>
            </a:r>
            <a:endParaRPr lang="en-US" sz="1247" dirty="0"/>
          </a:p>
          <a:p>
            <a:pPr marL="152400" indent="-152400">
              <a:spcAft>
                <a:spcPts val="400"/>
              </a:spcAft>
              <a:buSzPct val="100000"/>
              <a:buChar char="•"/>
            </a:pPr>
            <a:r>
              <a:rPr lang="en-US" sz="1247" dirty="0">
                <a:solidFill>
                  <a:srgbClr val="1B2430"/>
                </a:solidFill>
              </a:rPr>
              <a:t>A modest improvement is more credible than an exaggerated one</a:t>
            </a:r>
            <a:endParaRPr lang="en-US" sz="1247" dirty="0"/>
          </a:p>
          <a:p>
            <a:pPr marL="152400" indent="-152400">
              <a:spcAft>
                <a:spcPts val="400"/>
              </a:spcAft>
              <a:buSzPct val="100000"/>
              <a:buChar char="•"/>
            </a:pPr>
            <a:r>
              <a:rPr lang="en-US" sz="1247" dirty="0">
                <a:solidFill>
                  <a:srgbClr val="1B2430"/>
                </a:solidFill>
              </a:rPr>
              <a:t>Single split, fixed hyperparameters, 48 monthly points, capped data</a:t>
            </a:r>
            <a:endParaRPr lang="en-US" sz="1247" dirty="0"/>
          </a:p>
          <a:p>
            <a:pPr marL="152400" indent="-152400">
              <a:spcAft>
                <a:spcPts val="400"/>
              </a:spcAft>
              <a:buSzPct val="100000"/>
              <a:buChar char="•"/>
            </a:pPr>
            <a:r>
              <a:rPr lang="en-US" sz="1247" dirty="0">
                <a:solidFill>
                  <a:srgbClr val="1B2430"/>
                </a:solidFill>
              </a:rPr>
              <a:t>Shipping Cost remains a possible leakage source</a:t>
            </a:r>
            <a:endParaRPr lang="en-US" sz="1247" dirty="0"/>
          </a:p>
          <a:p>
            <a:pPr marL="152400" indent="-152400">
              <a:spcAft>
                <a:spcPts val="400"/>
              </a:spcAft>
              <a:buSzPct val="100000"/>
              <a:buChar char="•"/>
            </a:pPr>
            <a:r>
              <a:rPr lang="en-US" sz="1247" dirty="0">
                <a:solidFill>
                  <a:srgbClr val="1B2430"/>
                </a:solidFill>
              </a:rPr>
              <a:t>No significance tests; Adjusted R2 not computed</a:t>
            </a:r>
            <a:endParaRPr lang="en-US" sz="1247"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Retail Analytics and Model Explainability</a:t>
            </a:r>
            <a:endParaRPr lang="en-US" sz="2200" dirty="0"/>
          </a:p>
        </p:txBody>
      </p:sp>
      <p:sp>
        <p:nvSpPr>
          <p:cNvPr id="4" name="Shape 1"/>
          <p:cNvSpPr/>
          <p:nvPr/>
        </p:nvSpPr>
        <p:spPr>
          <a:xfrm>
            <a:off x="411480" y="777240"/>
            <a:ext cx="2706624" cy="1024128"/>
          </a:xfrm>
          <a:prstGeom prst="rect">
            <a:avLst/>
          </a:prstGeom>
          <a:solidFill>
            <a:srgbClr val="FFFFFF"/>
          </a:solidFill>
          <a:ln w="9525">
            <a:solidFill>
              <a:srgbClr val="D5DBE1"/>
            </a:solidFill>
            <a:prstDash val="solid"/>
          </a:ln>
        </p:spPr>
      </p:sp>
      <p:sp>
        <p:nvSpPr>
          <p:cNvPr id="5" name="Shape 2"/>
          <p:cNvSpPr/>
          <p:nvPr/>
        </p:nvSpPr>
        <p:spPr>
          <a:xfrm>
            <a:off x="411480" y="777240"/>
            <a:ext cx="64008" cy="1024128"/>
          </a:xfrm>
          <a:prstGeom prst="rect">
            <a:avLst/>
          </a:prstGeom>
          <a:solidFill>
            <a:srgbClr val="2E6FBA"/>
          </a:solidFill>
          <a:ln w="12700">
            <a:solidFill>
              <a:srgbClr val="2E6FBA"/>
            </a:solidFill>
            <a:prstDash val="solid"/>
          </a:ln>
        </p:spPr>
      </p:sp>
      <p:sp>
        <p:nvSpPr>
          <p:cNvPr id="6" name="Text 3"/>
          <p:cNvSpPr txBox="1"/>
          <p:nvPr/>
        </p:nvSpPr>
        <p:spPr>
          <a:xfrm>
            <a:off x="566928" y="832104"/>
            <a:ext cx="2478024" cy="256032"/>
          </a:xfrm>
          <a:prstGeom prst="rect">
            <a:avLst/>
          </a:prstGeom>
          <a:noFill/>
          <a:ln/>
        </p:spPr>
        <p:txBody>
          <a:bodyPr wrap="square" lIns="0" tIns="0" rIns="0" bIns="0" rtlCol="0" anchor="ctr"/>
          <a:lstStyle/>
          <a:p>
            <a:pPr marL="0" indent="0">
              <a:buNone/>
            </a:pPr>
            <a:r>
              <a:rPr lang="en-US" sz="1150" b="1" dirty="0">
                <a:solidFill>
                  <a:srgbClr val="2E6FBA"/>
                </a:solidFill>
              </a:rPr>
              <a:t>EDA and sales trends</a:t>
            </a:r>
            <a:endParaRPr lang="en-US" sz="1150" dirty="0"/>
          </a:p>
        </p:txBody>
      </p:sp>
      <p:sp>
        <p:nvSpPr>
          <p:cNvPr id="7" name="Text 4"/>
          <p:cNvSpPr txBox="1"/>
          <p:nvPr/>
        </p:nvSpPr>
        <p:spPr>
          <a:xfrm>
            <a:off x="566928" y="1124712"/>
            <a:ext cx="2450592" cy="621792"/>
          </a:xfrm>
          <a:prstGeom prst="rect">
            <a:avLst/>
          </a:prstGeom>
          <a:noFill/>
          <a:ln/>
        </p:spPr>
        <p:txBody>
          <a:bodyPr wrap="square" lIns="0" tIns="0" rIns="0" bIns="0" rtlCol="0" anchor="t"/>
          <a:lstStyle/>
          <a:p>
            <a:pPr marL="0" indent="0">
              <a:buNone/>
            </a:pPr>
            <a:r>
              <a:rPr lang="en-US" sz="1003" dirty="0">
                <a:solidFill>
                  <a:srgbClr val="1B2430"/>
                </a:solidFill>
              </a:rPr>
              <a:t>Sales grow every year (1.56 M in 2011 to 3.02 M in 2014); discount to profit correlation -0.576</a:t>
            </a:r>
            <a:endParaRPr lang="en-US" sz="1003" dirty="0"/>
          </a:p>
        </p:txBody>
      </p:sp>
      <p:sp>
        <p:nvSpPr>
          <p:cNvPr id="8" name="Shape 5"/>
          <p:cNvSpPr/>
          <p:nvPr/>
        </p:nvSpPr>
        <p:spPr>
          <a:xfrm>
            <a:off x="3218688" y="777240"/>
            <a:ext cx="2706624" cy="1024128"/>
          </a:xfrm>
          <a:prstGeom prst="rect">
            <a:avLst/>
          </a:prstGeom>
          <a:solidFill>
            <a:srgbClr val="FFFFFF"/>
          </a:solidFill>
          <a:ln w="9525">
            <a:solidFill>
              <a:srgbClr val="D5DBE1"/>
            </a:solidFill>
            <a:prstDash val="solid"/>
          </a:ln>
        </p:spPr>
      </p:sp>
      <p:sp>
        <p:nvSpPr>
          <p:cNvPr id="9" name="Shape 6"/>
          <p:cNvSpPr/>
          <p:nvPr/>
        </p:nvSpPr>
        <p:spPr>
          <a:xfrm>
            <a:off x="3218688" y="777240"/>
            <a:ext cx="64008" cy="1024128"/>
          </a:xfrm>
          <a:prstGeom prst="rect">
            <a:avLst/>
          </a:prstGeom>
          <a:solidFill>
            <a:srgbClr val="2E6FBA"/>
          </a:solidFill>
          <a:ln w="12700">
            <a:solidFill>
              <a:srgbClr val="2E6FBA"/>
            </a:solidFill>
            <a:prstDash val="solid"/>
          </a:ln>
        </p:spPr>
      </p:sp>
      <p:sp>
        <p:nvSpPr>
          <p:cNvPr id="10" name="Text 7"/>
          <p:cNvSpPr txBox="1"/>
          <p:nvPr/>
        </p:nvSpPr>
        <p:spPr>
          <a:xfrm>
            <a:off x="3374136" y="832104"/>
            <a:ext cx="2478024" cy="256032"/>
          </a:xfrm>
          <a:prstGeom prst="rect">
            <a:avLst/>
          </a:prstGeom>
          <a:noFill/>
          <a:ln/>
        </p:spPr>
        <p:txBody>
          <a:bodyPr wrap="square" lIns="0" tIns="0" rIns="0" bIns="0" rtlCol="0" anchor="ctr"/>
          <a:lstStyle/>
          <a:p>
            <a:pPr marL="0" indent="0">
              <a:buNone/>
            </a:pPr>
            <a:r>
              <a:rPr lang="en-US" sz="1150" b="1" dirty="0">
                <a:solidFill>
                  <a:srgbClr val="2E6FBA"/>
                </a:solidFill>
              </a:rPr>
              <a:t>Customer: K-Means and RFM</a:t>
            </a:r>
            <a:endParaRPr lang="en-US" sz="1150" dirty="0"/>
          </a:p>
        </p:txBody>
      </p:sp>
      <p:sp>
        <p:nvSpPr>
          <p:cNvPr id="11" name="Text 8"/>
          <p:cNvSpPr txBox="1"/>
          <p:nvPr/>
        </p:nvSpPr>
        <p:spPr>
          <a:xfrm>
            <a:off x="3374136" y="1124712"/>
            <a:ext cx="2450592" cy="621792"/>
          </a:xfrm>
          <a:prstGeom prst="rect">
            <a:avLst/>
          </a:prstGeom>
          <a:noFill/>
          <a:ln/>
        </p:spPr>
        <p:txBody>
          <a:bodyPr wrap="square" lIns="0" tIns="0" rIns="0" bIns="0" rtlCol="0" anchor="t"/>
          <a:lstStyle/>
          <a:p>
            <a:pPr marL="0" indent="0">
              <a:buNone/>
            </a:pPr>
            <a:r>
              <a:rPr lang="en-US" sz="1003" dirty="0">
                <a:solidFill>
                  <a:srgbClr val="1B2430"/>
                </a:solidFill>
              </a:rPr>
              <a:t>K-Means k=2 (silhouette 0.6666); RFM on 1,590 customers: 515 High Value = about 62% of sales</a:t>
            </a:r>
            <a:endParaRPr lang="en-US" sz="1003" dirty="0"/>
          </a:p>
        </p:txBody>
      </p:sp>
      <p:sp>
        <p:nvSpPr>
          <p:cNvPr id="12" name="Shape 9"/>
          <p:cNvSpPr/>
          <p:nvPr/>
        </p:nvSpPr>
        <p:spPr>
          <a:xfrm>
            <a:off x="6025896" y="777240"/>
            <a:ext cx="2706624" cy="1024128"/>
          </a:xfrm>
          <a:prstGeom prst="rect">
            <a:avLst/>
          </a:prstGeom>
          <a:solidFill>
            <a:srgbClr val="FFFFFF"/>
          </a:solidFill>
          <a:ln w="9525">
            <a:solidFill>
              <a:srgbClr val="D5DBE1"/>
            </a:solidFill>
            <a:prstDash val="solid"/>
          </a:ln>
        </p:spPr>
      </p:sp>
      <p:sp>
        <p:nvSpPr>
          <p:cNvPr id="13" name="Shape 10"/>
          <p:cNvSpPr/>
          <p:nvPr/>
        </p:nvSpPr>
        <p:spPr>
          <a:xfrm>
            <a:off x="6025896" y="777240"/>
            <a:ext cx="64008" cy="1024128"/>
          </a:xfrm>
          <a:prstGeom prst="rect">
            <a:avLst/>
          </a:prstGeom>
          <a:solidFill>
            <a:srgbClr val="2E6FBA"/>
          </a:solidFill>
          <a:ln w="12700">
            <a:solidFill>
              <a:srgbClr val="2E6FBA"/>
            </a:solidFill>
            <a:prstDash val="solid"/>
          </a:ln>
        </p:spPr>
      </p:sp>
      <p:sp>
        <p:nvSpPr>
          <p:cNvPr id="14" name="Text 11"/>
          <p:cNvSpPr txBox="1"/>
          <p:nvPr/>
        </p:nvSpPr>
        <p:spPr>
          <a:xfrm>
            <a:off x="6181344" y="832104"/>
            <a:ext cx="2478024" cy="256032"/>
          </a:xfrm>
          <a:prstGeom prst="rect">
            <a:avLst/>
          </a:prstGeom>
          <a:noFill/>
          <a:ln/>
        </p:spPr>
        <p:txBody>
          <a:bodyPr wrap="square" lIns="0" tIns="0" rIns="0" bIns="0" rtlCol="0" anchor="ctr"/>
          <a:lstStyle/>
          <a:p>
            <a:pPr marL="0" indent="0">
              <a:buNone/>
            </a:pPr>
            <a:r>
              <a:rPr lang="en-US" sz="1150" b="1" dirty="0">
                <a:solidFill>
                  <a:srgbClr val="2E6FBA"/>
                </a:solidFill>
              </a:rPr>
              <a:t>CLV and scenarios</a:t>
            </a:r>
            <a:endParaRPr lang="en-US" sz="1150" dirty="0"/>
          </a:p>
        </p:txBody>
      </p:sp>
      <p:sp>
        <p:nvSpPr>
          <p:cNvPr id="15" name="Text 12"/>
          <p:cNvSpPr txBox="1"/>
          <p:nvPr/>
        </p:nvSpPr>
        <p:spPr>
          <a:xfrm>
            <a:off x="6181344" y="1124712"/>
            <a:ext cx="2450592" cy="621792"/>
          </a:xfrm>
          <a:prstGeom prst="rect">
            <a:avLst/>
          </a:prstGeom>
          <a:noFill/>
          <a:ln/>
        </p:spPr>
        <p:txBody>
          <a:bodyPr wrap="square" lIns="0" tIns="0" rIns="0" bIns="0" rtlCol="0" anchor="t"/>
          <a:lstStyle/>
          <a:p>
            <a:pPr marL="0" indent="0">
              <a:buNone/>
            </a:pPr>
            <a:r>
              <a:rPr lang="en-US" sz="1003" dirty="0">
                <a:solidFill>
                  <a:srgbClr val="1B2430"/>
                </a:solidFill>
              </a:rPr>
              <a:t>CLV 5.74 M (descriptive); predicted sales fall 11.5% at 50% discount versus 0%</a:t>
            </a:r>
            <a:endParaRPr lang="en-US" sz="1003" dirty="0"/>
          </a:p>
        </p:txBody>
      </p:sp>
      <p:sp>
        <p:nvSpPr>
          <p:cNvPr id="16" name="Shape 13"/>
          <p:cNvSpPr/>
          <p:nvPr/>
        </p:nvSpPr>
        <p:spPr>
          <a:xfrm>
            <a:off x="411480" y="1874520"/>
            <a:ext cx="2706624" cy="1024128"/>
          </a:xfrm>
          <a:prstGeom prst="rect">
            <a:avLst/>
          </a:prstGeom>
          <a:solidFill>
            <a:srgbClr val="FFFFFF"/>
          </a:solidFill>
          <a:ln w="9525">
            <a:solidFill>
              <a:srgbClr val="D5DBE1"/>
            </a:solidFill>
            <a:prstDash val="solid"/>
          </a:ln>
        </p:spPr>
      </p:sp>
      <p:sp>
        <p:nvSpPr>
          <p:cNvPr id="17" name="Shape 14"/>
          <p:cNvSpPr/>
          <p:nvPr/>
        </p:nvSpPr>
        <p:spPr>
          <a:xfrm>
            <a:off x="411480" y="1874520"/>
            <a:ext cx="64008" cy="1024128"/>
          </a:xfrm>
          <a:prstGeom prst="rect">
            <a:avLst/>
          </a:prstGeom>
          <a:solidFill>
            <a:srgbClr val="2E6FBA"/>
          </a:solidFill>
          <a:ln w="12700">
            <a:solidFill>
              <a:srgbClr val="2E6FBA"/>
            </a:solidFill>
            <a:prstDash val="solid"/>
          </a:ln>
        </p:spPr>
      </p:sp>
      <p:sp>
        <p:nvSpPr>
          <p:cNvPr id="18" name="Text 15"/>
          <p:cNvSpPr txBox="1"/>
          <p:nvPr/>
        </p:nvSpPr>
        <p:spPr>
          <a:xfrm>
            <a:off x="566928" y="1929384"/>
            <a:ext cx="2478024" cy="256032"/>
          </a:xfrm>
          <a:prstGeom prst="rect">
            <a:avLst/>
          </a:prstGeom>
          <a:noFill/>
          <a:ln/>
        </p:spPr>
        <p:txBody>
          <a:bodyPr wrap="square" lIns="0" tIns="0" rIns="0" bIns="0" rtlCol="0" anchor="ctr"/>
          <a:lstStyle/>
          <a:p>
            <a:pPr marL="0" indent="0">
              <a:buNone/>
            </a:pPr>
            <a:r>
              <a:rPr lang="en-US" sz="1150" b="1" dirty="0">
                <a:solidFill>
                  <a:srgbClr val="2E6FBA"/>
                </a:solidFill>
              </a:rPr>
              <a:t>Product and regional</a:t>
            </a:r>
            <a:endParaRPr lang="en-US" sz="1150" dirty="0"/>
          </a:p>
        </p:txBody>
      </p:sp>
      <p:sp>
        <p:nvSpPr>
          <p:cNvPr id="19" name="Text 16"/>
          <p:cNvSpPr txBox="1"/>
          <p:nvPr/>
        </p:nvSpPr>
        <p:spPr>
          <a:xfrm>
            <a:off x="566928" y="2221992"/>
            <a:ext cx="2450592" cy="621792"/>
          </a:xfrm>
          <a:prstGeom prst="rect">
            <a:avLst/>
          </a:prstGeom>
          <a:noFill/>
          <a:ln/>
        </p:spPr>
        <p:txBody>
          <a:bodyPr wrap="square" lIns="0" tIns="0" rIns="0" bIns="0" rtlCol="0" anchor="t"/>
          <a:lstStyle/>
          <a:p>
            <a:pPr marL="0" indent="0">
              <a:buNone/>
            </a:pPr>
            <a:r>
              <a:rPr lang="en-US" sz="1003" dirty="0">
                <a:solidFill>
                  <a:srgbClr val="1B2430"/>
                </a:solidFill>
              </a:rPr>
              <a:t>Phones lead sales and profit; Chairs sell 1.04 M but return 83,188; Central strongest region</a:t>
            </a:r>
            <a:endParaRPr lang="en-US" sz="1003" dirty="0"/>
          </a:p>
        </p:txBody>
      </p:sp>
      <p:sp>
        <p:nvSpPr>
          <p:cNvPr id="20" name="Shape 17"/>
          <p:cNvSpPr/>
          <p:nvPr/>
        </p:nvSpPr>
        <p:spPr>
          <a:xfrm>
            <a:off x="3218688" y="1874520"/>
            <a:ext cx="2706624" cy="1024128"/>
          </a:xfrm>
          <a:prstGeom prst="rect">
            <a:avLst/>
          </a:prstGeom>
          <a:solidFill>
            <a:srgbClr val="FFFFFF"/>
          </a:solidFill>
          <a:ln w="9525">
            <a:solidFill>
              <a:srgbClr val="D5DBE1"/>
            </a:solidFill>
            <a:prstDash val="solid"/>
          </a:ln>
        </p:spPr>
      </p:sp>
      <p:sp>
        <p:nvSpPr>
          <p:cNvPr id="21" name="Shape 18"/>
          <p:cNvSpPr/>
          <p:nvPr/>
        </p:nvSpPr>
        <p:spPr>
          <a:xfrm>
            <a:off x="3218688" y="1874520"/>
            <a:ext cx="64008" cy="1024128"/>
          </a:xfrm>
          <a:prstGeom prst="rect">
            <a:avLst/>
          </a:prstGeom>
          <a:solidFill>
            <a:srgbClr val="2E6FBA"/>
          </a:solidFill>
          <a:ln w="12700">
            <a:solidFill>
              <a:srgbClr val="2E6FBA"/>
            </a:solidFill>
            <a:prstDash val="solid"/>
          </a:ln>
        </p:spPr>
      </p:sp>
      <p:sp>
        <p:nvSpPr>
          <p:cNvPr id="22" name="Text 19"/>
          <p:cNvSpPr txBox="1"/>
          <p:nvPr/>
        </p:nvSpPr>
        <p:spPr>
          <a:xfrm>
            <a:off x="3374136" y="1929384"/>
            <a:ext cx="2478024" cy="256032"/>
          </a:xfrm>
          <a:prstGeom prst="rect">
            <a:avLst/>
          </a:prstGeom>
          <a:noFill/>
          <a:ln/>
        </p:spPr>
        <p:txBody>
          <a:bodyPr wrap="square" lIns="0" tIns="0" rIns="0" bIns="0" rtlCol="0" anchor="ctr"/>
          <a:lstStyle/>
          <a:p>
            <a:pPr marL="0" indent="0">
              <a:buNone/>
            </a:pPr>
            <a:r>
              <a:rPr lang="en-US" sz="1150" b="1" dirty="0">
                <a:solidFill>
                  <a:srgbClr val="2E6FBA"/>
                </a:solidFill>
              </a:rPr>
              <a:t>SQL / MySQL</a:t>
            </a:r>
            <a:endParaRPr lang="en-US" sz="1150" dirty="0"/>
          </a:p>
        </p:txBody>
      </p:sp>
      <p:sp>
        <p:nvSpPr>
          <p:cNvPr id="23" name="Text 20"/>
          <p:cNvSpPr txBox="1"/>
          <p:nvPr/>
        </p:nvSpPr>
        <p:spPr>
          <a:xfrm>
            <a:off x="3374136" y="2221992"/>
            <a:ext cx="2450592" cy="621792"/>
          </a:xfrm>
          <a:prstGeom prst="rect">
            <a:avLst/>
          </a:prstGeom>
          <a:noFill/>
          <a:ln/>
        </p:spPr>
        <p:txBody>
          <a:bodyPr wrap="square" lIns="0" tIns="0" rIns="0" bIns="0" rtlCol="0" anchor="t"/>
          <a:lstStyle/>
          <a:p>
            <a:pPr marL="0" indent="0">
              <a:buNone/>
            </a:pPr>
            <a:r>
              <a:rPr lang="en-US" sz="1003" dirty="0">
                <a:solidFill>
                  <a:srgbClr val="1B2430"/>
                </a:solidFill>
              </a:rPr>
              <a:t>retail_analytics.sales_data feeds KPI and trend visuals</a:t>
            </a:r>
            <a:endParaRPr lang="en-US" sz="1003" dirty="0"/>
          </a:p>
        </p:txBody>
      </p:sp>
      <p:sp>
        <p:nvSpPr>
          <p:cNvPr id="24" name="Shape 21"/>
          <p:cNvSpPr/>
          <p:nvPr/>
        </p:nvSpPr>
        <p:spPr>
          <a:xfrm>
            <a:off x="6025896" y="1874520"/>
            <a:ext cx="2706624" cy="1024128"/>
          </a:xfrm>
          <a:prstGeom prst="rect">
            <a:avLst/>
          </a:prstGeom>
          <a:solidFill>
            <a:srgbClr val="FFFFFF"/>
          </a:solidFill>
          <a:ln w="9525">
            <a:solidFill>
              <a:srgbClr val="D5DBE1"/>
            </a:solidFill>
            <a:prstDash val="solid"/>
          </a:ln>
        </p:spPr>
      </p:sp>
      <p:sp>
        <p:nvSpPr>
          <p:cNvPr id="25" name="Shape 22"/>
          <p:cNvSpPr/>
          <p:nvPr/>
        </p:nvSpPr>
        <p:spPr>
          <a:xfrm>
            <a:off x="6025896" y="1874520"/>
            <a:ext cx="64008" cy="1024128"/>
          </a:xfrm>
          <a:prstGeom prst="rect">
            <a:avLst/>
          </a:prstGeom>
          <a:solidFill>
            <a:srgbClr val="2E6FBA"/>
          </a:solidFill>
          <a:ln w="12700">
            <a:solidFill>
              <a:srgbClr val="2E6FBA"/>
            </a:solidFill>
            <a:prstDash val="solid"/>
          </a:ln>
        </p:spPr>
      </p:sp>
      <p:sp>
        <p:nvSpPr>
          <p:cNvPr id="26" name="Text 23"/>
          <p:cNvSpPr txBox="1"/>
          <p:nvPr/>
        </p:nvSpPr>
        <p:spPr>
          <a:xfrm>
            <a:off x="6181344" y="1929384"/>
            <a:ext cx="2478024" cy="256032"/>
          </a:xfrm>
          <a:prstGeom prst="rect">
            <a:avLst/>
          </a:prstGeom>
          <a:noFill/>
          <a:ln/>
        </p:spPr>
        <p:txBody>
          <a:bodyPr wrap="square" lIns="0" tIns="0" rIns="0" bIns="0" rtlCol="0" anchor="ctr"/>
          <a:lstStyle/>
          <a:p>
            <a:pPr marL="0" indent="0">
              <a:buNone/>
            </a:pPr>
            <a:r>
              <a:rPr lang="en-US" sz="1150" b="1" dirty="0">
                <a:solidFill>
                  <a:srgbClr val="2E6FBA"/>
                </a:solidFill>
              </a:rPr>
              <a:t>Power BI dashboard</a:t>
            </a:r>
            <a:endParaRPr lang="en-US" sz="1150" dirty="0"/>
          </a:p>
        </p:txBody>
      </p:sp>
      <p:sp>
        <p:nvSpPr>
          <p:cNvPr id="27" name="Text 24"/>
          <p:cNvSpPr txBox="1"/>
          <p:nvPr/>
        </p:nvSpPr>
        <p:spPr>
          <a:xfrm>
            <a:off x="6181344" y="2221992"/>
            <a:ext cx="2450592" cy="621792"/>
          </a:xfrm>
          <a:prstGeom prst="rect">
            <a:avLst/>
          </a:prstGeom>
          <a:noFill/>
          <a:ln/>
        </p:spPr>
        <p:txBody>
          <a:bodyPr wrap="square" lIns="0" tIns="0" rIns="0" bIns="0" rtlCol="0" anchor="t"/>
          <a:lstStyle/>
          <a:p>
            <a:pPr marL="0" indent="0">
              <a:buNone/>
            </a:pPr>
            <a:r>
              <a:rPr lang="en-US" sz="1003" dirty="0">
                <a:solidFill>
                  <a:srgbClr val="1B2430"/>
                </a:solidFill>
              </a:rPr>
              <a:t> Overview, Product and Profit, Customer Intelligence, CLV, Scenario, Model </a:t>
            </a:r>
            <a:r>
              <a:rPr lang="en-US" sz="1003" dirty="0" err="1">
                <a:solidFill>
                  <a:srgbClr val="1B2430"/>
                </a:solidFill>
              </a:rPr>
              <a:t>explanability</a:t>
            </a:r>
            <a:r>
              <a:rPr lang="en-US" sz="1003" dirty="0">
                <a:solidFill>
                  <a:srgbClr val="1B2430"/>
                </a:solidFill>
              </a:rPr>
              <a:t>, Model comparison</a:t>
            </a:r>
            <a:endParaRPr lang="en-US" sz="1003" dirty="0"/>
          </a:p>
        </p:txBody>
      </p:sp>
      <p:sp>
        <p:nvSpPr>
          <p:cNvPr id="3"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CE61BA-4E5E-68BD-3986-4FA18411680B}"/>
              </a:ext>
            </a:extLst>
          </p:cNvPr>
          <p:cNvSpPr txBox="1"/>
          <p:nvPr/>
        </p:nvSpPr>
        <p:spPr>
          <a:xfrm>
            <a:off x="353439" y="280999"/>
            <a:ext cx="4572000" cy="261610"/>
          </a:xfrm>
          <a:prstGeom prst="rect">
            <a:avLst/>
          </a:prstGeom>
          <a:noFill/>
        </p:spPr>
        <p:txBody>
          <a:bodyPr wrap="square">
            <a:spAutoFit/>
          </a:bodyPr>
          <a:lstStyle/>
          <a:p>
            <a:pPr marL="0" indent="0">
              <a:buNone/>
            </a:pPr>
            <a:r>
              <a:rPr lang="en-US" sz="1100" b="1" dirty="0">
                <a:solidFill>
                  <a:srgbClr val="1F3A5F"/>
                </a:solidFill>
              </a:rPr>
              <a:t>Model Explainability: </a:t>
            </a:r>
            <a:r>
              <a:rPr lang="en-US" sz="1100" b="1" dirty="0" err="1">
                <a:solidFill>
                  <a:srgbClr val="1F3A5F"/>
                </a:solidFill>
              </a:rPr>
              <a:t>XGBoost</a:t>
            </a:r>
            <a:r>
              <a:rPr lang="en-US" sz="1100" b="1" dirty="0">
                <a:solidFill>
                  <a:srgbClr val="1F3A5F"/>
                </a:solidFill>
              </a:rPr>
              <a:t> Sales Prediction Model</a:t>
            </a:r>
            <a:endParaRPr lang="en-US" sz="1100" dirty="0"/>
          </a:p>
        </p:txBody>
      </p:sp>
      <p:pic>
        <p:nvPicPr>
          <p:cNvPr id="5" name="Picture 4">
            <a:extLst>
              <a:ext uri="{FF2B5EF4-FFF2-40B4-BE49-F238E27FC236}">
                <a16:creationId xmlns:a16="http://schemas.microsoft.com/office/drawing/2014/main" id="{1F555199-21C6-FA3A-5F08-A71C448E0228}"/>
              </a:ext>
            </a:extLst>
          </p:cNvPr>
          <p:cNvPicPr>
            <a:picLocks noChangeAspect="1"/>
          </p:cNvPicPr>
          <p:nvPr/>
        </p:nvPicPr>
        <p:blipFill>
          <a:blip r:embed="rId2"/>
          <a:stretch>
            <a:fillRect/>
          </a:stretch>
        </p:blipFill>
        <p:spPr>
          <a:xfrm>
            <a:off x="353438" y="680936"/>
            <a:ext cx="8121081" cy="4326598"/>
          </a:xfrm>
          <a:prstGeom prst="rect">
            <a:avLst/>
          </a:prstGeom>
        </p:spPr>
      </p:pic>
    </p:spTree>
    <p:extLst>
      <p:ext uri="{BB962C8B-B14F-4D97-AF65-F5344CB8AC3E}">
        <p14:creationId xmlns:p14="http://schemas.microsoft.com/office/powerpoint/2010/main" val="292549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Key Contributions, Conclusion and Future Work</a:t>
            </a:r>
            <a:endParaRPr lang="en-US" sz="2200" dirty="0"/>
          </a:p>
        </p:txBody>
      </p:sp>
      <p:sp>
        <p:nvSpPr>
          <p:cNvPr id="4" name="Shape 1"/>
          <p:cNvSpPr/>
          <p:nvPr/>
        </p:nvSpPr>
        <p:spPr>
          <a:xfrm>
            <a:off x="411480" y="777240"/>
            <a:ext cx="2834640" cy="3703320"/>
          </a:xfrm>
          <a:prstGeom prst="rect">
            <a:avLst/>
          </a:prstGeom>
          <a:solidFill>
            <a:srgbClr val="FFFFFF"/>
          </a:solidFill>
          <a:ln w="9525">
            <a:solidFill>
              <a:srgbClr val="D5DBE1"/>
            </a:solidFill>
            <a:prstDash val="solid"/>
          </a:ln>
        </p:spPr>
      </p:sp>
      <p:sp>
        <p:nvSpPr>
          <p:cNvPr id="5" name="Shape 2"/>
          <p:cNvSpPr/>
          <p:nvPr/>
        </p:nvSpPr>
        <p:spPr>
          <a:xfrm>
            <a:off x="411480" y="777240"/>
            <a:ext cx="64008" cy="3703320"/>
          </a:xfrm>
          <a:prstGeom prst="rect">
            <a:avLst/>
          </a:prstGeom>
          <a:solidFill>
            <a:srgbClr val="2E6FBA"/>
          </a:solidFill>
          <a:ln w="12700">
            <a:solidFill>
              <a:srgbClr val="2E6FBA"/>
            </a:solidFill>
            <a:prstDash val="solid"/>
          </a:ln>
        </p:spPr>
      </p:sp>
      <p:sp>
        <p:nvSpPr>
          <p:cNvPr id="6" name="Text 3"/>
          <p:cNvSpPr txBox="1"/>
          <p:nvPr/>
        </p:nvSpPr>
        <p:spPr>
          <a:xfrm>
            <a:off x="566928" y="832104"/>
            <a:ext cx="2606040" cy="256032"/>
          </a:xfrm>
          <a:prstGeom prst="rect">
            <a:avLst/>
          </a:prstGeom>
          <a:noFill/>
          <a:ln/>
        </p:spPr>
        <p:txBody>
          <a:bodyPr wrap="square" lIns="0" tIns="0" rIns="0" bIns="0" rtlCol="0" anchor="ctr"/>
          <a:lstStyle/>
          <a:p>
            <a:pPr marL="0" indent="0">
              <a:buNone/>
            </a:pPr>
            <a:r>
              <a:rPr lang="en-US" sz="1150" b="1" dirty="0">
                <a:solidFill>
                  <a:srgbClr val="2E6FBA"/>
                </a:solidFill>
              </a:rPr>
              <a:t>Key Contributions</a:t>
            </a:r>
            <a:endParaRPr lang="en-US" sz="1150" dirty="0"/>
          </a:p>
        </p:txBody>
      </p:sp>
      <p:sp>
        <p:nvSpPr>
          <p:cNvPr id="7" name="Text 4"/>
          <p:cNvSpPr txBox="1"/>
          <p:nvPr/>
        </p:nvSpPr>
        <p:spPr>
          <a:xfrm>
            <a:off x="566928" y="1124712"/>
            <a:ext cx="2578608" cy="3300984"/>
          </a:xfrm>
          <a:prstGeom prst="rect">
            <a:avLst/>
          </a:prstGeom>
          <a:noFill/>
          <a:ln/>
        </p:spPr>
        <p:txBody>
          <a:bodyPr wrap="square" lIns="0" tIns="0" rIns="0" bIns="0" rtlCol="0" anchor="t"/>
          <a:lstStyle/>
          <a:p>
            <a:pPr marL="152400" indent="-152400">
              <a:spcAft>
                <a:spcPts val="400"/>
              </a:spcAft>
              <a:buSzPct val="100000"/>
              <a:buChar char="•"/>
            </a:pPr>
            <a:r>
              <a:rPr lang="en-US" sz="1045" dirty="0">
                <a:solidFill>
                  <a:srgbClr val="1B2430"/>
                </a:solidFill>
              </a:rPr>
              <a:t>End-to-end retail analytics pipeline</a:t>
            </a:r>
            <a:endParaRPr lang="en-US" sz="1045" dirty="0"/>
          </a:p>
          <a:p>
            <a:pPr marL="152400" indent="-152400">
              <a:spcAft>
                <a:spcPts val="400"/>
              </a:spcAft>
              <a:buSzPct val="100000"/>
              <a:buChar char="•"/>
            </a:pPr>
            <a:r>
              <a:rPr lang="en-US" sz="1045" dirty="0">
                <a:solidFill>
                  <a:srgbClr val="1B2430"/>
                </a:solidFill>
              </a:rPr>
              <a:t>Global Superstore implementation</a:t>
            </a:r>
            <a:endParaRPr lang="en-US" sz="1045" dirty="0"/>
          </a:p>
          <a:p>
            <a:pPr marL="152400" indent="-152400">
              <a:spcAft>
                <a:spcPts val="400"/>
              </a:spcAft>
              <a:buSzPct val="100000"/>
              <a:buChar char="•"/>
            </a:pPr>
            <a:r>
              <a:rPr lang="en-US" sz="1045" dirty="0">
                <a:solidFill>
                  <a:srgbClr val="1B2430"/>
                </a:solidFill>
              </a:rPr>
              <a:t>ML and DL baseline evaluation</a:t>
            </a:r>
            <a:endParaRPr lang="en-US" sz="1045" dirty="0"/>
          </a:p>
          <a:p>
            <a:pPr marL="152400" indent="-152400">
              <a:spcAft>
                <a:spcPts val="400"/>
              </a:spcAft>
              <a:buSzPct val="100000"/>
              <a:buChar char="•"/>
            </a:pPr>
            <a:r>
              <a:rPr lang="en-US" sz="1045" dirty="0">
                <a:solidFill>
                  <a:srgbClr val="1B2430"/>
                </a:solidFill>
              </a:rPr>
              <a:t>Systematic comparison of four hybrids</a:t>
            </a:r>
            <a:endParaRPr lang="en-US" sz="1045" dirty="0"/>
          </a:p>
          <a:p>
            <a:pPr marL="152400" indent="-152400">
              <a:spcAft>
                <a:spcPts val="400"/>
              </a:spcAft>
              <a:buSzPct val="100000"/>
              <a:buChar char="•"/>
            </a:pPr>
            <a:r>
              <a:rPr lang="en-US" sz="1045" dirty="0">
                <a:solidFill>
                  <a:srgbClr val="1B2430"/>
                </a:solidFill>
              </a:rPr>
              <a:t>Feature-level temporal fusion (LSTM-derived)</a:t>
            </a:r>
            <a:endParaRPr lang="en-US" sz="1045" dirty="0"/>
          </a:p>
          <a:p>
            <a:pPr marL="152400" indent="-152400">
              <a:spcAft>
                <a:spcPts val="400"/>
              </a:spcAft>
              <a:buSzPct val="100000"/>
              <a:buChar char="•"/>
            </a:pPr>
            <a:r>
              <a:rPr lang="en-US" sz="1045" dirty="0">
                <a:solidFill>
                  <a:srgbClr val="1B2430"/>
                </a:solidFill>
              </a:rPr>
              <a:t>Proposed TATFF-XGBLSTM model</a:t>
            </a:r>
            <a:endParaRPr lang="en-US" sz="1045" dirty="0"/>
          </a:p>
          <a:p>
            <a:pPr marL="152400" indent="-152400">
              <a:spcAft>
                <a:spcPts val="400"/>
              </a:spcAft>
              <a:buSzPct val="100000"/>
              <a:buChar char="•"/>
            </a:pPr>
            <a:r>
              <a:rPr lang="en-US" sz="1045" dirty="0">
                <a:solidFill>
                  <a:srgbClr val="1B2430"/>
                </a:solidFill>
              </a:rPr>
              <a:t>Multi-metric comparative evaluation</a:t>
            </a:r>
            <a:endParaRPr lang="en-US" sz="1045" dirty="0"/>
          </a:p>
          <a:p>
            <a:pPr marL="152400" indent="-152400">
              <a:spcAft>
                <a:spcPts val="400"/>
              </a:spcAft>
              <a:buSzPct val="100000"/>
              <a:buChar char="•"/>
            </a:pPr>
            <a:r>
              <a:rPr lang="en-US" sz="1045" dirty="0">
                <a:solidFill>
                  <a:srgbClr val="1B2430"/>
                </a:solidFill>
              </a:rPr>
              <a:t>Literature-based research-gap identification</a:t>
            </a:r>
            <a:endParaRPr lang="en-US" sz="1045" dirty="0"/>
          </a:p>
          <a:p>
            <a:pPr marL="152400" indent="-152400">
              <a:spcAft>
                <a:spcPts val="400"/>
              </a:spcAft>
              <a:buSzPct val="100000"/>
              <a:buChar char="•"/>
            </a:pPr>
            <a:r>
              <a:rPr lang="en-US" sz="1045" dirty="0">
                <a:solidFill>
                  <a:srgbClr val="1B2430"/>
                </a:solidFill>
              </a:rPr>
              <a:t>Integration with customer intelligence, SQL, Power BI, explainability</a:t>
            </a:r>
            <a:endParaRPr lang="en-US" sz="1045" dirty="0"/>
          </a:p>
        </p:txBody>
      </p:sp>
      <p:sp>
        <p:nvSpPr>
          <p:cNvPr id="8" name="Shape 5"/>
          <p:cNvSpPr/>
          <p:nvPr/>
        </p:nvSpPr>
        <p:spPr>
          <a:xfrm>
            <a:off x="3337560" y="777240"/>
            <a:ext cx="2834640" cy="3703320"/>
          </a:xfrm>
          <a:prstGeom prst="rect">
            <a:avLst/>
          </a:prstGeom>
          <a:solidFill>
            <a:srgbClr val="FFFFFF"/>
          </a:solidFill>
          <a:ln w="9525">
            <a:solidFill>
              <a:srgbClr val="D5DBE1"/>
            </a:solidFill>
            <a:prstDash val="solid"/>
          </a:ln>
        </p:spPr>
      </p:sp>
      <p:sp>
        <p:nvSpPr>
          <p:cNvPr id="9" name="Shape 6"/>
          <p:cNvSpPr/>
          <p:nvPr/>
        </p:nvSpPr>
        <p:spPr>
          <a:xfrm>
            <a:off x="3337560" y="777240"/>
            <a:ext cx="64008" cy="3703320"/>
          </a:xfrm>
          <a:prstGeom prst="rect">
            <a:avLst/>
          </a:prstGeom>
          <a:solidFill>
            <a:srgbClr val="D9822B"/>
          </a:solidFill>
          <a:ln w="12700">
            <a:solidFill>
              <a:srgbClr val="D9822B"/>
            </a:solidFill>
            <a:prstDash val="solid"/>
          </a:ln>
        </p:spPr>
      </p:sp>
      <p:sp>
        <p:nvSpPr>
          <p:cNvPr id="10" name="Text 7"/>
          <p:cNvSpPr txBox="1"/>
          <p:nvPr/>
        </p:nvSpPr>
        <p:spPr>
          <a:xfrm>
            <a:off x="3493008" y="832104"/>
            <a:ext cx="2606040" cy="256032"/>
          </a:xfrm>
          <a:prstGeom prst="rect">
            <a:avLst/>
          </a:prstGeom>
          <a:noFill/>
          <a:ln/>
        </p:spPr>
        <p:txBody>
          <a:bodyPr wrap="square" lIns="0" tIns="0" rIns="0" bIns="0" rtlCol="0" anchor="ctr"/>
          <a:lstStyle/>
          <a:p>
            <a:pPr marL="0" indent="0">
              <a:buNone/>
            </a:pPr>
            <a:r>
              <a:rPr lang="en-US" sz="1150" b="1" dirty="0">
                <a:solidFill>
                  <a:srgbClr val="D9822B"/>
                </a:solidFill>
              </a:rPr>
              <a:t>Conclusion</a:t>
            </a:r>
            <a:endParaRPr lang="en-US" sz="1150" dirty="0"/>
          </a:p>
        </p:txBody>
      </p:sp>
      <p:sp>
        <p:nvSpPr>
          <p:cNvPr id="11" name="Text 8"/>
          <p:cNvSpPr txBox="1"/>
          <p:nvPr/>
        </p:nvSpPr>
        <p:spPr>
          <a:xfrm>
            <a:off x="3493008" y="1124712"/>
            <a:ext cx="2578608" cy="3300984"/>
          </a:xfrm>
          <a:prstGeom prst="rect">
            <a:avLst/>
          </a:prstGeom>
          <a:noFill/>
          <a:ln/>
        </p:spPr>
        <p:txBody>
          <a:bodyPr wrap="square" lIns="0" tIns="0" rIns="0" bIns="0" rtlCol="0" anchor="t"/>
          <a:lstStyle/>
          <a:p>
            <a:pPr marL="152400" indent="-152400">
              <a:spcAft>
                <a:spcPts val="400"/>
              </a:spcAft>
              <a:buSzPct val="100000"/>
              <a:buChar char="•"/>
            </a:pPr>
            <a:r>
              <a:rPr lang="en-US" sz="1045" dirty="0">
                <a:solidFill>
                  <a:srgbClr val="1B2430"/>
                </a:solidFill>
              </a:rPr>
              <a:t>XGBoost was the strongest standalone ML baseline</a:t>
            </a:r>
            <a:endParaRPr lang="en-US" sz="1045" dirty="0"/>
          </a:p>
          <a:p>
            <a:pPr marL="152400" indent="-152400">
              <a:spcAft>
                <a:spcPts val="400"/>
              </a:spcAft>
              <a:buSzPct val="100000"/>
              <a:buChar char="•"/>
            </a:pPr>
            <a:r>
              <a:rPr lang="en-US" sz="1045" dirty="0">
                <a:solidFill>
                  <a:srgbClr val="1B2430"/>
                </a:solidFill>
              </a:rPr>
              <a:t>Temporal DL information can complement transaction-level models</a:t>
            </a:r>
            <a:endParaRPr lang="en-US" sz="1045" dirty="0"/>
          </a:p>
          <a:p>
            <a:pPr marL="152400" indent="-152400">
              <a:spcAft>
                <a:spcPts val="400"/>
              </a:spcAft>
              <a:buSzPct val="100000"/>
              <a:buChar char="•"/>
            </a:pPr>
            <a:r>
              <a:rPr lang="en-US" sz="1045" dirty="0">
                <a:solidFill>
                  <a:srgbClr val="1B2430"/>
                </a:solidFill>
              </a:rPr>
              <a:t>The feature-level fusion model slightly improves XGBoost</a:t>
            </a:r>
            <a:endParaRPr lang="en-US" sz="1045" dirty="0"/>
          </a:p>
          <a:p>
            <a:pPr marL="152400" indent="-152400">
              <a:spcAft>
                <a:spcPts val="400"/>
              </a:spcAft>
              <a:buSzPct val="100000"/>
              <a:buChar char="•"/>
            </a:pPr>
            <a:r>
              <a:rPr lang="en-US" sz="1045" dirty="0">
                <a:solidFill>
                  <a:srgbClr val="1B2430"/>
                </a:solidFill>
              </a:rPr>
              <a:t>Multiple hybrids were tested before selection</a:t>
            </a:r>
            <a:endParaRPr lang="en-US" sz="1045" dirty="0"/>
          </a:p>
          <a:p>
            <a:pPr marL="152400" indent="-152400">
              <a:spcAft>
                <a:spcPts val="400"/>
              </a:spcAft>
              <a:buSzPct val="100000"/>
              <a:buChar char="•"/>
            </a:pPr>
            <a:r>
              <a:rPr lang="en-US" sz="1045" dirty="0">
                <a:solidFill>
                  <a:srgbClr val="1B2430"/>
                </a:solidFill>
              </a:rPr>
              <a:t>Contribution: the fusion architecture and systematic evaluation, not LSTM+XGBoost as an invention</a:t>
            </a:r>
            <a:endParaRPr lang="en-US" sz="1045" dirty="0"/>
          </a:p>
          <a:p>
            <a:pPr marL="152400" indent="-152400">
              <a:spcAft>
                <a:spcPts val="400"/>
              </a:spcAft>
              <a:buSzPct val="100000"/>
              <a:buChar char="•"/>
            </a:pPr>
            <a:r>
              <a:rPr lang="en-US" sz="1045" dirty="0">
                <a:solidFill>
                  <a:srgbClr val="1B2430"/>
                </a:solidFill>
              </a:rPr>
              <a:t>Results support the proposed model for this Global Superstore implementation</a:t>
            </a:r>
            <a:endParaRPr lang="en-US" sz="1045" dirty="0"/>
          </a:p>
        </p:txBody>
      </p:sp>
      <p:sp>
        <p:nvSpPr>
          <p:cNvPr id="12" name="Shape 9"/>
          <p:cNvSpPr/>
          <p:nvPr/>
        </p:nvSpPr>
        <p:spPr>
          <a:xfrm>
            <a:off x="6172200" y="777240"/>
            <a:ext cx="2560320" cy="3703320"/>
          </a:xfrm>
          <a:prstGeom prst="rect">
            <a:avLst/>
          </a:prstGeom>
          <a:solidFill>
            <a:srgbClr val="FFFFFF"/>
          </a:solidFill>
          <a:ln w="9525">
            <a:solidFill>
              <a:srgbClr val="D5DBE1"/>
            </a:solidFill>
            <a:prstDash val="solid"/>
          </a:ln>
        </p:spPr>
      </p:sp>
      <p:sp>
        <p:nvSpPr>
          <p:cNvPr id="13" name="Shape 10"/>
          <p:cNvSpPr/>
          <p:nvPr/>
        </p:nvSpPr>
        <p:spPr>
          <a:xfrm>
            <a:off x="6172200" y="777240"/>
            <a:ext cx="64008" cy="3703320"/>
          </a:xfrm>
          <a:prstGeom prst="rect">
            <a:avLst/>
          </a:prstGeom>
          <a:solidFill>
            <a:srgbClr val="2E8B57"/>
          </a:solidFill>
          <a:ln w="12700">
            <a:solidFill>
              <a:srgbClr val="2E8B57"/>
            </a:solidFill>
            <a:prstDash val="solid"/>
          </a:ln>
        </p:spPr>
      </p:sp>
      <p:sp>
        <p:nvSpPr>
          <p:cNvPr id="14" name="Text 11"/>
          <p:cNvSpPr txBox="1"/>
          <p:nvPr/>
        </p:nvSpPr>
        <p:spPr>
          <a:xfrm>
            <a:off x="6327648" y="832104"/>
            <a:ext cx="2331720" cy="256032"/>
          </a:xfrm>
          <a:prstGeom prst="rect">
            <a:avLst/>
          </a:prstGeom>
          <a:noFill/>
          <a:ln/>
        </p:spPr>
        <p:txBody>
          <a:bodyPr wrap="square" lIns="0" tIns="0" rIns="0" bIns="0" rtlCol="0" anchor="ctr"/>
          <a:lstStyle/>
          <a:p>
            <a:pPr marL="0" indent="0">
              <a:buNone/>
            </a:pPr>
            <a:r>
              <a:rPr lang="en-US" sz="1150" b="1" dirty="0">
                <a:solidFill>
                  <a:srgbClr val="2E8B57"/>
                </a:solidFill>
              </a:rPr>
              <a:t>Future Work (not yet implemented)</a:t>
            </a:r>
            <a:endParaRPr lang="en-US" sz="1150" dirty="0"/>
          </a:p>
        </p:txBody>
      </p:sp>
      <p:sp>
        <p:nvSpPr>
          <p:cNvPr id="15" name="Text 12"/>
          <p:cNvSpPr txBox="1"/>
          <p:nvPr/>
        </p:nvSpPr>
        <p:spPr>
          <a:xfrm>
            <a:off x="6327648" y="1124712"/>
            <a:ext cx="2304288" cy="3300984"/>
          </a:xfrm>
          <a:prstGeom prst="rect">
            <a:avLst/>
          </a:prstGeom>
          <a:noFill/>
          <a:ln/>
        </p:spPr>
        <p:txBody>
          <a:bodyPr wrap="square" lIns="0" tIns="0" rIns="0" bIns="0" rtlCol="0" anchor="t"/>
          <a:lstStyle/>
          <a:p>
            <a:pPr marL="152400" indent="-152400">
              <a:spcAft>
                <a:spcPts val="400"/>
              </a:spcAft>
              <a:buSzPct val="100000"/>
              <a:buChar char="•"/>
            </a:pPr>
            <a:r>
              <a:rPr lang="en-US" sz="1045" dirty="0">
                <a:solidFill>
                  <a:srgbClr val="1B2430"/>
                </a:solidFill>
              </a:rPr>
              <a:t>Larger / more granular temporal datasets</a:t>
            </a:r>
            <a:endParaRPr lang="en-US" sz="1045" dirty="0"/>
          </a:p>
          <a:p>
            <a:pPr marL="152400" indent="-152400">
              <a:spcAft>
                <a:spcPts val="400"/>
              </a:spcAft>
              <a:buSzPct val="100000"/>
              <a:buChar char="•"/>
            </a:pPr>
            <a:r>
              <a:rPr lang="en-US" sz="1045" dirty="0">
                <a:solidFill>
                  <a:srgbClr val="1B2430"/>
                </a:solidFill>
              </a:rPr>
              <a:t>Longer forecasting horizons</a:t>
            </a:r>
            <a:endParaRPr lang="en-US" sz="1045" dirty="0"/>
          </a:p>
          <a:p>
            <a:pPr marL="152400" indent="-152400">
              <a:spcAft>
                <a:spcPts val="400"/>
              </a:spcAft>
              <a:buSzPct val="100000"/>
              <a:buChar char="•"/>
            </a:pPr>
            <a:r>
              <a:rPr lang="en-US" sz="1045" dirty="0">
                <a:solidFill>
                  <a:srgbClr val="1B2430"/>
                </a:solidFill>
              </a:rPr>
              <a:t>Recursive multi-step forecasting</a:t>
            </a:r>
            <a:endParaRPr lang="en-US" sz="1045" dirty="0"/>
          </a:p>
          <a:p>
            <a:pPr marL="152400" indent="-152400">
              <a:spcAft>
                <a:spcPts val="400"/>
              </a:spcAft>
              <a:buSzPct val="100000"/>
              <a:buChar char="•"/>
            </a:pPr>
            <a:r>
              <a:rPr lang="en-US" sz="1045" dirty="0">
                <a:solidFill>
                  <a:srgbClr val="1B2430"/>
                </a:solidFill>
              </a:rPr>
              <a:t>Advanced temporal architectures</a:t>
            </a:r>
            <a:endParaRPr lang="en-US" sz="1045" dirty="0"/>
          </a:p>
          <a:p>
            <a:pPr marL="152400" indent="-152400">
              <a:spcAft>
                <a:spcPts val="400"/>
              </a:spcAft>
              <a:buSzPct val="100000"/>
              <a:buChar char="•"/>
            </a:pPr>
            <a:r>
              <a:rPr lang="en-US" sz="1045" dirty="0">
                <a:solidFill>
                  <a:srgbClr val="1B2430"/>
                </a:solidFill>
              </a:rPr>
              <a:t>Hyperparameter optimisation</a:t>
            </a:r>
            <a:endParaRPr lang="en-US" sz="1045" dirty="0"/>
          </a:p>
          <a:p>
            <a:pPr marL="152400" indent="-152400">
              <a:spcAft>
                <a:spcPts val="400"/>
              </a:spcAft>
              <a:buSzPct val="100000"/>
              <a:buChar char="•"/>
            </a:pPr>
            <a:r>
              <a:rPr lang="en-US" sz="1045" dirty="0">
                <a:solidFill>
                  <a:srgbClr val="1B2430"/>
                </a:solidFill>
              </a:rPr>
              <a:t>Rigorous statistical significance testing</a:t>
            </a:r>
            <a:endParaRPr lang="en-US" sz="1045" dirty="0"/>
          </a:p>
          <a:p>
            <a:pPr marL="152400" indent="-152400">
              <a:spcAft>
                <a:spcPts val="400"/>
              </a:spcAft>
              <a:buSzPct val="100000"/>
              <a:buChar char="•"/>
            </a:pPr>
            <a:r>
              <a:rPr lang="en-US" sz="1045" dirty="0">
                <a:solidFill>
                  <a:srgbClr val="1B2430"/>
                </a:solidFill>
              </a:rPr>
              <a:t>External retail datasets for validation</a:t>
            </a:r>
            <a:endParaRPr lang="en-US" sz="1045" dirty="0"/>
          </a:p>
          <a:p>
            <a:pPr marL="152400" indent="-152400">
              <a:spcAft>
                <a:spcPts val="400"/>
              </a:spcAft>
              <a:buSzPct val="100000"/>
              <a:buChar char="•"/>
            </a:pPr>
            <a:r>
              <a:rPr lang="en-US" sz="1045" dirty="0">
                <a:solidFill>
                  <a:srgbClr val="1B2430"/>
                </a:solidFill>
              </a:rPr>
              <a:t>Deployment as a real-time forecasting application</a:t>
            </a:r>
            <a:endParaRPr lang="en-US" sz="1045"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11480" y="146304"/>
            <a:ext cx="8321040" cy="502920"/>
          </a:xfrm>
          <a:prstGeom prst="rect">
            <a:avLst/>
          </a:prstGeom>
          <a:noFill/>
          <a:ln/>
        </p:spPr>
        <p:txBody>
          <a:bodyPr wrap="square" lIns="0" tIns="0" rIns="0" bIns="0" rtlCol="0" anchor="ctr"/>
          <a:lstStyle/>
          <a:p>
            <a:pPr marL="0" indent="0">
              <a:buNone/>
            </a:pPr>
            <a:r>
              <a:rPr lang="en-US" sz="2200" b="1" dirty="0">
                <a:solidFill>
                  <a:srgbClr val="1F3A5F"/>
                </a:solidFill>
                <a:latin typeface="Calibri" pitchFamily="34" charset="0"/>
                <a:ea typeface="Calibri" pitchFamily="34" charset="-122"/>
                <a:cs typeface="Calibri" pitchFamily="34" charset="-120"/>
              </a:rPr>
              <a:t>References</a:t>
            </a:r>
            <a:endParaRPr lang="en-US" sz="2200" dirty="0"/>
          </a:p>
        </p:txBody>
      </p:sp>
      <p:sp>
        <p:nvSpPr>
          <p:cNvPr id="4" name="Text 1"/>
          <p:cNvSpPr txBox="1"/>
          <p:nvPr/>
        </p:nvSpPr>
        <p:spPr>
          <a:xfrm>
            <a:off x="411480" y="777240"/>
            <a:ext cx="8321040" cy="3931920"/>
          </a:xfrm>
          <a:prstGeom prst="rect">
            <a:avLst/>
          </a:prstGeom>
          <a:noFill/>
          <a:ln/>
        </p:spPr>
        <p:txBody>
          <a:bodyPr wrap="square" lIns="0" tIns="0" rIns="0" bIns="0" rtlCol="0" anchor="t"/>
          <a:lstStyle/>
          <a:p>
            <a:pPr marL="0" indent="0">
              <a:spcAft>
                <a:spcPts val="400"/>
              </a:spcAft>
              <a:buNone/>
            </a:pPr>
            <a:r>
              <a:rPr lang="en-US" sz="1100" dirty="0">
                <a:solidFill>
                  <a:srgbClr val="1B2430"/>
                </a:solidFill>
              </a:rPr>
              <a:t>1.  Punia, S., Nikolopoulos, K., Prakash Singh, S., Madaan, J. K., &amp; Litsiou, K. (2020). Deep learning with long short-term memory networks and random forests for demand forecasting in multi-channel retail. Int. J. Production Research, 58(16), 4964-4979. doi:10.1080/00207543.2020.1735666</a:t>
            </a:r>
            <a:endParaRPr lang="en-US" sz="1100" dirty="0"/>
          </a:p>
          <a:p>
            <a:pPr marL="0" indent="0">
              <a:spcAft>
                <a:spcPts val="400"/>
              </a:spcAft>
              <a:buNone/>
            </a:pPr>
            <a:r>
              <a:rPr lang="en-US" sz="1100" dirty="0">
                <a:solidFill>
                  <a:srgbClr val="1B2430"/>
                </a:solidFill>
              </a:rPr>
              <a:t>2.  Falatouri, T., Darbanian, F., Brandtner, P., &amp; Udokwu, C. (2022). Predictive analytics for demand forecasting: a comparison of SARIMA and LSTM in retail SCM. Procedia Computer Science, 200, 993-1003.</a:t>
            </a:r>
            <a:endParaRPr lang="en-US" sz="1100" dirty="0"/>
          </a:p>
          <a:p>
            <a:pPr marL="0" indent="0">
              <a:spcAft>
                <a:spcPts val="400"/>
              </a:spcAft>
              <a:buNone/>
            </a:pPr>
            <a:r>
              <a:rPr lang="en-US" sz="1100" dirty="0">
                <a:solidFill>
                  <a:srgbClr val="1B2430"/>
                </a:solidFill>
              </a:rPr>
              <a:t>3.  Yadav, P., &amp; Barde, C. R. (2025). Retail real-time sales prediction system using LSTM and XGBoost. IJARCCE, 14(4). doi:10.17148/IJARCCE.2025.14427</a:t>
            </a:r>
            <a:endParaRPr lang="en-US" sz="1100" dirty="0"/>
          </a:p>
          <a:p>
            <a:pPr marL="0" indent="0">
              <a:spcAft>
                <a:spcPts val="400"/>
              </a:spcAft>
              <a:buNone/>
            </a:pPr>
            <a:r>
              <a:rPr lang="en-US" sz="1100" dirty="0">
                <a:solidFill>
                  <a:srgbClr val="1B2430"/>
                </a:solidFill>
              </a:rPr>
              <a:t>4.  Sankar R. S., N., Nimith K. S., Sakthi Pranav S., &amp; Prajeesh C. B. (2025). Enhancing retail sales forecasting with advanced deep learning and machine learning models. 6th Int. Conf. on Control, Communication and Computing (ICCC). doi:10.1109/ICCC64910.2025.11077199</a:t>
            </a:r>
            <a:endParaRPr lang="en-US" sz="1100" dirty="0"/>
          </a:p>
          <a:p>
            <a:pPr marL="0" indent="0">
              <a:spcAft>
                <a:spcPts val="400"/>
              </a:spcAft>
              <a:buNone/>
            </a:pPr>
            <a:r>
              <a:rPr lang="en-US" sz="1100" dirty="0">
                <a:solidFill>
                  <a:srgbClr val="1B2430"/>
                </a:solidFill>
              </a:rPr>
              <a:t>5.  Bachhav, A. N. (2026). Leveraging AI-powered business intelligence for data-driven decision making in the retail industry. J. Global Research in Electronics and Communication, 2(6), 9-14.</a:t>
            </a:r>
            <a:endParaRPr lang="en-US" sz="1100" dirty="0"/>
          </a:p>
          <a:p>
            <a:pPr marL="0" indent="0">
              <a:spcAft>
                <a:spcPts val="400"/>
              </a:spcAft>
              <a:buNone/>
            </a:pPr>
            <a:r>
              <a:rPr lang="en-US" sz="1100" dirty="0">
                <a:solidFill>
                  <a:srgbClr val="1B2430"/>
                </a:solidFill>
              </a:rPr>
              <a:t>6.  Sahin, O., &amp; Cubukcu, B. (2026). A hybrid time series forecasting model combining recurrent neural networks and ensemble learning for furniture sales prediction. Ain Shams Engineering Journal, 17, 104219. doi:10.1016/j.asej.2026.104219</a:t>
            </a:r>
            <a:endParaRPr lang="en-US" sz="1100" dirty="0"/>
          </a:p>
          <a:p>
            <a:pPr marL="0" indent="0">
              <a:spcAft>
                <a:spcPts val="400"/>
              </a:spcAft>
              <a:buNone/>
            </a:pPr>
            <a:r>
              <a:rPr lang="en-US" sz="1100" dirty="0">
                <a:solidFill>
                  <a:srgbClr val="1B2430"/>
                </a:solidFill>
              </a:rPr>
              <a:t>7.  Suresh, B. S., Suresh, M., &amp; Kang, D.-K. (2026). Meta-LLSTM: meta-learning enhanced learnable LSTM for retail sales forecasting. Scientific Reports, 16, 23928. doi:10.1038/s41598-026-54836-y</a:t>
            </a:r>
            <a:endParaRPr lang="en-US" sz="1100" dirty="0"/>
          </a:p>
          <a:p>
            <a:pPr marL="0" indent="0">
              <a:spcAft>
                <a:spcPts val="400"/>
              </a:spcAft>
              <a:buNone/>
            </a:pPr>
            <a:r>
              <a:rPr lang="en-US" sz="1100" dirty="0">
                <a:solidFill>
                  <a:srgbClr val="1B2430"/>
                </a:solidFill>
              </a:rPr>
              <a:t>8.  Global Superstore dataset (Global_Superstore.csv), as used in this project; 51,290 records, 2011-2014. Original publisher not recorded in project files.</a:t>
            </a:r>
            <a:endParaRPr lang="en-US" sz="11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7A8793"/>
                </a:solidFill>
              </a:defRPr>
            </a:lvl1pPr>
          </a:lstStyle>
          <a:p>
            <a:pPr algn="r"/>
            <a:fld id="{F7021451-1387-4CA6-816F-3879F97B5CBC}" type="slidenum">
              <a:rPr lang="en-US" b="0"/>
              <a:t>32</a:t>
            </a:fld>
            <a:endParaRPr lang="en-US"/>
          </a:p>
        </p:txBody>
      </p:sp>
    </p:spTree>
  </p:cSld>
  <p:clrMapOvr>
    <a:masterClrMapping/>
  </p:clrMapOvr>
</p:sld>
</file>

<file path=ppt/theme/theme1.xml><?xml version="1.0" encoding="utf-8"?>
<a:theme xmlns:a="http://schemas.openxmlformats.org/drawingml/2006/main" name="Review3 Academic">
  <a:themeElements>
    <a:clrScheme name="Review3 Academic">
      <a:dk1>
        <a:srgbClr val="1B2430"/>
      </a:dk1>
      <a:lt1>
        <a:srgbClr val="FFFFFF"/>
      </a:lt1>
      <a:dk2>
        <a:srgbClr val="1F3A5F"/>
      </a:dk2>
      <a:lt2>
        <a:srgbClr val="F4F6F8"/>
      </a:lt2>
      <a:accent1>
        <a:srgbClr val="2E6FBA"/>
      </a:accent1>
      <a:accent2>
        <a:srgbClr val="D9822B"/>
      </a:accent2>
      <a:accent3>
        <a:srgbClr val="2E8B57"/>
      </a:accent3>
      <a:accent4>
        <a:srgbClr val="7A8793"/>
      </a:accent4>
      <a:accent5>
        <a:srgbClr val="A9C4E8"/>
      </a:accent5>
      <a:accent6>
        <a:srgbClr val="C0392B"/>
      </a:accent6>
      <a:hlink>
        <a:srgbClr val="2E6FBA"/>
      </a:hlink>
      <a:folHlink>
        <a:srgbClr val="5B6770"/>
      </a:folHlink>
    </a:clrScheme>
    <a:fontScheme name="Review3 Academi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10616</Words>
  <Application>Microsoft Office PowerPoint</Application>
  <PresentationFormat>On-screen Show (16:9)</PresentationFormat>
  <Paragraphs>909</Paragraphs>
  <Slides>32</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Review3 Academic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Review-3: Retail Analytics - Hybrid Sales Forecasting</dc:title>
  <dc:subject>PptxGenJS Presentation</dc:subject>
  <dc:creator>PptxGenJS</dc:creator>
  <cp:lastModifiedBy>Sri Hansika Saraf</cp:lastModifiedBy>
  <cp:revision>5</cp:revision>
  <dcterms:created xsi:type="dcterms:W3CDTF">2026-10-06T08:28:54Z</dcterms:created>
  <dcterms:modified xsi:type="dcterms:W3CDTF">2026-10-07T02:48:09Z</dcterms:modified>
</cp:coreProperties>
</file>