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80" r:id="rId5"/>
    <p:sldId id="281"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 Hansika Saraf" userId="853678b18a0aa9d5" providerId="LiveId" clId="{D173137B-D079-4E81-8106-2102DAC5600E}"/>
    <pc:docChg chg="modSld">
      <pc:chgData name="Sri Hansika Saraf" userId="853678b18a0aa9d5" providerId="LiveId" clId="{D173137B-D079-4E81-8106-2102DAC5600E}" dt="2026-09-19T05:37:44.475" v="3" actId="20577"/>
      <pc:docMkLst>
        <pc:docMk/>
      </pc:docMkLst>
      <pc:sldChg chg="modSp mod">
        <pc:chgData name="Sri Hansika Saraf" userId="853678b18a0aa9d5" providerId="LiveId" clId="{D173137B-D079-4E81-8106-2102DAC5600E}" dt="2026-09-19T05:37:44.475" v="3" actId="20577"/>
        <pc:sldMkLst>
          <pc:docMk/>
          <pc:sldMk cId="0" sldId="256"/>
        </pc:sldMkLst>
        <pc:spChg chg="mod">
          <ac:chgData name="Sri Hansika Saraf" userId="853678b18a0aa9d5" providerId="LiveId" clId="{D173137B-D079-4E81-8106-2102DAC5600E}" dt="2026-09-19T05:37:44.475" v="3" actId="20577"/>
          <ac:spMkLst>
            <pc:docMk/>
            <pc:sldMk cId="0" sldId="256"/>
            <ac:spMk id="4"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16264A"/>
                </a:solidFill>
                <a:latin typeface="Cambria"/>
              </a:defRPr>
            </a:pPr>
            <a:r>
              <a:rPr sz="1150" b="0" i="0" u="none" strike="noStrike">
                <a:solidFill>
                  <a:srgbClr val="16264A"/>
                </a:solidFill>
                <a:latin typeface="Cambria"/>
              </a:rPr>
              <a:t>Test-set RMSE by model (lower is better)</a:t>
            </a:r>
          </a:p>
        </c:rich>
      </c:tx>
      <c:overlay val="0"/>
    </c:title>
    <c:autoTitleDeleted val="0"/>
    <c:plotArea>
      <c:layout/>
      <c:barChart>
        <c:barDir val="col"/>
        <c:grouping val="clustered"/>
        <c:varyColors val="0"/>
        <c:ser>
          <c:idx val="0"/>
          <c:order val="0"/>
          <c:tx>
            <c:strRef>
              <c:f>Sheet1!$B$1</c:f>
              <c:strCache>
                <c:ptCount val="1"/>
                <c:pt idx="0">
                  <c:v>RMSE</c:v>
                </c:pt>
              </c:strCache>
            </c:strRef>
          </c:tx>
          <c:spPr>
            <a:solidFill>
              <a:srgbClr val="9AAFD4"/>
            </a:solidFill>
            <a:effectLst/>
          </c:spPr>
          <c:invertIfNegative val="0"/>
          <c:dPt>
            <c:idx val="0"/>
            <c:invertIfNegative val="0"/>
            <c:bubble3D val="0"/>
            <c:extLst>
              <c:ext xmlns:c16="http://schemas.microsoft.com/office/drawing/2014/chart" uri="{C3380CC4-5D6E-409C-BE32-E72D297353CC}">
                <c16:uniqueId val="{00000001-821B-4FA1-9A89-7FC31EB91DA6}"/>
              </c:ext>
            </c:extLst>
          </c:dPt>
          <c:dPt>
            <c:idx val="1"/>
            <c:invertIfNegative val="0"/>
            <c:bubble3D val="0"/>
            <c:extLst>
              <c:ext xmlns:c16="http://schemas.microsoft.com/office/drawing/2014/chart" uri="{C3380CC4-5D6E-409C-BE32-E72D297353CC}">
                <c16:uniqueId val="{00000003-821B-4FA1-9A89-7FC31EB91DA6}"/>
              </c:ext>
            </c:extLst>
          </c:dPt>
          <c:dPt>
            <c:idx val="2"/>
            <c:invertIfNegative val="0"/>
            <c:bubble3D val="0"/>
            <c:extLst>
              <c:ext xmlns:c16="http://schemas.microsoft.com/office/drawing/2014/chart" uri="{C3380CC4-5D6E-409C-BE32-E72D297353CC}">
                <c16:uniqueId val="{00000005-821B-4FA1-9A89-7FC31EB91DA6}"/>
              </c:ext>
            </c:extLst>
          </c:dPt>
          <c:dPt>
            <c:idx val="3"/>
            <c:invertIfNegative val="0"/>
            <c:bubble3D val="0"/>
            <c:spPr>
              <a:solidFill>
                <a:srgbClr val="E8A33D"/>
              </a:solidFill>
              <a:effectLst/>
            </c:spPr>
            <c:extLst>
              <c:ext xmlns:c16="http://schemas.microsoft.com/office/drawing/2014/chart" uri="{C3380CC4-5D6E-409C-BE32-E72D297353CC}">
                <c16:uniqueId val="{00000007-821B-4FA1-9A89-7FC31EB91DA6}"/>
              </c:ext>
            </c:extLst>
          </c:dPt>
          <c:dLbls>
            <c:numFmt formatCode="#,##0" sourceLinked="0"/>
            <c:spPr>
              <a:noFill/>
              <a:ln>
                <a:noFill/>
              </a:ln>
              <a:effectLst/>
            </c:spPr>
            <c:txPr>
              <a:bodyPr/>
              <a:lstStyle/>
              <a:p>
                <a:pPr>
                  <a:defRPr sz="950" b="0" i="0" u="none" strike="noStrike">
                    <a:solidFill>
                      <a:srgbClr val="1F293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Linear Reg.</c:v>
                </c:pt>
                <c:pt idx="1">
                  <c:v>Decision Tree</c:v>
                </c:pt>
                <c:pt idx="2">
                  <c:v>Random Forest</c:v>
                </c:pt>
                <c:pt idx="3">
                  <c:v>XGBoost</c:v>
                </c:pt>
              </c:strCache>
            </c:strRef>
          </c:cat>
          <c:val>
            <c:numRef>
              <c:f>Sheet1!$B$2:$B$5</c:f>
              <c:numCache>
                <c:formatCode>General</c:formatCode>
                <c:ptCount val="4"/>
                <c:pt idx="0">
                  <c:v>108.0159</c:v>
                </c:pt>
                <c:pt idx="1">
                  <c:v>69.6571</c:v>
                </c:pt>
                <c:pt idx="2">
                  <c:v>63.565600000000003</c:v>
                </c:pt>
                <c:pt idx="3">
                  <c:v>57.036799999999999</c:v>
                </c:pt>
              </c:numCache>
            </c:numRef>
          </c:val>
          <c:extLst>
            <c:ext xmlns:c16="http://schemas.microsoft.com/office/drawing/2014/chart" uri="{C3380CC4-5D6E-409C-BE32-E72D297353CC}">
              <c16:uniqueId val="{00000008-821B-4FA1-9A89-7FC31EB91DA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67085"/>
                </a:solidFill>
                <a:latin typeface="Calibri"/>
              </a:defRPr>
            </a:pPr>
            <a:endParaRPr lang="en-US"/>
          </a:p>
        </c:txPr>
        <c:crossAx val="2094734552"/>
        <c:crosses val="autoZero"/>
        <c:auto val="1"/>
        <c:lblAlgn val="ctr"/>
        <c:lblOffset val="100"/>
        <c:noMultiLvlLbl val="1"/>
      </c:catAx>
      <c:valAx>
        <c:axId val="2094734552"/>
        <c:scaling>
          <c:orientation val="minMax"/>
          <c:max val="130"/>
          <c:min val="0"/>
        </c:scaling>
        <c:delete val="0"/>
        <c:axPos val="l"/>
        <c:majorGridlines>
          <c:spPr>
            <a:ln w="12700" cap="flat">
              <a:solidFill>
                <a:srgbClr val="E6EB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667085"/>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0125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Review-2 presentation. All figures in this deck were extracted directly from the project output files (Excel outputs, model comparison files and the .pbix report definition).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count verified: raw CSV and all downstream files contain 51,290 rows. Duplicates found = 0, so no rows were dropped.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from the input/output paths declared at the top of each script.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vs capped totals were recomputed directly from Global_Superstore.csv and Feature_Engineered_Superstore.xlsx to confirm this caveat.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by comparing the INPUT_FILE constant in machine_learning.py with the output path in feature_selection.py.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should be expected to attract questions. The lifespan-from-recency issue is a genuine methodological weakness and is better acknowledged than defended.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likely examiner question. The honest answer is tree saturation beyond the capped training range.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.pbix uses the newer PBIR folder format, so the report definition is readable JSON. The DataModel part is compressed and was not decoded, so no DAX expressions are quoted.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Average RFM Score, Total CLV and Average CLV measures are hosted in the Baseline_Data table in the model. Measures can live in any table, but relocating them to RFM_Customer_Data and Customer_CLV_Data would be tidier.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Shipping Cost leakage point and the absence of a temporal split are the two most likely technical questions from a panel. Both are acknowledged rather than hidden.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Presenting limitations proactively is usually received better than having a panel surface them.</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64A"/>
        </a:solidFill>
        <a:effectLst/>
      </p:bgPr>
    </p:bg>
    <p:spTree>
      <p:nvGrpSpPr>
        <p:cNvPr id="1" name=""/>
        <p:cNvGrpSpPr/>
        <p:nvPr/>
      </p:nvGrpSpPr>
      <p:grpSpPr>
        <a:xfrm>
          <a:off x="0" y="0"/>
          <a:ext cx="0" cy="0"/>
          <a:chOff x="0" y="0"/>
          <a:chExt cx="0" cy="0"/>
        </a:xfrm>
      </p:grpSpPr>
      <p:sp>
        <p:nvSpPr>
          <p:cNvPr id="2" name="Shape 0"/>
          <p:cNvSpPr/>
          <p:nvPr/>
        </p:nvSpPr>
        <p:spPr>
          <a:xfrm>
            <a:off x="731520" y="566928"/>
            <a:ext cx="2651760" cy="347472"/>
          </a:xfrm>
          <a:prstGeom prst="roundRect">
            <a:avLst>
              <a:gd name="adj" fmla="val 26316"/>
            </a:avLst>
          </a:prstGeom>
          <a:solidFill>
            <a:srgbClr val="233A6B"/>
          </a:solidFill>
          <a:ln w="12700">
            <a:solidFill>
              <a:srgbClr val="233A6B"/>
            </a:solidFill>
            <a:prstDash val="solid"/>
          </a:ln>
        </p:spPr>
      </p:sp>
      <p:sp>
        <p:nvSpPr>
          <p:cNvPr id="3" name="Text 1"/>
          <p:cNvSpPr txBox="1"/>
          <p:nvPr/>
        </p:nvSpPr>
        <p:spPr>
          <a:xfrm>
            <a:off x="731520" y="566928"/>
            <a:ext cx="2651760" cy="347472"/>
          </a:xfrm>
          <a:prstGeom prst="rect">
            <a:avLst/>
          </a:prstGeom>
          <a:noFill/>
          <a:ln/>
        </p:spPr>
        <p:txBody>
          <a:bodyPr wrap="square" lIns="0" tIns="0" rIns="0" bIns="0" rtlCol="0" anchor="ctr"/>
          <a:lstStyle/>
          <a:p>
            <a:pPr marL="0" indent="0" algn="ctr">
              <a:buNone/>
            </a:pPr>
            <a:r>
              <a:rPr lang="en-US" sz="1150" b="1" kern="0" spc="200" dirty="0">
                <a:solidFill>
                  <a:srgbClr val="E8A33D"/>
                </a:solidFill>
                <a:latin typeface="Calibri" pitchFamily="34" charset="0"/>
                <a:ea typeface="Calibri" pitchFamily="34" charset="-122"/>
                <a:cs typeface="Calibri" pitchFamily="34" charset="-120"/>
              </a:rPr>
              <a:t>PROJECT REVIEW - 2</a:t>
            </a:r>
            <a:endParaRPr lang="en-US" sz="1150" dirty="0"/>
          </a:p>
        </p:txBody>
      </p:sp>
      <p:sp>
        <p:nvSpPr>
          <p:cNvPr id="4" name="Text 2"/>
          <p:cNvSpPr txBox="1"/>
          <p:nvPr/>
        </p:nvSpPr>
        <p:spPr>
          <a:xfrm>
            <a:off x="731520" y="1234440"/>
            <a:ext cx="10424160" cy="1600200"/>
          </a:xfrm>
          <a:prstGeom prst="rect">
            <a:avLst/>
          </a:prstGeom>
          <a:noFill/>
          <a:ln/>
        </p:spPr>
        <p:txBody>
          <a:bodyPr wrap="square" lIns="0" tIns="0" rIns="0" bIns="0" rtlCol="0" anchor="ctr"/>
          <a:lstStyle/>
          <a:p>
            <a:pPr marL="0" indent="0">
              <a:lnSpc>
                <a:spcPts val="4600"/>
              </a:lnSpc>
              <a:buNone/>
            </a:pPr>
            <a:r>
              <a:rPr lang="en-US" sz="3900" b="1" dirty="0">
                <a:solidFill>
                  <a:srgbClr val="FFFFFF"/>
                </a:solidFill>
                <a:latin typeface="Cambria" pitchFamily="34" charset="0"/>
                <a:ea typeface="Cambria" pitchFamily="34" charset="-122"/>
                <a:cs typeface="Cambria" pitchFamily="34" charset="-120"/>
              </a:rPr>
              <a:t>Retail Analytics Using Machine Learning,</a:t>
            </a:r>
            <a:endParaRPr lang="en-US" sz="3900" dirty="0"/>
          </a:p>
          <a:p>
            <a:pPr marL="0" indent="0">
              <a:lnSpc>
                <a:spcPts val="4600"/>
              </a:lnSpc>
              <a:buNone/>
            </a:pPr>
            <a:r>
              <a:rPr lang="en-US" sz="3900" b="1" dirty="0">
                <a:solidFill>
                  <a:srgbClr val="FFFFFF"/>
                </a:solidFill>
                <a:latin typeface="Cambria" pitchFamily="34" charset="0"/>
                <a:ea typeface="Cambria" pitchFamily="34" charset="-122"/>
                <a:cs typeface="Cambria" pitchFamily="34" charset="-120"/>
              </a:rPr>
              <a:t>Customer Intelligence.</a:t>
            </a:r>
            <a:endParaRPr lang="en-US" sz="3900" dirty="0"/>
          </a:p>
        </p:txBody>
      </p:sp>
      <p:sp>
        <p:nvSpPr>
          <p:cNvPr id="5" name="Text 3"/>
          <p:cNvSpPr txBox="1"/>
          <p:nvPr/>
        </p:nvSpPr>
        <p:spPr>
          <a:xfrm>
            <a:off x="731520" y="2971800"/>
            <a:ext cx="9692640" cy="868680"/>
          </a:xfrm>
          <a:prstGeom prst="rect">
            <a:avLst/>
          </a:prstGeom>
          <a:noFill/>
          <a:ln/>
        </p:spPr>
        <p:txBody>
          <a:bodyPr wrap="square" lIns="0" tIns="0" rIns="0" bIns="0" rtlCol="0" anchor="ctr"/>
          <a:lstStyle/>
          <a:p>
            <a:pPr marL="0" indent="0">
              <a:lnSpc>
                <a:spcPts val="2100"/>
              </a:lnSpc>
              <a:buNone/>
            </a:pPr>
            <a:r>
              <a:rPr lang="en-US" sz="1400" dirty="0">
                <a:solidFill>
                  <a:srgbClr val="CADCFC"/>
                </a:solidFill>
                <a:latin typeface="Calibri" pitchFamily="34" charset="0"/>
                <a:ea typeface="Calibri" pitchFamily="34" charset="-122"/>
                <a:cs typeface="Calibri" pitchFamily="34" charset="-120"/>
              </a:rPr>
              <a:t>An end-to-end analytics pipeline on the Global Superstore dataset: preprocessing, EDA, feature engineering, regression modelling, RFM segmentation, CLV estimation, scenario simulation and an interactive Power BI dashboard.</a:t>
            </a:r>
            <a:endParaRPr lang="en-US" sz="1400" dirty="0"/>
          </a:p>
        </p:txBody>
      </p:sp>
      <p:sp>
        <p:nvSpPr>
          <p:cNvPr id="6" name="Shape 4"/>
          <p:cNvSpPr/>
          <p:nvPr/>
        </p:nvSpPr>
        <p:spPr>
          <a:xfrm>
            <a:off x="731520" y="4160520"/>
            <a:ext cx="2468880" cy="1051560"/>
          </a:xfrm>
          <a:prstGeom prst="roundRect">
            <a:avLst>
              <a:gd name="adj" fmla="val 6087"/>
            </a:avLst>
          </a:prstGeom>
          <a:solidFill>
            <a:srgbClr val="233A6B"/>
          </a:solidFill>
          <a:ln w="12700">
            <a:solidFill>
              <a:srgbClr val="233A6B"/>
            </a:solidFill>
            <a:prstDash val="solid"/>
          </a:ln>
        </p:spPr>
      </p:sp>
      <p:sp>
        <p:nvSpPr>
          <p:cNvPr id="7" name="Text 5"/>
          <p:cNvSpPr txBox="1"/>
          <p:nvPr/>
        </p:nvSpPr>
        <p:spPr>
          <a:xfrm>
            <a:off x="731520" y="4261104"/>
            <a:ext cx="2468880" cy="457200"/>
          </a:xfrm>
          <a:prstGeom prst="rect">
            <a:avLst/>
          </a:prstGeom>
          <a:noFill/>
          <a:ln/>
        </p:spPr>
        <p:txBody>
          <a:bodyPr wrap="square" lIns="0" tIns="0" rIns="0" bIns="0" rtlCol="0" anchor="ctr"/>
          <a:lstStyle/>
          <a:p>
            <a:pPr marL="0" indent="0" algn="ctr">
              <a:buNone/>
            </a:pPr>
            <a:r>
              <a:rPr lang="en-US" sz="2400" b="1" dirty="0">
                <a:solidFill>
                  <a:srgbClr val="E8A33D"/>
                </a:solidFill>
                <a:latin typeface="Cambria" pitchFamily="34" charset="0"/>
                <a:ea typeface="Cambria" pitchFamily="34" charset="-122"/>
                <a:cs typeface="Cambria" pitchFamily="34" charset="-120"/>
              </a:rPr>
              <a:t>51,290</a:t>
            </a:r>
            <a:endParaRPr lang="en-US" sz="2400" dirty="0"/>
          </a:p>
        </p:txBody>
      </p:sp>
      <p:sp>
        <p:nvSpPr>
          <p:cNvPr id="8" name="Text 6"/>
          <p:cNvSpPr txBox="1"/>
          <p:nvPr/>
        </p:nvSpPr>
        <p:spPr>
          <a:xfrm>
            <a:off x="731520" y="4718304"/>
            <a:ext cx="2468880" cy="320040"/>
          </a:xfrm>
          <a:prstGeom prst="rect">
            <a:avLst/>
          </a:prstGeom>
          <a:noFill/>
          <a:ln/>
        </p:spPr>
        <p:txBody>
          <a:bodyPr wrap="square" lIns="0" tIns="0" rIns="0" bIns="0"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Transaction records</a:t>
            </a:r>
            <a:endParaRPr lang="en-US" sz="1100" dirty="0"/>
          </a:p>
        </p:txBody>
      </p:sp>
      <p:sp>
        <p:nvSpPr>
          <p:cNvPr id="9" name="Shape 7"/>
          <p:cNvSpPr/>
          <p:nvPr/>
        </p:nvSpPr>
        <p:spPr>
          <a:xfrm>
            <a:off x="3429000" y="4160520"/>
            <a:ext cx="2468880" cy="1051560"/>
          </a:xfrm>
          <a:prstGeom prst="roundRect">
            <a:avLst>
              <a:gd name="adj" fmla="val 6087"/>
            </a:avLst>
          </a:prstGeom>
          <a:solidFill>
            <a:srgbClr val="233A6B"/>
          </a:solidFill>
          <a:ln w="12700">
            <a:solidFill>
              <a:srgbClr val="233A6B"/>
            </a:solidFill>
            <a:prstDash val="solid"/>
          </a:ln>
        </p:spPr>
      </p:sp>
      <p:sp>
        <p:nvSpPr>
          <p:cNvPr id="10" name="Text 8"/>
          <p:cNvSpPr txBox="1"/>
          <p:nvPr/>
        </p:nvSpPr>
        <p:spPr>
          <a:xfrm>
            <a:off x="3429000" y="4261104"/>
            <a:ext cx="2468880" cy="457200"/>
          </a:xfrm>
          <a:prstGeom prst="rect">
            <a:avLst/>
          </a:prstGeom>
          <a:noFill/>
          <a:ln/>
        </p:spPr>
        <p:txBody>
          <a:bodyPr wrap="square" lIns="0" tIns="0" rIns="0" bIns="0" rtlCol="0" anchor="ctr"/>
          <a:lstStyle/>
          <a:p>
            <a:pPr marL="0" indent="0" algn="ctr">
              <a:buNone/>
            </a:pPr>
            <a:r>
              <a:rPr lang="en-US" sz="2400" b="1" dirty="0">
                <a:solidFill>
                  <a:srgbClr val="E8A33D"/>
                </a:solidFill>
                <a:latin typeface="Cambria" pitchFamily="34" charset="0"/>
                <a:ea typeface="Cambria" pitchFamily="34" charset="-122"/>
                <a:cs typeface="Cambria" pitchFamily="34" charset="-120"/>
              </a:rPr>
              <a:t>4</a:t>
            </a:r>
            <a:endParaRPr lang="en-US" sz="2400" dirty="0"/>
          </a:p>
        </p:txBody>
      </p:sp>
      <p:sp>
        <p:nvSpPr>
          <p:cNvPr id="11" name="Text 9"/>
          <p:cNvSpPr txBox="1"/>
          <p:nvPr/>
        </p:nvSpPr>
        <p:spPr>
          <a:xfrm>
            <a:off x="3429000" y="4718304"/>
            <a:ext cx="2468880" cy="320040"/>
          </a:xfrm>
          <a:prstGeom prst="rect">
            <a:avLst/>
          </a:prstGeom>
          <a:noFill/>
          <a:ln/>
        </p:spPr>
        <p:txBody>
          <a:bodyPr wrap="square" lIns="0" tIns="0" rIns="0" bIns="0"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Regression models</a:t>
            </a:r>
            <a:endParaRPr lang="en-US" sz="1100" dirty="0"/>
          </a:p>
        </p:txBody>
      </p:sp>
      <p:sp>
        <p:nvSpPr>
          <p:cNvPr id="12" name="Shape 10"/>
          <p:cNvSpPr/>
          <p:nvPr/>
        </p:nvSpPr>
        <p:spPr>
          <a:xfrm>
            <a:off x="6126480" y="4160520"/>
            <a:ext cx="2468880" cy="1051560"/>
          </a:xfrm>
          <a:prstGeom prst="roundRect">
            <a:avLst>
              <a:gd name="adj" fmla="val 6087"/>
            </a:avLst>
          </a:prstGeom>
          <a:solidFill>
            <a:srgbClr val="233A6B"/>
          </a:solidFill>
          <a:ln w="12700">
            <a:solidFill>
              <a:srgbClr val="233A6B"/>
            </a:solidFill>
            <a:prstDash val="solid"/>
          </a:ln>
        </p:spPr>
      </p:sp>
      <p:sp>
        <p:nvSpPr>
          <p:cNvPr id="13" name="Text 11"/>
          <p:cNvSpPr txBox="1"/>
          <p:nvPr/>
        </p:nvSpPr>
        <p:spPr>
          <a:xfrm>
            <a:off x="6126480" y="4261104"/>
            <a:ext cx="2468880" cy="457200"/>
          </a:xfrm>
          <a:prstGeom prst="rect">
            <a:avLst/>
          </a:prstGeom>
          <a:noFill/>
          <a:ln/>
        </p:spPr>
        <p:txBody>
          <a:bodyPr wrap="square" lIns="0" tIns="0" rIns="0" bIns="0" rtlCol="0" anchor="ctr"/>
          <a:lstStyle/>
          <a:p>
            <a:pPr marL="0" indent="0" algn="ctr">
              <a:buNone/>
            </a:pPr>
            <a:r>
              <a:rPr lang="en-US" sz="2400" b="1" dirty="0">
                <a:solidFill>
                  <a:srgbClr val="E8A33D"/>
                </a:solidFill>
                <a:latin typeface="Cambria" pitchFamily="34" charset="0"/>
                <a:ea typeface="Cambria" pitchFamily="34" charset="-122"/>
                <a:cs typeface="Cambria" pitchFamily="34" charset="-120"/>
              </a:rPr>
              <a:t>1,590</a:t>
            </a:r>
            <a:endParaRPr lang="en-US" sz="2400" dirty="0"/>
          </a:p>
        </p:txBody>
      </p:sp>
      <p:sp>
        <p:nvSpPr>
          <p:cNvPr id="14" name="Text 12"/>
          <p:cNvSpPr txBox="1"/>
          <p:nvPr/>
        </p:nvSpPr>
        <p:spPr>
          <a:xfrm>
            <a:off x="6126480" y="4718304"/>
            <a:ext cx="2468880" cy="320040"/>
          </a:xfrm>
          <a:prstGeom prst="rect">
            <a:avLst/>
          </a:prstGeom>
          <a:noFill/>
          <a:ln/>
        </p:spPr>
        <p:txBody>
          <a:bodyPr wrap="square" lIns="0" tIns="0" rIns="0" bIns="0"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Customers profiled</a:t>
            </a:r>
            <a:endParaRPr lang="en-US" sz="1100" dirty="0"/>
          </a:p>
        </p:txBody>
      </p:sp>
      <p:sp>
        <p:nvSpPr>
          <p:cNvPr id="15" name="Shape 13"/>
          <p:cNvSpPr/>
          <p:nvPr/>
        </p:nvSpPr>
        <p:spPr>
          <a:xfrm>
            <a:off x="8823960" y="4160520"/>
            <a:ext cx="2468880" cy="1051560"/>
          </a:xfrm>
          <a:prstGeom prst="roundRect">
            <a:avLst>
              <a:gd name="adj" fmla="val 6087"/>
            </a:avLst>
          </a:prstGeom>
          <a:solidFill>
            <a:srgbClr val="233A6B"/>
          </a:solidFill>
          <a:ln w="12700">
            <a:solidFill>
              <a:srgbClr val="233A6B"/>
            </a:solidFill>
            <a:prstDash val="solid"/>
          </a:ln>
        </p:spPr>
      </p:sp>
      <p:sp>
        <p:nvSpPr>
          <p:cNvPr id="16" name="Text 14"/>
          <p:cNvSpPr txBox="1"/>
          <p:nvPr/>
        </p:nvSpPr>
        <p:spPr>
          <a:xfrm>
            <a:off x="8823960" y="4261104"/>
            <a:ext cx="2468880" cy="457200"/>
          </a:xfrm>
          <a:prstGeom prst="rect">
            <a:avLst/>
          </a:prstGeom>
          <a:noFill/>
          <a:ln/>
        </p:spPr>
        <p:txBody>
          <a:bodyPr wrap="square" lIns="0" tIns="0" rIns="0" bIns="0" rtlCol="0" anchor="ctr"/>
          <a:lstStyle/>
          <a:p>
            <a:pPr marL="0" indent="0" algn="ctr">
              <a:buNone/>
            </a:pPr>
            <a:r>
              <a:rPr lang="en-US" sz="2400" b="1" dirty="0">
                <a:solidFill>
                  <a:srgbClr val="E8A33D"/>
                </a:solidFill>
                <a:latin typeface="Cambria" pitchFamily="34" charset="0"/>
                <a:ea typeface="Cambria" pitchFamily="34" charset="-122"/>
                <a:cs typeface="Cambria" pitchFamily="34" charset="-120"/>
              </a:rPr>
              <a:t>6</a:t>
            </a:r>
            <a:endParaRPr lang="en-US" sz="2400" dirty="0"/>
          </a:p>
        </p:txBody>
      </p:sp>
      <p:sp>
        <p:nvSpPr>
          <p:cNvPr id="17" name="Text 15"/>
          <p:cNvSpPr txBox="1"/>
          <p:nvPr/>
        </p:nvSpPr>
        <p:spPr>
          <a:xfrm>
            <a:off x="8823960" y="4718304"/>
            <a:ext cx="2468880" cy="320040"/>
          </a:xfrm>
          <a:prstGeom prst="rect">
            <a:avLst/>
          </a:prstGeom>
          <a:noFill/>
          <a:ln/>
        </p:spPr>
        <p:txBody>
          <a:bodyPr wrap="square" lIns="0" tIns="0" rIns="0" bIns="0"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Dashboard pages</a:t>
            </a:r>
            <a:endParaRPr lang="en-US" sz="1100" dirty="0"/>
          </a:p>
        </p:txBody>
      </p:sp>
      <p:sp>
        <p:nvSpPr>
          <p:cNvPr id="18" name="Text 16"/>
          <p:cNvSpPr txBox="1"/>
          <p:nvPr/>
        </p:nvSpPr>
        <p:spPr>
          <a:xfrm>
            <a:off x="731520" y="5623560"/>
            <a:ext cx="10424160" cy="320040"/>
          </a:xfrm>
          <a:prstGeom prst="rect">
            <a:avLst/>
          </a:prstGeom>
          <a:noFill/>
          <a:ln/>
        </p:spPr>
        <p:txBody>
          <a:bodyPr wrap="square" lIns="0" tIns="0" rIns="0" bIns="0" rtlCol="0" anchor="ctr"/>
          <a:lstStyle/>
          <a:p>
            <a:pPr marL="0" indent="0">
              <a:buNone/>
            </a:pPr>
            <a:r>
              <a:rPr lang="en-US" sz="1150" dirty="0">
                <a:solidFill>
                  <a:srgbClr val="8FA3CC"/>
                </a:solidFill>
                <a:latin typeface="Calibri" pitchFamily="34" charset="0"/>
                <a:ea typeface="Calibri" pitchFamily="34" charset="-122"/>
                <a:cs typeface="Calibri" pitchFamily="34" charset="-120"/>
              </a:rPr>
              <a:t>Dataset: Global Superstore (2011-2014)  |  Tools: Python, scikit-learn, XGBoost, MySQL, Power BI</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66928"/>
          </a:xfrm>
          <a:prstGeom prst="rect">
            <a:avLst/>
          </a:prstGeom>
          <a:noFill/>
          <a:ln/>
        </p:spPr>
        <p:txBody>
          <a:bodyPr wrap="square" lIns="0" tIns="0" rIns="0" bIns="0" rtlCol="0" anchor="ctr"/>
          <a:lstStyle/>
          <a:p>
            <a:pPr marL="0" indent="0">
              <a:buNone/>
            </a:pPr>
            <a:r>
              <a:rPr lang="en-US" sz="3000" b="1" dirty="0">
                <a:solidFill>
                  <a:srgbClr val="16264A"/>
                </a:solidFill>
                <a:latin typeface="Cambria" pitchFamily="34" charset="0"/>
                <a:ea typeface="Cambria" pitchFamily="34" charset="-122"/>
                <a:cs typeface="Cambria" pitchFamily="34" charset="-120"/>
              </a:rPr>
              <a:t>Project Overview and Dataset</a:t>
            </a:r>
            <a:endParaRPr lang="en-US" sz="3000" dirty="0"/>
          </a:p>
        </p:txBody>
      </p:sp>
      <p:sp>
        <p:nvSpPr>
          <p:cNvPr id="3" name="Text 1"/>
          <p:cNvSpPr txBox="1"/>
          <p:nvPr/>
        </p:nvSpPr>
        <p:spPr>
          <a:xfrm>
            <a:off x="502920" y="896112"/>
            <a:ext cx="11155680" cy="329184"/>
          </a:xfrm>
          <a:prstGeom prst="rect">
            <a:avLst/>
          </a:prstGeom>
          <a:noFill/>
          <a:ln/>
        </p:spPr>
        <p:txBody>
          <a:bodyPr wrap="square" lIns="0" tIns="0" rIns="0" bIns="0" rtlCol="0" anchor="ctr"/>
          <a:lstStyle/>
          <a:p>
            <a:pPr marL="0" indent="0">
              <a:buNone/>
            </a:pPr>
            <a:r>
              <a:rPr lang="en-US" sz="1300" i="1" dirty="0">
                <a:solidFill>
                  <a:srgbClr val="667085"/>
                </a:solidFill>
                <a:latin typeface="Calibri" pitchFamily="34" charset="0"/>
                <a:ea typeface="Calibri" pitchFamily="34" charset="-122"/>
                <a:cs typeface="Calibri" pitchFamily="34" charset="-120"/>
              </a:rPr>
              <a:t>Global Superstore transactional retail data, 2011-2014</a:t>
            </a:r>
            <a:endParaRPr lang="en-US" sz="1300" dirty="0"/>
          </a:p>
        </p:txBody>
      </p:sp>
      <p:sp>
        <p:nvSpPr>
          <p:cNvPr id="4" name="Shape 2"/>
          <p:cNvSpPr/>
          <p:nvPr/>
        </p:nvSpPr>
        <p:spPr>
          <a:xfrm>
            <a:off x="502920" y="1371600"/>
            <a:ext cx="2651760" cy="1024128"/>
          </a:xfrm>
          <a:prstGeom prst="roundRect">
            <a:avLst>
              <a:gd name="adj" fmla="val 5357"/>
            </a:avLst>
          </a:prstGeom>
          <a:solidFill>
            <a:srgbClr val="F4F6FA"/>
          </a:solidFill>
          <a:ln w="12700">
            <a:solidFill>
              <a:srgbClr val="F4F6FA"/>
            </a:solidFill>
            <a:prstDash val="solid"/>
          </a:ln>
        </p:spPr>
      </p:sp>
      <p:sp>
        <p:nvSpPr>
          <p:cNvPr id="5" name="Text 3"/>
          <p:cNvSpPr txBox="1"/>
          <p:nvPr/>
        </p:nvSpPr>
        <p:spPr>
          <a:xfrm>
            <a:off x="502920" y="1472184"/>
            <a:ext cx="2651760" cy="457200"/>
          </a:xfrm>
          <a:prstGeom prst="rect">
            <a:avLst/>
          </a:prstGeom>
          <a:noFill/>
          <a:ln/>
        </p:spPr>
        <p:txBody>
          <a:bodyPr wrap="square" lIns="0" tIns="0" rIns="0" bIns="0" rtlCol="0" anchor="ctr"/>
          <a:lstStyle/>
          <a:p>
            <a:pPr marL="0" indent="0" algn="ctr">
              <a:buNone/>
            </a:pPr>
            <a:r>
              <a:rPr lang="en-US" sz="2500" b="1" dirty="0">
                <a:solidFill>
                  <a:srgbClr val="16264A"/>
                </a:solidFill>
                <a:latin typeface="Cambria" pitchFamily="34" charset="0"/>
                <a:ea typeface="Cambria" pitchFamily="34" charset="-122"/>
                <a:cs typeface="Cambria" pitchFamily="34" charset="-120"/>
              </a:rPr>
              <a:t>51,290</a:t>
            </a:r>
            <a:endParaRPr lang="en-US" sz="2500" dirty="0"/>
          </a:p>
        </p:txBody>
      </p:sp>
      <p:sp>
        <p:nvSpPr>
          <p:cNvPr id="6" name="Text 4"/>
          <p:cNvSpPr txBox="1"/>
          <p:nvPr/>
        </p:nvSpPr>
        <p:spPr>
          <a:xfrm>
            <a:off x="502920" y="1975104"/>
            <a:ext cx="2651760" cy="310896"/>
          </a:xfrm>
          <a:prstGeom prst="rect">
            <a:avLst/>
          </a:prstGeom>
          <a:noFill/>
          <a:ln/>
        </p:spPr>
        <p:txBody>
          <a:bodyPr wrap="square" lIns="0" tIns="0" rIns="0" bIns="0" rtlCol="0" anchor="ctr"/>
          <a:lstStyle/>
          <a:p>
            <a:pPr marL="0" indent="0" algn="ctr">
              <a:buNone/>
            </a:pPr>
            <a:r>
              <a:rPr lang="en-US" sz="1050" dirty="0">
                <a:solidFill>
                  <a:srgbClr val="667085"/>
                </a:solidFill>
                <a:latin typeface="Calibri" pitchFamily="34" charset="0"/>
                <a:ea typeface="Calibri" pitchFamily="34" charset="-122"/>
                <a:cs typeface="Calibri" pitchFamily="34" charset="-120"/>
              </a:rPr>
              <a:t>Rows (raw and retained)</a:t>
            </a:r>
            <a:endParaRPr lang="en-US" sz="1050" dirty="0"/>
          </a:p>
        </p:txBody>
      </p:sp>
      <p:sp>
        <p:nvSpPr>
          <p:cNvPr id="7" name="Shape 5"/>
          <p:cNvSpPr/>
          <p:nvPr/>
        </p:nvSpPr>
        <p:spPr>
          <a:xfrm>
            <a:off x="3319272" y="1371600"/>
            <a:ext cx="2651760" cy="1024128"/>
          </a:xfrm>
          <a:prstGeom prst="roundRect">
            <a:avLst>
              <a:gd name="adj" fmla="val 5357"/>
            </a:avLst>
          </a:prstGeom>
          <a:solidFill>
            <a:srgbClr val="F4F6FA"/>
          </a:solidFill>
          <a:ln w="12700">
            <a:solidFill>
              <a:srgbClr val="F4F6FA"/>
            </a:solidFill>
            <a:prstDash val="solid"/>
          </a:ln>
        </p:spPr>
      </p:sp>
      <p:sp>
        <p:nvSpPr>
          <p:cNvPr id="8" name="Text 6"/>
          <p:cNvSpPr txBox="1"/>
          <p:nvPr/>
        </p:nvSpPr>
        <p:spPr>
          <a:xfrm>
            <a:off x="3319272" y="1472184"/>
            <a:ext cx="2651760" cy="457200"/>
          </a:xfrm>
          <a:prstGeom prst="rect">
            <a:avLst/>
          </a:prstGeom>
          <a:noFill/>
          <a:ln/>
        </p:spPr>
        <p:txBody>
          <a:bodyPr wrap="square" lIns="0" tIns="0" rIns="0" bIns="0" rtlCol="0" anchor="ctr"/>
          <a:lstStyle/>
          <a:p>
            <a:pPr marL="0" indent="0" algn="ctr">
              <a:buNone/>
            </a:pPr>
            <a:r>
              <a:rPr lang="en-US" sz="2500" b="1" dirty="0">
                <a:solidFill>
                  <a:srgbClr val="16264A"/>
                </a:solidFill>
                <a:latin typeface="Cambria" pitchFamily="34" charset="0"/>
                <a:ea typeface="Cambria" pitchFamily="34" charset="-122"/>
                <a:cs typeface="Cambria" pitchFamily="34" charset="-120"/>
              </a:rPr>
              <a:t>24 to 51</a:t>
            </a:r>
            <a:endParaRPr lang="en-US" sz="2500" dirty="0"/>
          </a:p>
        </p:txBody>
      </p:sp>
      <p:sp>
        <p:nvSpPr>
          <p:cNvPr id="9" name="Text 7"/>
          <p:cNvSpPr txBox="1"/>
          <p:nvPr/>
        </p:nvSpPr>
        <p:spPr>
          <a:xfrm>
            <a:off x="3319272" y="1975104"/>
            <a:ext cx="2651760" cy="310896"/>
          </a:xfrm>
          <a:prstGeom prst="rect">
            <a:avLst/>
          </a:prstGeom>
          <a:noFill/>
          <a:ln/>
        </p:spPr>
        <p:txBody>
          <a:bodyPr wrap="square" lIns="0" tIns="0" rIns="0" bIns="0" rtlCol="0" anchor="ctr"/>
          <a:lstStyle/>
          <a:p>
            <a:pPr marL="0" indent="0" algn="ctr">
              <a:buNone/>
            </a:pPr>
            <a:r>
              <a:rPr lang="en-US" sz="1050" dirty="0">
                <a:solidFill>
                  <a:srgbClr val="667085"/>
                </a:solidFill>
                <a:latin typeface="Calibri" pitchFamily="34" charset="0"/>
                <a:ea typeface="Calibri" pitchFamily="34" charset="-122"/>
                <a:cs typeface="Calibri" pitchFamily="34" charset="-120"/>
              </a:rPr>
              <a:t>Columns: raw to engineered</a:t>
            </a:r>
            <a:endParaRPr lang="en-US" sz="1050" dirty="0"/>
          </a:p>
        </p:txBody>
      </p:sp>
      <p:sp>
        <p:nvSpPr>
          <p:cNvPr id="10" name="Shape 8"/>
          <p:cNvSpPr/>
          <p:nvPr/>
        </p:nvSpPr>
        <p:spPr>
          <a:xfrm>
            <a:off x="6135624" y="1371600"/>
            <a:ext cx="2651760" cy="1024128"/>
          </a:xfrm>
          <a:prstGeom prst="roundRect">
            <a:avLst>
              <a:gd name="adj" fmla="val 5357"/>
            </a:avLst>
          </a:prstGeom>
          <a:solidFill>
            <a:srgbClr val="F4F6FA"/>
          </a:solidFill>
          <a:ln w="12700">
            <a:solidFill>
              <a:srgbClr val="F4F6FA"/>
            </a:solidFill>
            <a:prstDash val="solid"/>
          </a:ln>
        </p:spPr>
      </p:sp>
      <p:sp>
        <p:nvSpPr>
          <p:cNvPr id="11" name="Text 9"/>
          <p:cNvSpPr txBox="1"/>
          <p:nvPr/>
        </p:nvSpPr>
        <p:spPr>
          <a:xfrm>
            <a:off x="6135624" y="1472184"/>
            <a:ext cx="2651760" cy="457200"/>
          </a:xfrm>
          <a:prstGeom prst="rect">
            <a:avLst/>
          </a:prstGeom>
          <a:noFill/>
          <a:ln/>
        </p:spPr>
        <p:txBody>
          <a:bodyPr wrap="square" lIns="0" tIns="0" rIns="0" bIns="0" rtlCol="0" anchor="ctr"/>
          <a:lstStyle/>
          <a:p>
            <a:pPr marL="0" indent="0" algn="ctr">
              <a:buNone/>
            </a:pPr>
            <a:r>
              <a:rPr lang="en-US" sz="2500" b="1" dirty="0">
                <a:solidFill>
                  <a:srgbClr val="16264A"/>
                </a:solidFill>
                <a:latin typeface="Cambria" pitchFamily="34" charset="0"/>
                <a:ea typeface="Cambria" pitchFamily="34" charset="-122"/>
                <a:cs typeface="Cambria" pitchFamily="34" charset="-120"/>
              </a:rPr>
              <a:t>25,035</a:t>
            </a:r>
            <a:endParaRPr lang="en-US" sz="2500" dirty="0"/>
          </a:p>
        </p:txBody>
      </p:sp>
      <p:sp>
        <p:nvSpPr>
          <p:cNvPr id="12" name="Text 10"/>
          <p:cNvSpPr txBox="1"/>
          <p:nvPr/>
        </p:nvSpPr>
        <p:spPr>
          <a:xfrm>
            <a:off x="6135624" y="1975104"/>
            <a:ext cx="2651760" cy="310896"/>
          </a:xfrm>
          <a:prstGeom prst="rect">
            <a:avLst/>
          </a:prstGeom>
          <a:noFill/>
          <a:ln/>
        </p:spPr>
        <p:txBody>
          <a:bodyPr wrap="square" lIns="0" tIns="0" rIns="0" bIns="0" rtlCol="0" anchor="ctr"/>
          <a:lstStyle/>
          <a:p>
            <a:pPr marL="0" indent="0" algn="ctr">
              <a:buNone/>
            </a:pPr>
            <a:r>
              <a:rPr lang="en-US" sz="1050" dirty="0">
                <a:solidFill>
                  <a:srgbClr val="667085"/>
                </a:solidFill>
                <a:latin typeface="Calibri" pitchFamily="34" charset="0"/>
                <a:ea typeface="Calibri" pitchFamily="34" charset="-122"/>
                <a:cs typeface="Calibri" pitchFamily="34" charset="-120"/>
              </a:rPr>
              <a:t>Unique orders</a:t>
            </a:r>
            <a:endParaRPr lang="en-US" sz="1050" dirty="0"/>
          </a:p>
        </p:txBody>
      </p:sp>
      <p:sp>
        <p:nvSpPr>
          <p:cNvPr id="13" name="Shape 11"/>
          <p:cNvSpPr/>
          <p:nvPr/>
        </p:nvSpPr>
        <p:spPr>
          <a:xfrm>
            <a:off x="8951976" y="1371600"/>
            <a:ext cx="2651760" cy="1024128"/>
          </a:xfrm>
          <a:prstGeom prst="roundRect">
            <a:avLst>
              <a:gd name="adj" fmla="val 5357"/>
            </a:avLst>
          </a:prstGeom>
          <a:solidFill>
            <a:srgbClr val="F4F6FA"/>
          </a:solidFill>
          <a:ln w="12700">
            <a:solidFill>
              <a:srgbClr val="F4F6FA"/>
            </a:solidFill>
            <a:prstDash val="solid"/>
          </a:ln>
        </p:spPr>
      </p:sp>
      <p:sp>
        <p:nvSpPr>
          <p:cNvPr id="14" name="Text 12"/>
          <p:cNvSpPr txBox="1"/>
          <p:nvPr/>
        </p:nvSpPr>
        <p:spPr>
          <a:xfrm>
            <a:off x="8951976" y="1472184"/>
            <a:ext cx="2651760" cy="457200"/>
          </a:xfrm>
          <a:prstGeom prst="rect">
            <a:avLst/>
          </a:prstGeom>
          <a:noFill/>
          <a:ln/>
        </p:spPr>
        <p:txBody>
          <a:bodyPr wrap="square" lIns="0" tIns="0" rIns="0" bIns="0" rtlCol="0" anchor="ctr"/>
          <a:lstStyle/>
          <a:p>
            <a:pPr marL="0" indent="0" algn="ctr">
              <a:buNone/>
            </a:pPr>
            <a:r>
              <a:rPr lang="en-US" sz="2500" b="1" dirty="0">
                <a:solidFill>
                  <a:srgbClr val="16264A"/>
                </a:solidFill>
                <a:latin typeface="Cambria" pitchFamily="34" charset="0"/>
                <a:ea typeface="Cambria" pitchFamily="34" charset="-122"/>
                <a:cs typeface="Cambria" pitchFamily="34" charset="-120"/>
              </a:rPr>
              <a:t>1,590</a:t>
            </a:r>
            <a:endParaRPr lang="en-US" sz="2500" dirty="0"/>
          </a:p>
        </p:txBody>
      </p:sp>
      <p:sp>
        <p:nvSpPr>
          <p:cNvPr id="15" name="Text 13"/>
          <p:cNvSpPr txBox="1"/>
          <p:nvPr/>
        </p:nvSpPr>
        <p:spPr>
          <a:xfrm>
            <a:off x="8951976" y="1975104"/>
            <a:ext cx="2651760" cy="310896"/>
          </a:xfrm>
          <a:prstGeom prst="rect">
            <a:avLst/>
          </a:prstGeom>
          <a:noFill/>
          <a:ln/>
        </p:spPr>
        <p:txBody>
          <a:bodyPr wrap="square" lIns="0" tIns="0" rIns="0" bIns="0" rtlCol="0" anchor="ctr"/>
          <a:lstStyle/>
          <a:p>
            <a:pPr marL="0" indent="0" algn="ctr">
              <a:buNone/>
            </a:pPr>
            <a:r>
              <a:rPr lang="en-US" sz="1050" dirty="0">
                <a:solidFill>
                  <a:srgbClr val="667085"/>
                </a:solidFill>
                <a:latin typeface="Calibri" pitchFamily="34" charset="0"/>
                <a:ea typeface="Calibri" pitchFamily="34" charset="-122"/>
                <a:cs typeface="Calibri" pitchFamily="34" charset="-120"/>
              </a:rPr>
              <a:t>Unique customers</a:t>
            </a:r>
            <a:endParaRPr lang="en-US" sz="1050" dirty="0"/>
          </a:p>
        </p:txBody>
      </p:sp>
      <p:sp>
        <p:nvSpPr>
          <p:cNvPr id="16" name="Text 14"/>
          <p:cNvSpPr txBox="1"/>
          <p:nvPr/>
        </p:nvSpPr>
        <p:spPr>
          <a:xfrm>
            <a:off x="502920" y="2697480"/>
            <a:ext cx="5394960" cy="274320"/>
          </a:xfrm>
          <a:prstGeom prst="rect">
            <a:avLst/>
          </a:prstGeom>
          <a:noFill/>
          <a:ln/>
        </p:spPr>
        <p:txBody>
          <a:bodyPr wrap="square" lIns="0" tIns="0" rIns="0" bIns="0" rtlCol="0" anchor="t"/>
          <a:lstStyle/>
          <a:p>
            <a:pPr marL="0" indent="0">
              <a:buNone/>
            </a:pPr>
            <a:r>
              <a:rPr lang="en-US" sz="1400" b="1" dirty="0">
                <a:solidFill>
                  <a:srgbClr val="16264A"/>
                </a:solidFill>
                <a:latin typeface="Cambria" pitchFamily="34" charset="0"/>
                <a:ea typeface="Cambria" pitchFamily="34" charset="-122"/>
                <a:cs typeface="Cambria" pitchFamily="34" charset="-120"/>
              </a:rPr>
              <a:t>Dataset characteristics</a:t>
            </a:r>
            <a:endParaRPr lang="en-US" sz="1400" dirty="0"/>
          </a:p>
        </p:txBody>
      </p:sp>
      <p:sp>
        <p:nvSpPr>
          <p:cNvPr id="17" name="Text 15"/>
          <p:cNvSpPr txBox="1"/>
          <p:nvPr/>
        </p:nvSpPr>
        <p:spPr>
          <a:xfrm>
            <a:off x="521208" y="3008376"/>
            <a:ext cx="5358384" cy="210312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Source file: data/Global_Superstore.csv, read with latin-1 encoding</a:t>
            </a:r>
            <a:endParaRPr lang="en-US" sz="1200" dirty="0"/>
          </a:p>
          <a:p>
            <a:pPr marL="342900" indent="-342900">
              <a:lnSpc>
                <a:spcPts val="1700"/>
              </a:lnSpc>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Period covered: 01 Jan 2011 to 31 Dec 2014 (48 months)</a:t>
            </a:r>
            <a:endParaRPr lang="en-US" sz="1200" dirty="0"/>
          </a:p>
          <a:p>
            <a:pPr marL="342900" indent="-342900">
              <a:lnSpc>
                <a:spcPts val="1700"/>
              </a:lnSpc>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10,292 unique products across 3 categories and 17 sub-categories</a:t>
            </a:r>
            <a:endParaRPr lang="en-US" sz="1200" dirty="0"/>
          </a:p>
          <a:p>
            <a:pPr marL="342900" indent="-342900">
              <a:lnSpc>
                <a:spcPts val="1700"/>
              </a:lnSpc>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147 countries grouped into 7 markets and 13 regions</a:t>
            </a:r>
            <a:endParaRPr lang="en-US" sz="1200" dirty="0"/>
          </a:p>
          <a:p>
            <a:pPr marL="342900" indent="-342900">
              <a:lnSpc>
                <a:spcPts val="1700"/>
              </a:lnSpc>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3 customer segments: Consumer, Corporate, Home Office</a:t>
            </a:r>
            <a:endParaRPr lang="en-US" sz="1200" dirty="0"/>
          </a:p>
        </p:txBody>
      </p:sp>
      <p:sp>
        <p:nvSpPr>
          <p:cNvPr id="18" name="Text 16"/>
          <p:cNvSpPr txBox="1"/>
          <p:nvPr/>
        </p:nvSpPr>
        <p:spPr>
          <a:xfrm>
            <a:off x="6309360" y="2697480"/>
            <a:ext cx="5394960" cy="274320"/>
          </a:xfrm>
          <a:prstGeom prst="rect">
            <a:avLst/>
          </a:prstGeom>
          <a:noFill/>
          <a:ln/>
        </p:spPr>
        <p:txBody>
          <a:bodyPr wrap="square" lIns="0" tIns="0" rIns="0" bIns="0" rtlCol="0" anchor="t"/>
          <a:lstStyle/>
          <a:p>
            <a:pPr marL="0" indent="0">
              <a:buNone/>
            </a:pPr>
            <a:r>
              <a:rPr lang="en-US" sz="1400" b="1" dirty="0">
                <a:solidFill>
                  <a:srgbClr val="16264A"/>
                </a:solidFill>
                <a:latin typeface="Cambria" pitchFamily="34" charset="0"/>
                <a:ea typeface="Cambria" pitchFamily="34" charset="-122"/>
                <a:cs typeface="Cambria" pitchFamily="34" charset="-120"/>
              </a:rPr>
              <a:t>Problem addressed</a:t>
            </a:r>
            <a:endParaRPr lang="en-US" sz="1400" dirty="0"/>
          </a:p>
        </p:txBody>
      </p:sp>
      <p:sp>
        <p:nvSpPr>
          <p:cNvPr id="19" name="Text 17"/>
          <p:cNvSpPr txBox="1"/>
          <p:nvPr/>
        </p:nvSpPr>
        <p:spPr>
          <a:xfrm>
            <a:off x="6327648" y="3008376"/>
            <a:ext cx="5358384" cy="210312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Descriptive reporting alone does not explain what drives sales</a:t>
            </a:r>
            <a:endParaRPr lang="en-US" sz="1200" dirty="0"/>
          </a:p>
          <a:p>
            <a:pPr marL="342900" indent="-342900">
              <a:lnSpc>
                <a:spcPts val="1700"/>
              </a:lnSpc>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Customer value is not visible from raw transaction tables</a:t>
            </a:r>
            <a:endParaRPr lang="en-US" sz="1200" dirty="0"/>
          </a:p>
          <a:p>
            <a:pPr marL="342900" indent="-342900">
              <a:lnSpc>
                <a:spcPts val="1700"/>
              </a:lnSpc>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Pricing and quantity decisions are made without simulation support</a:t>
            </a:r>
            <a:endParaRPr lang="en-US" sz="1200" dirty="0"/>
          </a:p>
          <a:p>
            <a:pPr marL="342900" indent="-342900">
              <a:lnSpc>
                <a:spcPts val="1700"/>
              </a:lnSpc>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Outputs are scattered across files instead of one decision surface</a:t>
            </a:r>
            <a:endParaRPr lang="en-US" sz="1200" dirty="0"/>
          </a:p>
        </p:txBody>
      </p:sp>
      <p:sp>
        <p:nvSpPr>
          <p:cNvPr id="20" name="Shape 18"/>
          <p:cNvSpPr/>
          <p:nvPr/>
        </p:nvSpPr>
        <p:spPr>
          <a:xfrm>
            <a:off x="502920" y="5074920"/>
            <a:ext cx="11201400" cy="1097280"/>
          </a:xfrm>
          <a:prstGeom prst="roundRect">
            <a:avLst>
              <a:gd name="adj" fmla="val 5000"/>
            </a:avLst>
          </a:prstGeom>
          <a:solidFill>
            <a:srgbClr val="F4F6FA"/>
          </a:solidFill>
          <a:ln w="12700">
            <a:solidFill>
              <a:srgbClr val="F4F6FA"/>
            </a:solidFill>
            <a:prstDash val="solid"/>
          </a:ln>
        </p:spPr>
      </p:sp>
      <p:sp>
        <p:nvSpPr>
          <p:cNvPr id="21" name="Text 19"/>
          <p:cNvSpPr txBox="1"/>
          <p:nvPr/>
        </p:nvSpPr>
        <p:spPr>
          <a:xfrm>
            <a:off x="685800" y="5193792"/>
            <a:ext cx="1828800" cy="274320"/>
          </a:xfrm>
          <a:prstGeom prst="rect">
            <a:avLst/>
          </a:prstGeom>
          <a:noFill/>
          <a:ln/>
        </p:spPr>
        <p:txBody>
          <a:bodyPr wrap="square" lIns="0" tIns="0" rIns="0" bIns="0" rtlCol="0" anchor="ctr"/>
          <a:lstStyle/>
          <a:p>
            <a:pPr marL="0" indent="0">
              <a:buNone/>
            </a:pPr>
            <a:r>
              <a:rPr lang="en-US" sz="1300" b="1" dirty="0">
                <a:solidFill>
                  <a:srgbClr val="16264A"/>
                </a:solidFill>
                <a:latin typeface="Cambria" pitchFamily="34" charset="0"/>
                <a:ea typeface="Cambria" pitchFamily="34" charset="-122"/>
                <a:cs typeface="Cambria" pitchFamily="34" charset="-120"/>
              </a:rPr>
              <a:t>Objective</a:t>
            </a:r>
            <a:endParaRPr lang="en-US" sz="1300" dirty="0"/>
          </a:p>
        </p:txBody>
      </p:sp>
      <p:sp>
        <p:nvSpPr>
          <p:cNvPr id="22" name="Text 20"/>
          <p:cNvSpPr txBox="1"/>
          <p:nvPr/>
        </p:nvSpPr>
        <p:spPr>
          <a:xfrm>
            <a:off x="685800" y="5468112"/>
            <a:ext cx="10835640" cy="640080"/>
          </a:xfrm>
          <a:prstGeom prst="rect">
            <a:avLst/>
          </a:prstGeom>
          <a:noFill/>
          <a:ln/>
        </p:spPr>
        <p:txBody>
          <a:bodyPr wrap="square" lIns="0" tIns="0" rIns="0" bIns="0" rtlCol="0" anchor="ctr"/>
          <a:lstStyle/>
          <a:p>
            <a:pPr marL="0" indent="0">
              <a:lnSpc>
                <a:spcPts val="1600"/>
              </a:lnSpc>
              <a:buNone/>
            </a:pPr>
            <a:r>
              <a:rPr lang="en-US" sz="1200" dirty="0">
                <a:solidFill>
                  <a:srgbClr val="1F2937"/>
                </a:solidFill>
                <a:latin typeface="Calibri" pitchFamily="34" charset="0"/>
                <a:ea typeface="Calibri" pitchFamily="34" charset="-122"/>
                <a:cs typeface="Calibri" pitchFamily="34" charset="-120"/>
              </a:rPr>
              <a:t>To build a reproducible analytics pipeline that cleans retail transaction data, explains historical performance, predicts transaction-level sales, classifies customers by behavioural value, estimates customer lifetime value, simulates discount and quantity changes, and presents the results through an interactive Power BI dashboard.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66928"/>
          </a:xfrm>
          <a:prstGeom prst="rect">
            <a:avLst/>
          </a:prstGeom>
          <a:noFill/>
          <a:ln/>
        </p:spPr>
        <p:txBody>
          <a:bodyPr wrap="square" lIns="0" tIns="0" rIns="0" bIns="0" rtlCol="0" anchor="ctr"/>
          <a:lstStyle/>
          <a:p>
            <a:pPr marL="0" indent="0">
              <a:buNone/>
            </a:pPr>
            <a:r>
              <a:rPr lang="en-US" sz="3000" b="1" dirty="0">
                <a:solidFill>
                  <a:srgbClr val="16264A"/>
                </a:solidFill>
                <a:latin typeface="Cambria" pitchFamily="34" charset="0"/>
                <a:ea typeface="Cambria" pitchFamily="34" charset="-122"/>
                <a:cs typeface="Cambria" pitchFamily="34" charset="-120"/>
              </a:rPr>
              <a:t>Methodology</a:t>
            </a:r>
            <a:endParaRPr lang="en-US" sz="3000" dirty="0"/>
          </a:p>
        </p:txBody>
      </p:sp>
      <p:sp>
        <p:nvSpPr>
          <p:cNvPr id="3" name="Text 1"/>
          <p:cNvSpPr txBox="1"/>
          <p:nvPr/>
        </p:nvSpPr>
        <p:spPr>
          <a:xfrm>
            <a:off x="502920" y="896112"/>
            <a:ext cx="11155680" cy="329184"/>
          </a:xfrm>
          <a:prstGeom prst="rect">
            <a:avLst/>
          </a:prstGeom>
          <a:noFill/>
          <a:ln/>
        </p:spPr>
        <p:txBody>
          <a:bodyPr wrap="square" lIns="0" tIns="0" rIns="0" bIns="0" rtlCol="0" anchor="ctr"/>
          <a:lstStyle/>
          <a:p>
            <a:pPr marL="0" indent="0">
              <a:buNone/>
            </a:pPr>
            <a:r>
              <a:rPr lang="en-US" sz="1300" i="1" dirty="0">
                <a:solidFill>
                  <a:srgbClr val="667085"/>
                </a:solidFill>
                <a:latin typeface="Calibri" pitchFamily="34" charset="0"/>
                <a:ea typeface="Calibri" pitchFamily="34" charset="-122"/>
                <a:cs typeface="Calibri" pitchFamily="34" charset="-120"/>
              </a:rPr>
              <a:t>End-to-end workflow, part 1 of 2 - data pipeline and modelling</a:t>
            </a:r>
            <a:endParaRPr lang="en-US" sz="1300" dirty="0"/>
          </a:p>
        </p:txBody>
      </p:sp>
      <p:sp>
        <p:nvSpPr>
          <p:cNvPr id="20" name="RowBox0"/>
          <p:cNvSpPr/>
          <p:nvPr/>
        </p:nvSpPr>
        <p:spPr>
          <a:xfrm>
            <a:off x="502920" y="1417320"/>
            <a:ext cx="11155680" cy="818700"/>
          </a:xfrm>
          <a:prstGeom prst="roundRect">
            <a:avLst>
              <a:gd name="adj" fmla="val 3500"/>
            </a:avLst>
          </a:prstGeom>
          <a:solidFill>
            <a:srgbClr val="EDF1F8"/>
          </a:solidFill>
          <a:ln w="12700">
            <a:solidFill>
              <a:srgbClr val="EDF1F8"/>
            </a:solidFill>
            <a:prstDash val="solid"/>
          </a:ln>
        </p:spPr>
      </p:sp>
      <p:sp>
        <p:nvSpPr>
          <p:cNvPr id="21" name="Circle0"/>
          <p:cNvSpPr/>
          <p:nvPr/>
        </p:nvSpPr>
        <p:spPr>
          <a:xfrm>
            <a:off x="594360" y="1680366"/>
            <a:ext cx="292608" cy="292608"/>
          </a:xfrm>
          <a:prstGeom prst="ellipse">
            <a:avLst/>
          </a:prstGeom>
          <a:solidFill>
            <a:srgbClr val="16264A"/>
          </a:solidFill>
          <a:ln w="12700">
            <a:solidFill>
              <a:srgbClr val="16264A"/>
            </a:solidFill>
            <a:prstDash val="solid"/>
          </a:ln>
        </p:spPr>
      </p:sp>
      <p:sp>
        <p:nvSpPr>
          <p:cNvPr id="22" name="Num0"/>
          <p:cNvSpPr txBox="1"/>
          <p:nvPr/>
        </p:nvSpPr>
        <p:spPr>
          <a:xfrm>
            <a:off x="594360" y="168036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3" name="Title0"/>
          <p:cNvSpPr txBox="1"/>
          <p:nvPr/>
        </p:nvSpPr>
        <p:spPr>
          <a:xfrm>
            <a:off x="996696" y="1417320"/>
            <a:ext cx="2050000" cy="818700"/>
          </a:xfrm>
          <a:prstGeom prst="rect">
            <a:avLst/>
          </a:prstGeom>
          <a:noFill/>
          <a:ln/>
        </p:spPr>
        <p:txBody>
          <a:bodyPr wrap="square" lIns="0" tIns="0" rIns="0" bIns="0" rtlCol="0" anchor="ctr"/>
          <a:lstStyle/>
          <a:p>
            <a:pPr marL="0" indent="0">
              <a:lnSpc>
                <a:spcPts val="1400"/>
              </a:lnSpc>
              <a:buNone/>
            </a:pPr>
            <a:r>
              <a:rPr lang="en-US" sz="1300" b="1" dirty="0">
                <a:solidFill>
                  <a:srgbClr val="16264A"/>
                </a:solidFill>
                <a:latin typeface="Cambria" pitchFamily="34" charset="0"/>
                <a:ea typeface="Cambria" pitchFamily="34" charset="-122"/>
                <a:cs typeface="Cambria" pitchFamily="34" charset="-120"/>
              </a:rPr>
              <a:t>Raw Dataset</a:t>
            </a:r>
            <a:endParaRPr lang="en-US" sz="1300" dirty="0"/>
          </a:p>
        </p:txBody>
      </p:sp>
      <p:sp>
        <p:nvSpPr>
          <p:cNvPr id="24" name="Detail0"/>
          <p:cNvSpPr txBox="1"/>
          <p:nvPr/>
        </p:nvSpPr>
        <p:spPr>
          <a:xfrm>
            <a:off x="3126696" y="1417320"/>
            <a:ext cx="6810464" cy="818700"/>
          </a:xfrm>
          <a:prstGeom prst="rect">
            <a:avLst/>
          </a:prstGeom>
          <a:noFill/>
          <a:ln/>
        </p:spPr>
        <p:txBody>
          <a:bodyPr wrap="square" lIns="0" tIns="0" rIns="0" bIns="0" rtlCol="0" anchor="ctr"/>
          <a:lstStyle/>
          <a:p>
            <a:pPr marL="0" indent="0">
              <a:lnSpc>
                <a:spcPct val="112000"/>
              </a:lnSpc>
              <a:buNone/>
            </a:pPr>
            <a:r>
              <a:rPr lang="en-US" sz="1050" dirty="0">
                <a:solidFill>
                  <a:srgbClr val="344054"/>
                </a:solidFill>
                <a:latin typeface="Calibri" pitchFamily="34" charset="0"/>
                <a:ea typeface="Calibri" pitchFamily="34" charset="-122"/>
                <a:cs typeface="Calibri" pitchFamily="34" charset="-120"/>
              </a:rPr>
              <a:t>Global_Superstore.csv: 51,290 transaction records from 2011-2014, loaded with Latin-1 encoding.</a:t>
            </a:r>
            <a:endParaRPr lang="en-US" sz="1050" dirty="0"/>
          </a:p>
        </p:txBody>
      </p:sp>
      <p:sp>
        <p:nvSpPr>
          <p:cNvPr id="25" name="Badge0"/>
          <p:cNvSpPr/>
          <p:nvPr/>
        </p:nvSpPr>
        <p:spPr>
          <a:xfrm>
            <a:off x="10017160" y="1666670"/>
            <a:ext cx="1550000" cy="320000"/>
          </a:xfrm>
          <a:prstGeom prst="roundRect">
            <a:avLst>
              <a:gd name="adj" fmla="val 50000"/>
            </a:avLst>
          </a:prstGeom>
          <a:solidFill>
            <a:srgbClr val="FFFFFF"/>
          </a:solidFill>
          <a:ln w="9525">
            <a:solidFill>
              <a:srgbClr val="B9C4D9"/>
            </a:solidFill>
            <a:prstDash val="solid"/>
          </a:ln>
        </p:spPr>
      </p:sp>
      <p:sp>
        <p:nvSpPr>
          <p:cNvPr id="26" name="BadgeText0"/>
          <p:cNvSpPr txBox="1"/>
          <p:nvPr/>
        </p:nvSpPr>
        <p:spPr>
          <a:xfrm>
            <a:off x="10017160" y="1666670"/>
            <a:ext cx="1550000" cy="320000"/>
          </a:xfrm>
          <a:prstGeom prst="rect">
            <a:avLst/>
          </a:prstGeom>
          <a:noFill/>
          <a:ln/>
        </p:spPr>
        <p:txBody>
          <a:bodyPr wrap="square" lIns="0" tIns="0" rIns="0" bIns="0" rtlCol="0" anchor="ctr"/>
          <a:lstStyle/>
          <a:p>
            <a:pPr marL="0" indent="0" algn="ctr">
              <a:buNone/>
            </a:pPr>
            <a:r>
              <a:rPr lang="en-US" sz="900" i="1" dirty="0">
                <a:solidFill>
                  <a:srgbClr val="667085"/>
                </a:solidFill>
                <a:latin typeface="Calibri" pitchFamily="34" charset="0"/>
                <a:ea typeface="Calibri" pitchFamily="34" charset="-122"/>
                <a:cs typeface="Calibri" pitchFamily="34" charset="-120"/>
              </a:rPr>
              <a:t>Global_Superstore.csv</a:t>
            </a:r>
            <a:endParaRPr lang="en-US" sz="900" dirty="0"/>
          </a:p>
        </p:txBody>
      </p:sp>
      <p:sp>
        <p:nvSpPr>
          <p:cNvPr id="40" name="RowBox1"/>
          <p:cNvSpPr/>
          <p:nvPr/>
        </p:nvSpPr>
        <p:spPr>
          <a:xfrm>
            <a:off x="502920" y="2281740"/>
            <a:ext cx="11155680" cy="818700"/>
          </a:xfrm>
          <a:prstGeom prst="roundRect">
            <a:avLst>
              <a:gd name="adj" fmla="val 3500"/>
            </a:avLst>
          </a:prstGeom>
          <a:solidFill>
            <a:srgbClr val="EDF1F8"/>
          </a:solidFill>
          <a:ln w="12700">
            <a:solidFill>
              <a:srgbClr val="EDF1F8"/>
            </a:solidFill>
            <a:prstDash val="solid"/>
          </a:ln>
        </p:spPr>
      </p:sp>
      <p:sp>
        <p:nvSpPr>
          <p:cNvPr id="41" name="Circle1"/>
          <p:cNvSpPr/>
          <p:nvPr/>
        </p:nvSpPr>
        <p:spPr>
          <a:xfrm>
            <a:off x="594360" y="2544786"/>
            <a:ext cx="292608" cy="292608"/>
          </a:xfrm>
          <a:prstGeom prst="ellipse">
            <a:avLst/>
          </a:prstGeom>
          <a:solidFill>
            <a:srgbClr val="16264A"/>
          </a:solidFill>
          <a:ln w="12700">
            <a:solidFill>
              <a:srgbClr val="16264A"/>
            </a:solidFill>
            <a:prstDash val="solid"/>
          </a:ln>
        </p:spPr>
      </p:sp>
      <p:sp>
        <p:nvSpPr>
          <p:cNvPr id="42" name="Num1"/>
          <p:cNvSpPr txBox="1"/>
          <p:nvPr/>
        </p:nvSpPr>
        <p:spPr>
          <a:xfrm>
            <a:off x="594360" y="254478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3" name="Title1"/>
          <p:cNvSpPr txBox="1"/>
          <p:nvPr/>
        </p:nvSpPr>
        <p:spPr>
          <a:xfrm>
            <a:off x="996696" y="2281740"/>
            <a:ext cx="2050000" cy="818700"/>
          </a:xfrm>
          <a:prstGeom prst="rect">
            <a:avLst/>
          </a:prstGeom>
          <a:noFill/>
          <a:ln/>
        </p:spPr>
        <p:txBody>
          <a:bodyPr wrap="square" lIns="0" tIns="0" rIns="0" bIns="0" rtlCol="0" anchor="ctr"/>
          <a:lstStyle/>
          <a:p>
            <a:pPr marL="0" indent="0">
              <a:lnSpc>
                <a:spcPts val="1400"/>
              </a:lnSpc>
              <a:buNone/>
            </a:pPr>
            <a:r>
              <a:rPr lang="en-US" sz="1300" b="1" dirty="0">
                <a:solidFill>
                  <a:srgbClr val="16264A"/>
                </a:solidFill>
                <a:latin typeface="Cambria" pitchFamily="34" charset="0"/>
                <a:ea typeface="Cambria" pitchFamily="34" charset="-122"/>
                <a:cs typeface="Cambria" pitchFamily="34" charset="-120"/>
              </a:rPr>
              <a:t>Preprocessing</a:t>
            </a:r>
            <a:endParaRPr lang="en-US" sz="1300" dirty="0"/>
          </a:p>
        </p:txBody>
      </p:sp>
      <p:sp>
        <p:nvSpPr>
          <p:cNvPr id="44" name="Detail1"/>
          <p:cNvSpPr txBox="1"/>
          <p:nvPr/>
        </p:nvSpPr>
        <p:spPr>
          <a:xfrm>
            <a:off x="3126696" y="2281740"/>
            <a:ext cx="6810464" cy="818700"/>
          </a:xfrm>
          <a:prstGeom prst="rect">
            <a:avLst/>
          </a:prstGeom>
          <a:noFill/>
          <a:ln/>
        </p:spPr>
        <p:txBody>
          <a:bodyPr wrap="square" lIns="0" tIns="0" rIns="0" bIns="0" rtlCol="0" anchor="ctr"/>
          <a:lstStyle/>
          <a:p>
            <a:pPr marL="0" indent="0">
              <a:lnSpc>
                <a:spcPct val="112000"/>
              </a:lnSpc>
              <a:buNone/>
            </a:pPr>
            <a:r>
              <a:rPr lang="en-US" sz="1050" dirty="0">
                <a:solidFill>
                  <a:srgbClr val="344054"/>
                </a:solidFill>
                <a:latin typeface="Calibri" pitchFamily="34" charset="0"/>
                <a:ea typeface="Calibri" pitchFamily="34" charset="-122"/>
                <a:cs typeface="Calibri" pitchFamily="34" charset="-120"/>
              </a:rPr>
              <a:t>Cleaned with pandas - missing values median/mode-imputed, duplicates removed, dates parsed, and Sales/Quantity/Discount/Profit capped by IQR. Result: 0 missing, 0 duplicates, 0 invalid dates.</a:t>
            </a:r>
            <a:endParaRPr lang="en-US" sz="1050" dirty="0"/>
          </a:p>
        </p:txBody>
      </p:sp>
      <p:sp>
        <p:nvSpPr>
          <p:cNvPr id="45" name="Badge1"/>
          <p:cNvSpPr/>
          <p:nvPr/>
        </p:nvSpPr>
        <p:spPr>
          <a:xfrm>
            <a:off x="10017160" y="2531090"/>
            <a:ext cx="1550000" cy="320000"/>
          </a:xfrm>
          <a:prstGeom prst="roundRect">
            <a:avLst>
              <a:gd name="adj" fmla="val 50000"/>
            </a:avLst>
          </a:prstGeom>
          <a:solidFill>
            <a:srgbClr val="FFFFFF"/>
          </a:solidFill>
          <a:ln w="9525">
            <a:solidFill>
              <a:srgbClr val="B9C4D9"/>
            </a:solidFill>
            <a:prstDash val="solid"/>
          </a:ln>
        </p:spPr>
      </p:sp>
      <p:sp>
        <p:nvSpPr>
          <p:cNvPr id="46" name="BadgeText1"/>
          <p:cNvSpPr txBox="1"/>
          <p:nvPr/>
        </p:nvSpPr>
        <p:spPr>
          <a:xfrm>
            <a:off x="10017160" y="2531090"/>
            <a:ext cx="1550000" cy="320000"/>
          </a:xfrm>
          <a:prstGeom prst="rect">
            <a:avLst/>
          </a:prstGeom>
          <a:noFill/>
          <a:ln/>
        </p:spPr>
        <p:txBody>
          <a:bodyPr wrap="square" lIns="0" tIns="0" rIns="0" bIns="0" rtlCol="0" anchor="ctr"/>
          <a:lstStyle/>
          <a:p>
            <a:pPr marL="0" indent="0" algn="ctr">
              <a:buNone/>
            </a:pPr>
            <a:r>
              <a:rPr lang="en-US" sz="900" i="1" dirty="0">
                <a:solidFill>
                  <a:srgbClr val="667085"/>
                </a:solidFill>
                <a:latin typeface="Calibri" pitchFamily="34" charset="0"/>
                <a:ea typeface="Calibri" pitchFamily="34" charset="-122"/>
                <a:cs typeface="Calibri" pitchFamily="34" charset="-120"/>
              </a:rPr>
              <a:t>preprocessing.py</a:t>
            </a:r>
            <a:endParaRPr lang="en-US" sz="900" dirty="0"/>
          </a:p>
        </p:txBody>
      </p:sp>
      <p:sp>
        <p:nvSpPr>
          <p:cNvPr id="60" name="RowBox2"/>
          <p:cNvSpPr/>
          <p:nvPr/>
        </p:nvSpPr>
        <p:spPr>
          <a:xfrm>
            <a:off x="502920" y="3146160"/>
            <a:ext cx="11155680" cy="818700"/>
          </a:xfrm>
          <a:prstGeom prst="roundRect">
            <a:avLst>
              <a:gd name="adj" fmla="val 3500"/>
            </a:avLst>
          </a:prstGeom>
          <a:solidFill>
            <a:srgbClr val="EDF1F8"/>
          </a:solidFill>
          <a:ln w="12700">
            <a:solidFill>
              <a:srgbClr val="EDF1F8"/>
            </a:solidFill>
            <a:prstDash val="solid"/>
          </a:ln>
        </p:spPr>
      </p:sp>
      <p:sp>
        <p:nvSpPr>
          <p:cNvPr id="61" name="Circle2"/>
          <p:cNvSpPr/>
          <p:nvPr/>
        </p:nvSpPr>
        <p:spPr>
          <a:xfrm>
            <a:off x="594360" y="3409206"/>
            <a:ext cx="292608" cy="292608"/>
          </a:xfrm>
          <a:prstGeom prst="ellipse">
            <a:avLst/>
          </a:prstGeom>
          <a:solidFill>
            <a:srgbClr val="16264A"/>
          </a:solidFill>
          <a:ln w="12700">
            <a:solidFill>
              <a:srgbClr val="16264A"/>
            </a:solidFill>
            <a:prstDash val="solid"/>
          </a:ln>
        </p:spPr>
      </p:sp>
      <p:sp>
        <p:nvSpPr>
          <p:cNvPr id="62" name="Num2"/>
          <p:cNvSpPr txBox="1"/>
          <p:nvPr/>
        </p:nvSpPr>
        <p:spPr>
          <a:xfrm>
            <a:off x="594360" y="340920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63" name="Title2"/>
          <p:cNvSpPr txBox="1"/>
          <p:nvPr/>
        </p:nvSpPr>
        <p:spPr>
          <a:xfrm>
            <a:off x="996696" y="3146160"/>
            <a:ext cx="2050000" cy="818700"/>
          </a:xfrm>
          <a:prstGeom prst="rect">
            <a:avLst/>
          </a:prstGeom>
          <a:noFill/>
          <a:ln/>
        </p:spPr>
        <p:txBody>
          <a:bodyPr wrap="square" lIns="0" tIns="0" rIns="0" bIns="0" rtlCol="0" anchor="ctr"/>
          <a:lstStyle/>
          <a:p>
            <a:pPr marL="0" indent="0">
              <a:lnSpc>
                <a:spcPts val="1400"/>
              </a:lnSpc>
              <a:buNone/>
            </a:pPr>
            <a:r>
              <a:rPr lang="en-US" sz="1300" b="1" dirty="0">
                <a:solidFill>
                  <a:srgbClr val="16264A"/>
                </a:solidFill>
                <a:latin typeface="Cambria" pitchFamily="34" charset="0"/>
                <a:ea typeface="Cambria" pitchFamily="34" charset="-122"/>
                <a:cs typeface="Cambria" pitchFamily="34" charset="-120"/>
              </a:rPr>
              <a:t>Exploratory Analysis</a:t>
            </a:r>
            <a:endParaRPr lang="en-US" sz="1300" dirty="0"/>
          </a:p>
        </p:txBody>
      </p:sp>
      <p:sp>
        <p:nvSpPr>
          <p:cNvPr id="64" name="Detail2"/>
          <p:cNvSpPr txBox="1"/>
          <p:nvPr/>
        </p:nvSpPr>
        <p:spPr>
          <a:xfrm>
            <a:off x="3126696" y="3146160"/>
            <a:ext cx="6810464" cy="818700"/>
          </a:xfrm>
          <a:prstGeom prst="rect">
            <a:avLst/>
          </a:prstGeom>
          <a:noFill/>
          <a:ln/>
        </p:spPr>
        <p:txBody>
          <a:bodyPr wrap="square" lIns="0" tIns="0" rIns="0" bIns="0" rtlCol="0" anchor="ctr"/>
          <a:lstStyle/>
          <a:p>
            <a:pPr marL="0" indent="0">
              <a:lnSpc>
                <a:spcPct val="112000"/>
              </a:lnSpc>
              <a:buNone/>
            </a:pPr>
            <a:r>
              <a:rPr lang="en-US" sz="1050" dirty="0">
                <a:solidFill>
                  <a:srgbClr val="344054"/>
                </a:solidFill>
                <a:latin typeface="Calibri" pitchFamily="34" charset="0"/>
                <a:ea typeface="Calibri" pitchFamily="34" charset="-122"/>
                <a:cs typeface="Calibri" pitchFamily="34" charset="-120"/>
              </a:rPr>
              <a:t>Univariate, bivariate and multivariate analysis on the preprocessed dataset - 24 result tables and 30+ charts covering sales, profit, discount and customer patterns.</a:t>
            </a:r>
            <a:endParaRPr lang="en-US" sz="1050" dirty="0"/>
          </a:p>
        </p:txBody>
      </p:sp>
      <p:sp>
        <p:nvSpPr>
          <p:cNvPr id="65" name="Badge2"/>
          <p:cNvSpPr/>
          <p:nvPr/>
        </p:nvSpPr>
        <p:spPr>
          <a:xfrm>
            <a:off x="10017160" y="3395510"/>
            <a:ext cx="1550000" cy="320000"/>
          </a:xfrm>
          <a:prstGeom prst="roundRect">
            <a:avLst>
              <a:gd name="adj" fmla="val 50000"/>
            </a:avLst>
          </a:prstGeom>
          <a:solidFill>
            <a:srgbClr val="FFFFFF"/>
          </a:solidFill>
          <a:ln w="9525">
            <a:solidFill>
              <a:srgbClr val="B9C4D9"/>
            </a:solidFill>
            <a:prstDash val="solid"/>
          </a:ln>
        </p:spPr>
      </p:sp>
      <p:sp>
        <p:nvSpPr>
          <p:cNvPr id="66" name="BadgeText2"/>
          <p:cNvSpPr txBox="1"/>
          <p:nvPr/>
        </p:nvSpPr>
        <p:spPr>
          <a:xfrm>
            <a:off x="10017160" y="3395510"/>
            <a:ext cx="1550000" cy="320000"/>
          </a:xfrm>
          <a:prstGeom prst="rect">
            <a:avLst/>
          </a:prstGeom>
          <a:noFill/>
          <a:ln/>
        </p:spPr>
        <p:txBody>
          <a:bodyPr wrap="square" lIns="0" tIns="0" rIns="0" bIns="0" rtlCol="0" anchor="ctr"/>
          <a:lstStyle/>
          <a:p>
            <a:pPr marL="0" indent="0" algn="ctr">
              <a:buNone/>
            </a:pPr>
            <a:r>
              <a:rPr lang="en-US" sz="900" i="1" dirty="0">
                <a:solidFill>
                  <a:srgbClr val="667085"/>
                </a:solidFill>
                <a:latin typeface="Calibri" pitchFamily="34" charset="0"/>
                <a:ea typeface="Calibri" pitchFamily="34" charset="-122"/>
                <a:cs typeface="Calibri" pitchFamily="34" charset="-120"/>
              </a:rPr>
              <a:t>eda.py</a:t>
            </a:r>
            <a:endParaRPr lang="en-US" sz="900" dirty="0"/>
          </a:p>
        </p:txBody>
      </p:sp>
      <p:sp>
        <p:nvSpPr>
          <p:cNvPr id="80" name="RowBox3"/>
          <p:cNvSpPr/>
          <p:nvPr/>
        </p:nvSpPr>
        <p:spPr>
          <a:xfrm>
            <a:off x="502920" y="4010580"/>
            <a:ext cx="11155680" cy="818700"/>
          </a:xfrm>
          <a:prstGeom prst="roundRect">
            <a:avLst>
              <a:gd name="adj" fmla="val 3500"/>
            </a:avLst>
          </a:prstGeom>
          <a:solidFill>
            <a:srgbClr val="EDF1F8"/>
          </a:solidFill>
          <a:ln w="12700">
            <a:solidFill>
              <a:srgbClr val="EDF1F8"/>
            </a:solidFill>
            <a:prstDash val="solid"/>
          </a:ln>
        </p:spPr>
      </p:sp>
      <p:sp>
        <p:nvSpPr>
          <p:cNvPr id="81" name="Circle3"/>
          <p:cNvSpPr/>
          <p:nvPr/>
        </p:nvSpPr>
        <p:spPr>
          <a:xfrm>
            <a:off x="594360" y="4273626"/>
            <a:ext cx="292608" cy="292608"/>
          </a:xfrm>
          <a:prstGeom prst="ellipse">
            <a:avLst/>
          </a:prstGeom>
          <a:solidFill>
            <a:srgbClr val="16264A"/>
          </a:solidFill>
          <a:ln w="12700">
            <a:solidFill>
              <a:srgbClr val="16264A"/>
            </a:solidFill>
            <a:prstDash val="solid"/>
          </a:ln>
        </p:spPr>
      </p:sp>
      <p:sp>
        <p:nvSpPr>
          <p:cNvPr id="82" name="Num3"/>
          <p:cNvSpPr txBox="1"/>
          <p:nvPr/>
        </p:nvSpPr>
        <p:spPr>
          <a:xfrm>
            <a:off x="594360" y="427362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83" name="Title3"/>
          <p:cNvSpPr txBox="1"/>
          <p:nvPr/>
        </p:nvSpPr>
        <p:spPr>
          <a:xfrm>
            <a:off x="996696" y="4010580"/>
            <a:ext cx="2050000" cy="818700"/>
          </a:xfrm>
          <a:prstGeom prst="rect">
            <a:avLst/>
          </a:prstGeom>
          <a:noFill/>
          <a:ln/>
        </p:spPr>
        <p:txBody>
          <a:bodyPr wrap="square" lIns="0" tIns="0" rIns="0" bIns="0" rtlCol="0" anchor="ctr"/>
          <a:lstStyle/>
          <a:p>
            <a:pPr marL="0" indent="0">
              <a:lnSpc>
                <a:spcPts val="1400"/>
              </a:lnSpc>
              <a:buNone/>
            </a:pPr>
            <a:r>
              <a:rPr lang="en-US" sz="1300" b="1" dirty="0">
                <a:solidFill>
                  <a:srgbClr val="16264A"/>
                </a:solidFill>
                <a:latin typeface="Cambria" pitchFamily="34" charset="0"/>
                <a:ea typeface="Cambria" pitchFamily="34" charset="-122"/>
                <a:cs typeface="Cambria" pitchFamily="34" charset="-120"/>
              </a:rPr>
              <a:t>Feature Engineering</a:t>
            </a:r>
            <a:endParaRPr lang="en-US" sz="1300" dirty="0"/>
          </a:p>
        </p:txBody>
      </p:sp>
      <p:sp>
        <p:nvSpPr>
          <p:cNvPr id="84" name="Detail3"/>
          <p:cNvSpPr txBox="1"/>
          <p:nvPr/>
        </p:nvSpPr>
        <p:spPr>
          <a:xfrm>
            <a:off x="3126696" y="4010580"/>
            <a:ext cx="6810464" cy="818700"/>
          </a:xfrm>
          <a:prstGeom prst="rect">
            <a:avLst/>
          </a:prstGeom>
          <a:noFill/>
          <a:ln/>
        </p:spPr>
        <p:txBody>
          <a:bodyPr wrap="square" lIns="0" tIns="0" rIns="0" bIns="0" rtlCol="0" anchor="ctr"/>
          <a:lstStyle/>
          <a:p>
            <a:pPr marL="0" indent="0">
              <a:lnSpc>
                <a:spcPct val="112000"/>
              </a:lnSpc>
              <a:buNone/>
            </a:pPr>
            <a:r>
              <a:rPr lang="en-US" sz="1050" dirty="0">
                <a:solidFill>
                  <a:srgbClr val="344054"/>
                </a:solidFill>
                <a:latin typeface="Calibri" pitchFamily="34" charset="0"/>
                <a:ea typeface="Calibri" pitchFamily="34" charset="-122"/>
                <a:cs typeface="Calibri" pitchFamily="34" charset="-120"/>
              </a:rPr>
              <a:t>27 engineered features across five groups (date, sales, customer, product, profit) built on the preprocessed data - columns grow from 24 to 51.</a:t>
            </a:r>
            <a:endParaRPr lang="en-US" sz="1050" dirty="0"/>
          </a:p>
        </p:txBody>
      </p:sp>
      <p:sp>
        <p:nvSpPr>
          <p:cNvPr id="85" name="Badge3"/>
          <p:cNvSpPr/>
          <p:nvPr/>
        </p:nvSpPr>
        <p:spPr>
          <a:xfrm>
            <a:off x="10017160" y="4259930"/>
            <a:ext cx="1550000" cy="320000"/>
          </a:xfrm>
          <a:prstGeom prst="roundRect">
            <a:avLst>
              <a:gd name="adj" fmla="val 50000"/>
            </a:avLst>
          </a:prstGeom>
          <a:solidFill>
            <a:srgbClr val="FFFFFF"/>
          </a:solidFill>
          <a:ln w="9525">
            <a:solidFill>
              <a:srgbClr val="B9C4D9"/>
            </a:solidFill>
            <a:prstDash val="solid"/>
          </a:ln>
        </p:spPr>
      </p:sp>
      <p:sp>
        <p:nvSpPr>
          <p:cNvPr id="86" name="BadgeText3"/>
          <p:cNvSpPr txBox="1"/>
          <p:nvPr/>
        </p:nvSpPr>
        <p:spPr>
          <a:xfrm>
            <a:off x="10017160" y="4259930"/>
            <a:ext cx="1550000" cy="320000"/>
          </a:xfrm>
          <a:prstGeom prst="rect">
            <a:avLst/>
          </a:prstGeom>
          <a:noFill/>
          <a:ln/>
        </p:spPr>
        <p:txBody>
          <a:bodyPr wrap="square" lIns="0" tIns="0" rIns="0" bIns="0" rtlCol="0" anchor="ctr"/>
          <a:lstStyle/>
          <a:p>
            <a:pPr marL="0" indent="0" algn="ctr">
              <a:buNone/>
            </a:pPr>
            <a:r>
              <a:rPr lang="en-US" sz="900" i="1" dirty="0">
                <a:solidFill>
                  <a:srgbClr val="667085"/>
                </a:solidFill>
                <a:latin typeface="Calibri" pitchFamily="34" charset="0"/>
                <a:ea typeface="Calibri" pitchFamily="34" charset="-122"/>
                <a:cs typeface="Calibri" pitchFamily="34" charset="-120"/>
              </a:rPr>
              <a:t>feature_engineering.py</a:t>
            </a:r>
            <a:endParaRPr lang="en-US" sz="900" dirty="0"/>
          </a:p>
        </p:txBody>
      </p:sp>
      <p:sp>
        <p:nvSpPr>
          <p:cNvPr id="100" name="RowBox4"/>
          <p:cNvSpPr/>
          <p:nvPr/>
        </p:nvSpPr>
        <p:spPr>
          <a:xfrm>
            <a:off x="502920" y="4875000"/>
            <a:ext cx="11155680" cy="818700"/>
          </a:xfrm>
          <a:prstGeom prst="roundRect">
            <a:avLst>
              <a:gd name="adj" fmla="val 3500"/>
            </a:avLst>
          </a:prstGeom>
          <a:solidFill>
            <a:srgbClr val="EDF1F8"/>
          </a:solidFill>
          <a:ln w="12700">
            <a:solidFill>
              <a:srgbClr val="EDF1F8"/>
            </a:solidFill>
            <a:prstDash val="solid"/>
          </a:ln>
        </p:spPr>
      </p:sp>
      <p:sp>
        <p:nvSpPr>
          <p:cNvPr id="101" name="Circle4"/>
          <p:cNvSpPr/>
          <p:nvPr/>
        </p:nvSpPr>
        <p:spPr>
          <a:xfrm>
            <a:off x="594360" y="5138046"/>
            <a:ext cx="292608" cy="292608"/>
          </a:xfrm>
          <a:prstGeom prst="ellipse">
            <a:avLst/>
          </a:prstGeom>
          <a:solidFill>
            <a:srgbClr val="16264A"/>
          </a:solidFill>
          <a:ln w="12700">
            <a:solidFill>
              <a:srgbClr val="16264A"/>
            </a:solidFill>
            <a:prstDash val="solid"/>
          </a:ln>
        </p:spPr>
      </p:sp>
      <p:sp>
        <p:nvSpPr>
          <p:cNvPr id="102" name="Num4"/>
          <p:cNvSpPr txBox="1"/>
          <p:nvPr/>
        </p:nvSpPr>
        <p:spPr>
          <a:xfrm>
            <a:off x="594360" y="513804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03" name="Title4"/>
          <p:cNvSpPr txBox="1"/>
          <p:nvPr/>
        </p:nvSpPr>
        <p:spPr>
          <a:xfrm>
            <a:off x="996696" y="4875000"/>
            <a:ext cx="2050000" cy="818700"/>
          </a:xfrm>
          <a:prstGeom prst="rect">
            <a:avLst/>
          </a:prstGeom>
          <a:noFill/>
          <a:ln/>
        </p:spPr>
        <p:txBody>
          <a:bodyPr wrap="square" lIns="0" tIns="0" rIns="0" bIns="0" rtlCol="0" anchor="ctr"/>
          <a:lstStyle/>
          <a:p>
            <a:pPr marL="0" indent="0">
              <a:lnSpc>
                <a:spcPts val="1400"/>
              </a:lnSpc>
              <a:buNone/>
            </a:pPr>
            <a:r>
              <a:rPr lang="en-US" sz="1300" b="1" dirty="0">
                <a:solidFill>
                  <a:srgbClr val="16264A"/>
                </a:solidFill>
                <a:latin typeface="Cambria" pitchFamily="34" charset="0"/>
                <a:ea typeface="Cambria" pitchFamily="34" charset="-122"/>
                <a:cs typeface="Cambria" pitchFamily="34" charset="-120"/>
              </a:rPr>
              <a:t>Feature Selection</a:t>
            </a:r>
            <a:endParaRPr lang="en-US" sz="1300" dirty="0"/>
          </a:p>
        </p:txBody>
      </p:sp>
      <p:sp>
        <p:nvSpPr>
          <p:cNvPr id="104" name="Detail4"/>
          <p:cNvSpPr txBox="1"/>
          <p:nvPr/>
        </p:nvSpPr>
        <p:spPr>
          <a:xfrm>
            <a:off x="3126696" y="4875000"/>
            <a:ext cx="6810464" cy="818700"/>
          </a:xfrm>
          <a:prstGeom prst="rect">
            <a:avLst/>
          </a:prstGeom>
          <a:noFill/>
          <a:ln/>
        </p:spPr>
        <p:txBody>
          <a:bodyPr wrap="square" lIns="0" tIns="0" rIns="0" bIns="0" rtlCol="0" anchor="ctr"/>
          <a:lstStyle/>
          <a:p>
            <a:pPr marL="0" indent="0">
              <a:lnSpc>
                <a:spcPct val="112000"/>
              </a:lnSpc>
              <a:buNone/>
            </a:pPr>
            <a:r>
              <a:rPr lang="en-US" sz="1050" dirty="0">
                <a:solidFill>
                  <a:srgbClr val="344054"/>
                </a:solidFill>
                <a:latin typeface="Calibri" pitchFamily="34" charset="0"/>
                <a:ea typeface="Calibri" pitchFamily="34" charset="-122"/>
                <a:cs typeface="Calibri" pitchFamily="34" charset="-120"/>
              </a:rPr>
              <a:t>Numerical, categorical, variance and correlation screening (0.80 threshold) run as a parallel study - the ML script defines its own predictor list rather than consuming this output.</a:t>
            </a:r>
            <a:endParaRPr lang="en-US" sz="1050" dirty="0"/>
          </a:p>
        </p:txBody>
      </p:sp>
      <p:sp>
        <p:nvSpPr>
          <p:cNvPr id="105" name="Badge4"/>
          <p:cNvSpPr/>
          <p:nvPr/>
        </p:nvSpPr>
        <p:spPr>
          <a:xfrm>
            <a:off x="10017160" y="5124350"/>
            <a:ext cx="1550000" cy="320000"/>
          </a:xfrm>
          <a:prstGeom prst="roundRect">
            <a:avLst>
              <a:gd name="adj" fmla="val 50000"/>
            </a:avLst>
          </a:prstGeom>
          <a:solidFill>
            <a:srgbClr val="FFFFFF"/>
          </a:solidFill>
          <a:ln w="9525">
            <a:solidFill>
              <a:srgbClr val="B9C4D9"/>
            </a:solidFill>
            <a:prstDash val="solid"/>
          </a:ln>
        </p:spPr>
      </p:sp>
      <p:sp>
        <p:nvSpPr>
          <p:cNvPr id="106" name="BadgeText4"/>
          <p:cNvSpPr txBox="1"/>
          <p:nvPr/>
        </p:nvSpPr>
        <p:spPr>
          <a:xfrm>
            <a:off x="10017160" y="5124350"/>
            <a:ext cx="1550000" cy="320000"/>
          </a:xfrm>
          <a:prstGeom prst="rect">
            <a:avLst/>
          </a:prstGeom>
          <a:noFill/>
          <a:ln/>
        </p:spPr>
        <p:txBody>
          <a:bodyPr wrap="square" lIns="0" tIns="0" rIns="0" bIns="0" rtlCol="0" anchor="ctr"/>
          <a:lstStyle/>
          <a:p>
            <a:pPr marL="0" indent="0" algn="ctr">
              <a:buNone/>
            </a:pPr>
            <a:r>
              <a:rPr lang="en-US" sz="900" i="1" dirty="0">
                <a:solidFill>
                  <a:srgbClr val="667085"/>
                </a:solidFill>
                <a:latin typeface="Calibri" pitchFamily="34" charset="0"/>
                <a:ea typeface="Calibri" pitchFamily="34" charset="-122"/>
                <a:cs typeface="Calibri" pitchFamily="34" charset="-120"/>
              </a:rPr>
              <a:t>feature_selection.py</a:t>
            </a:r>
            <a:endParaRPr lang="en-US" sz="900" dirty="0"/>
          </a:p>
        </p:txBody>
      </p:sp>
      <p:sp>
        <p:nvSpPr>
          <p:cNvPr id="120" name="RowBox5"/>
          <p:cNvSpPr/>
          <p:nvPr/>
        </p:nvSpPr>
        <p:spPr>
          <a:xfrm>
            <a:off x="502920" y="5739420"/>
            <a:ext cx="11155680" cy="818700"/>
          </a:xfrm>
          <a:prstGeom prst="roundRect">
            <a:avLst>
              <a:gd name="adj" fmla="val 3500"/>
            </a:avLst>
          </a:prstGeom>
          <a:solidFill>
            <a:srgbClr val="EDF1F8"/>
          </a:solidFill>
          <a:ln w="12700">
            <a:solidFill>
              <a:srgbClr val="EDF1F8"/>
            </a:solidFill>
            <a:prstDash val="solid"/>
          </a:ln>
        </p:spPr>
      </p:sp>
      <p:sp>
        <p:nvSpPr>
          <p:cNvPr id="121" name="Circle5"/>
          <p:cNvSpPr/>
          <p:nvPr/>
        </p:nvSpPr>
        <p:spPr>
          <a:xfrm>
            <a:off x="594360" y="6002466"/>
            <a:ext cx="292608" cy="292608"/>
          </a:xfrm>
          <a:prstGeom prst="ellipse">
            <a:avLst/>
          </a:prstGeom>
          <a:solidFill>
            <a:srgbClr val="16264A"/>
          </a:solidFill>
          <a:ln w="12700">
            <a:solidFill>
              <a:srgbClr val="16264A"/>
            </a:solidFill>
            <a:prstDash val="solid"/>
          </a:ln>
        </p:spPr>
      </p:sp>
      <p:sp>
        <p:nvSpPr>
          <p:cNvPr id="122" name="Num5"/>
          <p:cNvSpPr txBox="1"/>
          <p:nvPr/>
        </p:nvSpPr>
        <p:spPr>
          <a:xfrm>
            <a:off x="594360" y="600246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23" name="Title5"/>
          <p:cNvSpPr txBox="1"/>
          <p:nvPr/>
        </p:nvSpPr>
        <p:spPr>
          <a:xfrm>
            <a:off x="996696" y="5739420"/>
            <a:ext cx="2050000" cy="818700"/>
          </a:xfrm>
          <a:prstGeom prst="rect">
            <a:avLst/>
          </a:prstGeom>
          <a:noFill/>
          <a:ln/>
        </p:spPr>
        <p:txBody>
          <a:bodyPr wrap="square" lIns="0" tIns="0" rIns="0" bIns="0" rtlCol="0" anchor="ctr"/>
          <a:lstStyle/>
          <a:p>
            <a:pPr marL="0" indent="0">
              <a:lnSpc>
                <a:spcPts val="1400"/>
              </a:lnSpc>
              <a:buNone/>
            </a:pPr>
            <a:r>
              <a:rPr lang="en-US" sz="1300" b="1" dirty="0">
                <a:solidFill>
                  <a:srgbClr val="16264A"/>
                </a:solidFill>
                <a:latin typeface="Cambria" pitchFamily="34" charset="0"/>
                <a:ea typeface="Cambria" pitchFamily="34" charset="-122"/>
                <a:cs typeface="Cambria" pitchFamily="34" charset="-120"/>
              </a:rPr>
              <a:t>Machine Learning</a:t>
            </a:r>
            <a:endParaRPr lang="en-US" sz="1300" dirty="0"/>
          </a:p>
        </p:txBody>
      </p:sp>
      <p:sp>
        <p:nvSpPr>
          <p:cNvPr id="124" name="Detail5"/>
          <p:cNvSpPr txBox="1"/>
          <p:nvPr/>
        </p:nvSpPr>
        <p:spPr>
          <a:xfrm>
            <a:off x="3126696" y="5739420"/>
            <a:ext cx="6810464" cy="818700"/>
          </a:xfrm>
          <a:prstGeom prst="rect">
            <a:avLst/>
          </a:prstGeom>
          <a:noFill/>
          <a:ln/>
        </p:spPr>
        <p:txBody>
          <a:bodyPr wrap="square" lIns="0" tIns="0" rIns="0" bIns="0" rtlCol="0" anchor="ctr"/>
          <a:lstStyle/>
          <a:p>
            <a:pPr marL="0" indent="0">
              <a:lnSpc>
                <a:spcPct val="112000"/>
              </a:lnSpc>
              <a:buNone/>
            </a:pPr>
            <a:r>
              <a:rPr lang="en-US" sz="1050" dirty="0">
                <a:solidFill>
                  <a:srgbClr val="344054"/>
                </a:solidFill>
                <a:latin typeface="Calibri" pitchFamily="34" charset="0"/>
                <a:ea typeface="Calibri" pitchFamily="34" charset="-122"/>
                <a:cs typeface="Calibri" pitchFamily="34" charset="-120"/>
              </a:rPr>
              <a:t>80/20 train-test split; Linear Regression, Decision Tree, Random Forest and XGBoost compared - XGBoost best at MAE 32.85, RMSE 57.04, R² 0.9116.</a:t>
            </a:r>
            <a:endParaRPr lang="en-US" sz="1050" dirty="0"/>
          </a:p>
        </p:txBody>
      </p:sp>
      <p:sp>
        <p:nvSpPr>
          <p:cNvPr id="125" name="Badge5"/>
          <p:cNvSpPr/>
          <p:nvPr/>
        </p:nvSpPr>
        <p:spPr>
          <a:xfrm>
            <a:off x="10017160" y="5988770"/>
            <a:ext cx="1550000" cy="320000"/>
          </a:xfrm>
          <a:prstGeom prst="roundRect">
            <a:avLst>
              <a:gd name="adj" fmla="val 50000"/>
            </a:avLst>
          </a:prstGeom>
          <a:solidFill>
            <a:srgbClr val="FFFFFF"/>
          </a:solidFill>
          <a:ln w="9525">
            <a:solidFill>
              <a:srgbClr val="B9C4D9"/>
            </a:solidFill>
            <a:prstDash val="solid"/>
          </a:ln>
        </p:spPr>
      </p:sp>
      <p:sp>
        <p:nvSpPr>
          <p:cNvPr id="126" name="BadgeText5"/>
          <p:cNvSpPr txBox="1"/>
          <p:nvPr/>
        </p:nvSpPr>
        <p:spPr>
          <a:xfrm>
            <a:off x="10017160" y="5988770"/>
            <a:ext cx="1550000" cy="320000"/>
          </a:xfrm>
          <a:prstGeom prst="rect">
            <a:avLst/>
          </a:prstGeom>
          <a:noFill/>
          <a:ln/>
        </p:spPr>
        <p:txBody>
          <a:bodyPr wrap="square" lIns="0" tIns="0" rIns="0" bIns="0" rtlCol="0" anchor="ctr"/>
          <a:lstStyle/>
          <a:p>
            <a:pPr marL="0" indent="0" algn="ctr">
              <a:buNone/>
            </a:pPr>
            <a:r>
              <a:rPr lang="en-US" sz="900" i="1" dirty="0">
                <a:solidFill>
                  <a:srgbClr val="667085"/>
                </a:solidFill>
                <a:latin typeface="Calibri" pitchFamily="34" charset="0"/>
                <a:ea typeface="Calibri" pitchFamily="34" charset="-122"/>
                <a:cs typeface="Calibri" pitchFamily="34" charset="-120"/>
              </a:rPr>
              <a:t>machine_learning.py</a:t>
            </a:r>
            <a:endParaRPr lang="en-US" sz="900" dirty="0"/>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66928"/>
          </a:xfrm>
          <a:prstGeom prst="rect">
            <a:avLst/>
          </a:prstGeom>
          <a:noFill/>
          <a:ln/>
        </p:spPr>
        <p:txBody>
          <a:bodyPr wrap="square" lIns="0" tIns="0" rIns="0" bIns="0" rtlCol="0" anchor="ctr"/>
          <a:lstStyle/>
          <a:p>
            <a:pPr marL="0" indent="0">
              <a:buNone/>
            </a:pPr>
            <a:r>
              <a:rPr lang="en-US" sz="3000" b="1" dirty="0">
                <a:solidFill>
                  <a:srgbClr val="16264A"/>
                </a:solidFill>
                <a:latin typeface="Cambria" pitchFamily="34" charset="0"/>
                <a:ea typeface="Cambria" pitchFamily="34" charset="-122"/>
                <a:cs typeface="Cambria" pitchFamily="34" charset="-120"/>
              </a:rPr>
              <a:t>Methodology (continued)</a:t>
            </a:r>
            <a:endParaRPr lang="en-US" sz="3000" dirty="0"/>
          </a:p>
        </p:txBody>
      </p:sp>
      <p:sp>
        <p:nvSpPr>
          <p:cNvPr id="3" name="Text 1"/>
          <p:cNvSpPr txBox="1"/>
          <p:nvPr/>
        </p:nvSpPr>
        <p:spPr>
          <a:xfrm>
            <a:off x="502920" y="896112"/>
            <a:ext cx="11155680" cy="329184"/>
          </a:xfrm>
          <a:prstGeom prst="rect">
            <a:avLst/>
          </a:prstGeom>
          <a:noFill/>
          <a:ln/>
        </p:spPr>
        <p:txBody>
          <a:bodyPr wrap="square" lIns="0" tIns="0" rIns="0" bIns="0" rtlCol="0" anchor="ctr"/>
          <a:lstStyle/>
          <a:p>
            <a:pPr marL="0" indent="0">
              <a:buNone/>
            </a:pPr>
            <a:r>
              <a:rPr lang="en-US" sz="1300" i="1" dirty="0">
                <a:solidFill>
                  <a:srgbClr val="667085"/>
                </a:solidFill>
                <a:latin typeface="Calibri" pitchFamily="34" charset="0"/>
                <a:ea typeface="Calibri" pitchFamily="34" charset="-122"/>
                <a:cs typeface="Calibri" pitchFamily="34" charset="-120"/>
              </a:rPr>
              <a:t>End-to-end workflow, part 2 of 2 - customer intelligence and deployment</a:t>
            </a:r>
            <a:endParaRPr lang="en-US" sz="1300" dirty="0"/>
          </a:p>
        </p:txBody>
      </p:sp>
      <p:sp>
        <p:nvSpPr>
          <p:cNvPr id="20" name="RowBox0"/>
          <p:cNvSpPr/>
          <p:nvPr/>
        </p:nvSpPr>
        <p:spPr>
          <a:xfrm>
            <a:off x="502920" y="1417320"/>
            <a:ext cx="11155680" cy="818700"/>
          </a:xfrm>
          <a:prstGeom prst="roundRect">
            <a:avLst>
              <a:gd name="adj" fmla="val 3500"/>
            </a:avLst>
          </a:prstGeom>
          <a:solidFill>
            <a:srgbClr val="EDF1F8"/>
          </a:solidFill>
          <a:ln w="12700">
            <a:solidFill>
              <a:srgbClr val="EDF1F8"/>
            </a:solidFill>
            <a:prstDash val="solid"/>
          </a:ln>
        </p:spPr>
      </p:sp>
      <p:sp>
        <p:nvSpPr>
          <p:cNvPr id="21" name="Circle0"/>
          <p:cNvSpPr/>
          <p:nvPr/>
        </p:nvSpPr>
        <p:spPr>
          <a:xfrm>
            <a:off x="594360" y="1680366"/>
            <a:ext cx="292608" cy="292608"/>
          </a:xfrm>
          <a:prstGeom prst="ellipse">
            <a:avLst/>
          </a:prstGeom>
          <a:solidFill>
            <a:srgbClr val="16264A"/>
          </a:solidFill>
          <a:ln w="12700">
            <a:solidFill>
              <a:srgbClr val="16264A"/>
            </a:solidFill>
            <a:prstDash val="solid"/>
          </a:ln>
        </p:spPr>
      </p:sp>
      <p:sp>
        <p:nvSpPr>
          <p:cNvPr id="22" name="Num0"/>
          <p:cNvSpPr txBox="1"/>
          <p:nvPr/>
        </p:nvSpPr>
        <p:spPr>
          <a:xfrm>
            <a:off x="594360" y="168036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3" name="Title0"/>
          <p:cNvSpPr txBox="1"/>
          <p:nvPr/>
        </p:nvSpPr>
        <p:spPr>
          <a:xfrm>
            <a:off x="996696" y="1417320"/>
            <a:ext cx="2050000" cy="818700"/>
          </a:xfrm>
          <a:prstGeom prst="rect">
            <a:avLst/>
          </a:prstGeom>
          <a:noFill/>
          <a:ln/>
        </p:spPr>
        <p:txBody>
          <a:bodyPr wrap="square" lIns="0" tIns="0" rIns="0" bIns="0" rtlCol="0" anchor="ctr"/>
          <a:lstStyle/>
          <a:p>
            <a:pPr marL="0" indent="0">
              <a:lnSpc>
                <a:spcPts val="1400"/>
              </a:lnSpc>
              <a:buNone/>
            </a:pPr>
            <a:r>
              <a:rPr lang="en-US" sz="1300" b="1" dirty="0">
                <a:solidFill>
                  <a:srgbClr val="16264A"/>
                </a:solidFill>
                <a:latin typeface="Cambria" pitchFamily="34" charset="0"/>
                <a:ea typeface="Cambria" pitchFamily="34" charset="-122"/>
                <a:cs typeface="Cambria" pitchFamily="34" charset="-120"/>
              </a:rPr>
              <a:t>RFM Intelligence</a:t>
            </a:r>
            <a:endParaRPr lang="en-US" sz="1300" dirty="0"/>
          </a:p>
        </p:txBody>
      </p:sp>
      <p:sp>
        <p:nvSpPr>
          <p:cNvPr id="24" name="Detail0"/>
          <p:cNvSpPr txBox="1"/>
          <p:nvPr/>
        </p:nvSpPr>
        <p:spPr>
          <a:xfrm>
            <a:off x="3126696" y="1417320"/>
            <a:ext cx="6810464" cy="818700"/>
          </a:xfrm>
          <a:prstGeom prst="rect">
            <a:avLst/>
          </a:prstGeom>
          <a:noFill/>
          <a:ln/>
        </p:spPr>
        <p:txBody>
          <a:bodyPr wrap="square" lIns="0" tIns="0" rIns="0" bIns="0" rtlCol="0" anchor="ctr"/>
          <a:lstStyle/>
          <a:p>
            <a:pPr marL="0" indent="0">
              <a:lnSpc>
                <a:spcPct val="112000"/>
              </a:lnSpc>
              <a:buNone/>
            </a:pPr>
            <a:r>
              <a:rPr lang="en-US" sz="1050" dirty="0">
                <a:solidFill>
                  <a:srgbClr val="344054"/>
                </a:solidFill>
                <a:latin typeface="Calibri" pitchFamily="34" charset="0"/>
                <a:ea typeface="Calibri" pitchFamily="34" charset="-122"/>
                <a:cs typeface="Calibri" pitchFamily="34" charset="-120"/>
              </a:rPr>
              <a:t>Quintile scoring of Recency, Frequency and Monetary for all 1,590 customers - RFM score 3 to 15, grouped into High / Medium / Low value bands.</a:t>
            </a:r>
            <a:endParaRPr lang="en-US" sz="1050" dirty="0"/>
          </a:p>
        </p:txBody>
      </p:sp>
      <p:sp>
        <p:nvSpPr>
          <p:cNvPr id="25" name="Badge0"/>
          <p:cNvSpPr/>
          <p:nvPr/>
        </p:nvSpPr>
        <p:spPr>
          <a:xfrm>
            <a:off x="10017160" y="1666670"/>
            <a:ext cx="1550000" cy="320000"/>
          </a:xfrm>
          <a:prstGeom prst="roundRect">
            <a:avLst>
              <a:gd name="adj" fmla="val 50000"/>
            </a:avLst>
          </a:prstGeom>
          <a:solidFill>
            <a:srgbClr val="FFFFFF"/>
          </a:solidFill>
          <a:ln w="9525">
            <a:solidFill>
              <a:srgbClr val="B9C4D9"/>
            </a:solidFill>
            <a:prstDash val="solid"/>
          </a:ln>
        </p:spPr>
      </p:sp>
      <p:sp>
        <p:nvSpPr>
          <p:cNvPr id="26" name="BadgeText0"/>
          <p:cNvSpPr txBox="1"/>
          <p:nvPr/>
        </p:nvSpPr>
        <p:spPr>
          <a:xfrm>
            <a:off x="10017160" y="1666670"/>
            <a:ext cx="1550000" cy="320000"/>
          </a:xfrm>
          <a:prstGeom prst="rect">
            <a:avLst/>
          </a:prstGeom>
          <a:noFill/>
          <a:ln/>
        </p:spPr>
        <p:txBody>
          <a:bodyPr wrap="square" lIns="0" tIns="0" rIns="0" bIns="0" rtlCol="0" anchor="ctr"/>
          <a:lstStyle/>
          <a:p>
            <a:pPr marL="0" indent="0" algn="ctr">
              <a:buNone/>
            </a:pPr>
            <a:r>
              <a:rPr lang="en-US" sz="900" i="1" dirty="0">
                <a:solidFill>
                  <a:srgbClr val="667085"/>
                </a:solidFill>
                <a:latin typeface="Calibri" pitchFamily="34" charset="0"/>
                <a:ea typeface="Calibri" pitchFamily="34" charset="-122"/>
                <a:cs typeface="Calibri" pitchFamily="34" charset="-120"/>
              </a:rPr>
              <a:t>rfm_analysis.py</a:t>
            </a:r>
            <a:endParaRPr lang="en-US" sz="900" dirty="0"/>
          </a:p>
        </p:txBody>
      </p:sp>
      <p:sp>
        <p:nvSpPr>
          <p:cNvPr id="40" name="RowBox1"/>
          <p:cNvSpPr/>
          <p:nvPr/>
        </p:nvSpPr>
        <p:spPr>
          <a:xfrm>
            <a:off x="502920" y="2281740"/>
            <a:ext cx="11155680" cy="818700"/>
          </a:xfrm>
          <a:prstGeom prst="roundRect">
            <a:avLst>
              <a:gd name="adj" fmla="val 3500"/>
            </a:avLst>
          </a:prstGeom>
          <a:solidFill>
            <a:srgbClr val="EDF1F8"/>
          </a:solidFill>
          <a:ln w="12700">
            <a:solidFill>
              <a:srgbClr val="EDF1F8"/>
            </a:solidFill>
            <a:prstDash val="solid"/>
          </a:ln>
        </p:spPr>
      </p:sp>
      <p:sp>
        <p:nvSpPr>
          <p:cNvPr id="41" name="Circle1"/>
          <p:cNvSpPr/>
          <p:nvPr/>
        </p:nvSpPr>
        <p:spPr>
          <a:xfrm>
            <a:off x="594360" y="2544786"/>
            <a:ext cx="292608" cy="292608"/>
          </a:xfrm>
          <a:prstGeom prst="ellipse">
            <a:avLst/>
          </a:prstGeom>
          <a:solidFill>
            <a:srgbClr val="16264A"/>
          </a:solidFill>
          <a:ln w="12700">
            <a:solidFill>
              <a:srgbClr val="16264A"/>
            </a:solidFill>
            <a:prstDash val="solid"/>
          </a:ln>
        </p:spPr>
      </p:sp>
      <p:sp>
        <p:nvSpPr>
          <p:cNvPr id="42" name="Num1"/>
          <p:cNvSpPr txBox="1"/>
          <p:nvPr/>
        </p:nvSpPr>
        <p:spPr>
          <a:xfrm>
            <a:off x="594360" y="254478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3" name="Title1"/>
          <p:cNvSpPr txBox="1"/>
          <p:nvPr/>
        </p:nvSpPr>
        <p:spPr>
          <a:xfrm>
            <a:off x="996696" y="2281740"/>
            <a:ext cx="2050000" cy="818700"/>
          </a:xfrm>
          <a:prstGeom prst="rect">
            <a:avLst/>
          </a:prstGeom>
          <a:noFill/>
          <a:ln/>
        </p:spPr>
        <p:txBody>
          <a:bodyPr wrap="square" lIns="0" tIns="0" rIns="0" bIns="0" rtlCol="0" anchor="ctr"/>
          <a:lstStyle/>
          <a:p>
            <a:pPr marL="0" indent="0">
              <a:lnSpc>
                <a:spcPts val="1400"/>
              </a:lnSpc>
              <a:buNone/>
            </a:pPr>
            <a:r>
              <a:rPr lang="en-US" sz="1300" b="1" dirty="0">
                <a:solidFill>
                  <a:srgbClr val="16264A"/>
                </a:solidFill>
                <a:latin typeface="Cambria" pitchFamily="34" charset="0"/>
                <a:ea typeface="Cambria" pitchFamily="34" charset="-122"/>
                <a:cs typeface="Cambria" pitchFamily="34" charset="-120"/>
              </a:rPr>
              <a:t>CLV Estimation</a:t>
            </a:r>
            <a:endParaRPr lang="en-US" sz="1300" dirty="0"/>
          </a:p>
        </p:txBody>
      </p:sp>
      <p:sp>
        <p:nvSpPr>
          <p:cNvPr id="44" name="Detail1"/>
          <p:cNvSpPr txBox="1"/>
          <p:nvPr/>
        </p:nvSpPr>
        <p:spPr>
          <a:xfrm>
            <a:off x="3126696" y="2281740"/>
            <a:ext cx="6810464" cy="818700"/>
          </a:xfrm>
          <a:prstGeom prst="rect">
            <a:avLst/>
          </a:prstGeom>
          <a:noFill/>
          <a:ln/>
        </p:spPr>
        <p:txBody>
          <a:bodyPr wrap="square" lIns="0" tIns="0" rIns="0" bIns="0" rtlCol="0" anchor="ctr"/>
          <a:lstStyle/>
          <a:p>
            <a:pPr marL="0" indent="0">
              <a:lnSpc>
                <a:spcPct val="112000"/>
              </a:lnSpc>
              <a:buNone/>
            </a:pPr>
            <a:r>
              <a:rPr lang="en-US" sz="1050" dirty="0">
                <a:solidFill>
                  <a:srgbClr val="344054"/>
                </a:solidFill>
                <a:latin typeface="Calibri" pitchFamily="34" charset="0"/>
                <a:ea typeface="Calibri" pitchFamily="34" charset="-122"/>
                <a:cs typeface="Calibri" pitchFamily="34" charset="-120"/>
              </a:rPr>
              <a:t>CLV = Average Order Value x Purchase Frequency x Estimated Lifespan - a historical behavioural estimate, not a predictive forecast.</a:t>
            </a:r>
            <a:endParaRPr lang="en-US" sz="1050" dirty="0"/>
          </a:p>
        </p:txBody>
      </p:sp>
      <p:sp>
        <p:nvSpPr>
          <p:cNvPr id="45" name="Badge1"/>
          <p:cNvSpPr/>
          <p:nvPr/>
        </p:nvSpPr>
        <p:spPr>
          <a:xfrm>
            <a:off x="10017160" y="2531090"/>
            <a:ext cx="1550000" cy="320000"/>
          </a:xfrm>
          <a:prstGeom prst="roundRect">
            <a:avLst>
              <a:gd name="adj" fmla="val 50000"/>
            </a:avLst>
          </a:prstGeom>
          <a:solidFill>
            <a:srgbClr val="FFFFFF"/>
          </a:solidFill>
          <a:ln w="9525">
            <a:solidFill>
              <a:srgbClr val="B9C4D9"/>
            </a:solidFill>
            <a:prstDash val="solid"/>
          </a:ln>
        </p:spPr>
      </p:sp>
      <p:sp>
        <p:nvSpPr>
          <p:cNvPr id="46" name="BadgeText1"/>
          <p:cNvSpPr txBox="1"/>
          <p:nvPr/>
        </p:nvSpPr>
        <p:spPr>
          <a:xfrm>
            <a:off x="10017160" y="2531090"/>
            <a:ext cx="1550000" cy="320000"/>
          </a:xfrm>
          <a:prstGeom prst="rect">
            <a:avLst/>
          </a:prstGeom>
          <a:noFill/>
          <a:ln/>
        </p:spPr>
        <p:txBody>
          <a:bodyPr wrap="square" lIns="0" tIns="0" rIns="0" bIns="0" rtlCol="0" anchor="ctr"/>
          <a:lstStyle/>
          <a:p>
            <a:pPr marL="0" indent="0" algn="ctr">
              <a:buNone/>
            </a:pPr>
            <a:r>
              <a:rPr lang="en-US" sz="900" i="1" dirty="0">
                <a:solidFill>
                  <a:srgbClr val="667085"/>
                </a:solidFill>
                <a:latin typeface="Calibri" pitchFamily="34" charset="0"/>
                <a:ea typeface="Calibri" pitchFamily="34" charset="-122"/>
                <a:cs typeface="Calibri" pitchFamily="34" charset="-120"/>
              </a:rPr>
              <a:t>clv_analysis.py</a:t>
            </a:r>
            <a:endParaRPr lang="en-US" sz="900" dirty="0"/>
          </a:p>
        </p:txBody>
      </p:sp>
      <p:sp>
        <p:nvSpPr>
          <p:cNvPr id="60" name="RowBox2"/>
          <p:cNvSpPr/>
          <p:nvPr/>
        </p:nvSpPr>
        <p:spPr>
          <a:xfrm>
            <a:off x="502920" y="3146160"/>
            <a:ext cx="11155680" cy="818700"/>
          </a:xfrm>
          <a:prstGeom prst="roundRect">
            <a:avLst>
              <a:gd name="adj" fmla="val 3500"/>
            </a:avLst>
          </a:prstGeom>
          <a:solidFill>
            <a:srgbClr val="EDF1F8"/>
          </a:solidFill>
          <a:ln w="12700">
            <a:solidFill>
              <a:srgbClr val="EDF1F8"/>
            </a:solidFill>
            <a:prstDash val="solid"/>
          </a:ln>
        </p:spPr>
      </p:sp>
      <p:sp>
        <p:nvSpPr>
          <p:cNvPr id="61" name="Circle2"/>
          <p:cNvSpPr/>
          <p:nvPr/>
        </p:nvSpPr>
        <p:spPr>
          <a:xfrm>
            <a:off x="594360" y="3409206"/>
            <a:ext cx="292608" cy="292608"/>
          </a:xfrm>
          <a:prstGeom prst="ellipse">
            <a:avLst/>
          </a:prstGeom>
          <a:solidFill>
            <a:srgbClr val="16264A"/>
          </a:solidFill>
          <a:ln w="12700">
            <a:solidFill>
              <a:srgbClr val="16264A"/>
            </a:solidFill>
            <a:prstDash val="solid"/>
          </a:ln>
        </p:spPr>
      </p:sp>
      <p:sp>
        <p:nvSpPr>
          <p:cNvPr id="62" name="Num2"/>
          <p:cNvSpPr txBox="1"/>
          <p:nvPr/>
        </p:nvSpPr>
        <p:spPr>
          <a:xfrm>
            <a:off x="594360" y="340920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63" name="Title2"/>
          <p:cNvSpPr txBox="1"/>
          <p:nvPr/>
        </p:nvSpPr>
        <p:spPr>
          <a:xfrm>
            <a:off x="996696" y="3146160"/>
            <a:ext cx="2050000" cy="818700"/>
          </a:xfrm>
          <a:prstGeom prst="rect">
            <a:avLst/>
          </a:prstGeom>
          <a:noFill/>
          <a:ln/>
        </p:spPr>
        <p:txBody>
          <a:bodyPr wrap="square" lIns="0" tIns="0" rIns="0" bIns="0" rtlCol="0" anchor="ctr"/>
          <a:lstStyle/>
          <a:p>
            <a:pPr marL="0" indent="0">
              <a:lnSpc>
                <a:spcPts val="1400"/>
              </a:lnSpc>
              <a:buNone/>
            </a:pPr>
            <a:r>
              <a:rPr lang="en-US" sz="1300" b="1" dirty="0">
                <a:solidFill>
                  <a:srgbClr val="16264A"/>
                </a:solidFill>
                <a:latin typeface="Cambria" pitchFamily="34" charset="0"/>
                <a:ea typeface="Cambria" pitchFamily="34" charset="-122"/>
                <a:cs typeface="Cambria" pitchFamily="34" charset="-120"/>
              </a:rPr>
              <a:t>Scenario Analysis</a:t>
            </a:r>
            <a:endParaRPr lang="en-US" sz="1300" dirty="0"/>
          </a:p>
        </p:txBody>
      </p:sp>
      <p:sp>
        <p:nvSpPr>
          <p:cNvPr id="64" name="Detail2"/>
          <p:cNvSpPr txBox="1"/>
          <p:nvPr/>
        </p:nvSpPr>
        <p:spPr>
          <a:xfrm>
            <a:off x="3126696" y="3146160"/>
            <a:ext cx="6810464" cy="818700"/>
          </a:xfrm>
          <a:prstGeom prst="rect">
            <a:avLst/>
          </a:prstGeom>
          <a:noFill/>
          <a:ln/>
        </p:spPr>
        <p:txBody>
          <a:bodyPr wrap="square" lIns="0" tIns="0" rIns="0" bIns="0" rtlCol="0" anchor="ctr"/>
          <a:lstStyle/>
          <a:p>
            <a:pPr marL="0" indent="0">
              <a:lnSpc>
                <a:spcPct val="112000"/>
              </a:lnSpc>
              <a:buNone/>
            </a:pPr>
            <a:r>
              <a:rPr lang="en-US" sz="1050" dirty="0">
                <a:solidFill>
                  <a:srgbClr val="344054"/>
                </a:solidFill>
                <a:latin typeface="Calibri" pitchFamily="34" charset="0"/>
                <a:ea typeface="Calibri" pitchFamily="34" charset="-122"/>
                <a:cs typeface="Calibri" pitchFamily="34" charset="-120"/>
              </a:rPr>
              <a:t>Saved XGBoost model replayed on a fixed 1,000-row sample across discount levels (0-50%) and quantity values (1-12) to observe the predicted-sales response.</a:t>
            </a:r>
            <a:endParaRPr lang="en-US" sz="1050" dirty="0"/>
          </a:p>
        </p:txBody>
      </p:sp>
      <p:sp>
        <p:nvSpPr>
          <p:cNvPr id="65" name="Badge2"/>
          <p:cNvSpPr/>
          <p:nvPr/>
        </p:nvSpPr>
        <p:spPr>
          <a:xfrm>
            <a:off x="10017160" y="3395510"/>
            <a:ext cx="1550000" cy="320000"/>
          </a:xfrm>
          <a:prstGeom prst="roundRect">
            <a:avLst>
              <a:gd name="adj" fmla="val 50000"/>
            </a:avLst>
          </a:prstGeom>
          <a:solidFill>
            <a:srgbClr val="FFFFFF"/>
          </a:solidFill>
          <a:ln w="9525">
            <a:solidFill>
              <a:srgbClr val="B9C4D9"/>
            </a:solidFill>
            <a:prstDash val="solid"/>
          </a:ln>
        </p:spPr>
      </p:sp>
      <p:sp>
        <p:nvSpPr>
          <p:cNvPr id="66" name="BadgeText2"/>
          <p:cNvSpPr txBox="1"/>
          <p:nvPr/>
        </p:nvSpPr>
        <p:spPr>
          <a:xfrm>
            <a:off x="10017160" y="3395510"/>
            <a:ext cx="1550000" cy="320000"/>
          </a:xfrm>
          <a:prstGeom prst="rect">
            <a:avLst/>
          </a:prstGeom>
          <a:noFill/>
          <a:ln/>
        </p:spPr>
        <p:txBody>
          <a:bodyPr wrap="square" lIns="0" tIns="0" rIns="0" bIns="0" rtlCol="0" anchor="ctr"/>
          <a:lstStyle/>
          <a:p>
            <a:pPr marL="0" indent="0" algn="ctr">
              <a:buNone/>
            </a:pPr>
            <a:r>
              <a:rPr lang="en-US" sz="900" i="1" dirty="0">
                <a:solidFill>
                  <a:srgbClr val="667085"/>
                </a:solidFill>
                <a:latin typeface="Calibri" pitchFamily="34" charset="0"/>
                <a:ea typeface="Calibri" pitchFamily="34" charset="-122"/>
                <a:cs typeface="Calibri" pitchFamily="34" charset="-120"/>
              </a:rPr>
              <a:t>discount / quantity</a:t>
            </a:r>
            <a:endParaRPr lang="en-US" sz="900" dirty="0"/>
          </a:p>
        </p:txBody>
      </p:sp>
      <p:sp>
        <p:nvSpPr>
          <p:cNvPr id="80" name="RowBox3"/>
          <p:cNvSpPr/>
          <p:nvPr/>
        </p:nvSpPr>
        <p:spPr>
          <a:xfrm>
            <a:off x="502920" y="4010580"/>
            <a:ext cx="11155680" cy="818700"/>
          </a:xfrm>
          <a:prstGeom prst="roundRect">
            <a:avLst>
              <a:gd name="adj" fmla="val 3500"/>
            </a:avLst>
          </a:prstGeom>
          <a:solidFill>
            <a:srgbClr val="EDF1F8"/>
          </a:solidFill>
          <a:ln w="12700">
            <a:solidFill>
              <a:srgbClr val="EDF1F8"/>
            </a:solidFill>
            <a:prstDash val="solid"/>
          </a:ln>
        </p:spPr>
      </p:sp>
      <p:sp>
        <p:nvSpPr>
          <p:cNvPr id="81" name="Circle3"/>
          <p:cNvSpPr/>
          <p:nvPr/>
        </p:nvSpPr>
        <p:spPr>
          <a:xfrm>
            <a:off x="594360" y="4273626"/>
            <a:ext cx="292608" cy="292608"/>
          </a:xfrm>
          <a:prstGeom prst="ellipse">
            <a:avLst/>
          </a:prstGeom>
          <a:solidFill>
            <a:srgbClr val="16264A"/>
          </a:solidFill>
          <a:ln w="12700">
            <a:solidFill>
              <a:srgbClr val="16264A"/>
            </a:solidFill>
            <a:prstDash val="solid"/>
          </a:ln>
        </p:spPr>
      </p:sp>
      <p:sp>
        <p:nvSpPr>
          <p:cNvPr id="82" name="Num3"/>
          <p:cNvSpPr txBox="1"/>
          <p:nvPr/>
        </p:nvSpPr>
        <p:spPr>
          <a:xfrm>
            <a:off x="594360" y="427362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83" name="Title3"/>
          <p:cNvSpPr txBox="1"/>
          <p:nvPr/>
        </p:nvSpPr>
        <p:spPr>
          <a:xfrm>
            <a:off x="996696" y="4010580"/>
            <a:ext cx="2050000" cy="818700"/>
          </a:xfrm>
          <a:prstGeom prst="rect">
            <a:avLst/>
          </a:prstGeom>
          <a:noFill/>
          <a:ln/>
        </p:spPr>
        <p:txBody>
          <a:bodyPr wrap="square" lIns="0" tIns="0" rIns="0" bIns="0" rtlCol="0" anchor="ctr"/>
          <a:lstStyle/>
          <a:p>
            <a:pPr marL="0" indent="0">
              <a:lnSpc>
                <a:spcPts val="1400"/>
              </a:lnSpc>
              <a:buNone/>
            </a:pPr>
            <a:r>
              <a:rPr lang="en-US" sz="1300" b="1" dirty="0">
                <a:solidFill>
                  <a:srgbClr val="16264A"/>
                </a:solidFill>
                <a:latin typeface="Cambria" pitchFamily="34" charset="0"/>
                <a:ea typeface="Cambria" pitchFamily="34" charset="-122"/>
                <a:cs typeface="Cambria" pitchFamily="34" charset="-120"/>
              </a:rPr>
              <a:t>MySQL Load</a:t>
            </a:r>
            <a:endParaRPr lang="en-US" sz="1300" dirty="0"/>
          </a:p>
        </p:txBody>
      </p:sp>
      <p:sp>
        <p:nvSpPr>
          <p:cNvPr id="84" name="Detail3"/>
          <p:cNvSpPr txBox="1"/>
          <p:nvPr/>
        </p:nvSpPr>
        <p:spPr>
          <a:xfrm>
            <a:off x="3126696" y="4010580"/>
            <a:ext cx="6810464" cy="818700"/>
          </a:xfrm>
          <a:prstGeom prst="rect">
            <a:avLst/>
          </a:prstGeom>
          <a:noFill/>
          <a:ln/>
        </p:spPr>
        <p:txBody>
          <a:bodyPr wrap="square" lIns="0" tIns="0" rIns="0" bIns="0" rtlCol="0" anchor="ctr"/>
          <a:lstStyle/>
          <a:p>
            <a:pPr marL="0" indent="0">
              <a:lnSpc>
                <a:spcPct val="112000"/>
              </a:lnSpc>
              <a:buNone/>
            </a:pPr>
            <a:r>
              <a:rPr lang="en-US" sz="1050" dirty="0">
                <a:solidFill>
                  <a:srgbClr val="344054"/>
                </a:solidFill>
                <a:latin typeface="Calibri" pitchFamily="34" charset="0"/>
                <a:ea typeface="Calibri" pitchFamily="34" charset="-122"/>
                <a:cs typeface="Calibri" pitchFamily="34" charset="-120"/>
              </a:rPr>
              <a:t>Sales-related fields loaded into retail_analytics.sales_data via pymysql, feeding the KPI and trend visuals in Power BI.</a:t>
            </a:r>
            <a:endParaRPr lang="en-US" sz="1050" dirty="0"/>
          </a:p>
        </p:txBody>
      </p:sp>
      <p:sp>
        <p:nvSpPr>
          <p:cNvPr id="85" name="Badge3"/>
          <p:cNvSpPr/>
          <p:nvPr/>
        </p:nvSpPr>
        <p:spPr>
          <a:xfrm>
            <a:off x="10017160" y="4259930"/>
            <a:ext cx="1550000" cy="320000"/>
          </a:xfrm>
          <a:prstGeom prst="roundRect">
            <a:avLst>
              <a:gd name="adj" fmla="val 50000"/>
            </a:avLst>
          </a:prstGeom>
          <a:solidFill>
            <a:srgbClr val="FFFFFF"/>
          </a:solidFill>
          <a:ln w="9525">
            <a:solidFill>
              <a:srgbClr val="B9C4D9"/>
            </a:solidFill>
            <a:prstDash val="solid"/>
          </a:ln>
        </p:spPr>
      </p:sp>
      <p:sp>
        <p:nvSpPr>
          <p:cNvPr id="86" name="BadgeText3"/>
          <p:cNvSpPr txBox="1"/>
          <p:nvPr/>
        </p:nvSpPr>
        <p:spPr>
          <a:xfrm>
            <a:off x="10017160" y="4259930"/>
            <a:ext cx="1550000" cy="320000"/>
          </a:xfrm>
          <a:prstGeom prst="rect">
            <a:avLst/>
          </a:prstGeom>
          <a:noFill/>
          <a:ln/>
        </p:spPr>
        <p:txBody>
          <a:bodyPr wrap="square" lIns="0" tIns="0" rIns="0" bIns="0" rtlCol="0" anchor="ctr"/>
          <a:lstStyle/>
          <a:p>
            <a:pPr marL="0" indent="0" algn="ctr">
              <a:buNone/>
            </a:pPr>
            <a:r>
              <a:rPr lang="en-US" sz="900" i="1" dirty="0">
                <a:solidFill>
                  <a:srgbClr val="667085"/>
                </a:solidFill>
                <a:latin typeface="Calibri" pitchFamily="34" charset="0"/>
                <a:ea typeface="Calibri" pitchFamily="34" charset="-122"/>
                <a:cs typeface="Calibri" pitchFamily="34" charset="-120"/>
              </a:rPr>
              <a:t>sql_database.py</a:t>
            </a:r>
            <a:endParaRPr lang="en-US" sz="900" dirty="0"/>
          </a:p>
        </p:txBody>
      </p:sp>
      <p:sp>
        <p:nvSpPr>
          <p:cNvPr id="100" name="RowBox4"/>
          <p:cNvSpPr/>
          <p:nvPr/>
        </p:nvSpPr>
        <p:spPr>
          <a:xfrm>
            <a:off x="502920" y="4875000"/>
            <a:ext cx="11155680" cy="818700"/>
          </a:xfrm>
          <a:prstGeom prst="roundRect">
            <a:avLst>
              <a:gd name="adj" fmla="val 3500"/>
            </a:avLst>
          </a:prstGeom>
          <a:solidFill>
            <a:srgbClr val="EDF1F8"/>
          </a:solidFill>
          <a:ln w="12700">
            <a:solidFill>
              <a:srgbClr val="EDF1F8"/>
            </a:solidFill>
            <a:prstDash val="solid"/>
          </a:ln>
        </p:spPr>
      </p:sp>
      <p:sp>
        <p:nvSpPr>
          <p:cNvPr id="101" name="Circle4"/>
          <p:cNvSpPr/>
          <p:nvPr/>
        </p:nvSpPr>
        <p:spPr>
          <a:xfrm>
            <a:off x="594360" y="5138046"/>
            <a:ext cx="292608" cy="292608"/>
          </a:xfrm>
          <a:prstGeom prst="ellipse">
            <a:avLst/>
          </a:prstGeom>
          <a:solidFill>
            <a:srgbClr val="16264A"/>
          </a:solidFill>
          <a:ln w="12700">
            <a:solidFill>
              <a:srgbClr val="16264A"/>
            </a:solidFill>
            <a:prstDash val="solid"/>
          </a:ln>
        </p:spPr>
      </p:sp>
      <p:sp>
        <p:nvSpPr>
          <p:cNvPr id="102" name="Num4"/>
          <p:cNvSpPr txBox="1"/>
          <p:nvPr/>
        </p:nvSpPr>
        <p:spPr>
          <a:xfrm>
            <a:off x="594360" y="513804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103" name="Title4"/>
          <p:cNvSpPr txBox="1"/>
          <p:nvPr/>
        </p:nvSpPr>
        <p:spPr>
          <a:xfrm>
            <a:off x="996696" y="4875000"/>
            <a:ext cx="2050000" cy="818700"/>
          </a:xfrm>
          <a:prstGeom prst="rect">
            <a:avLst/>
          </a:prstGeom>
          <a:noFill/>
          <a:ln/>
        </p:spPr>
        <p:txBody>
          <a:bodyPr wrap="square" lIns="0" tIns="0" rIns="0" bIns="0" rtlCol="0" anchor="ctr"/>
          <a:lstStyle/>
          <a:p>
            <a:pPr marL="0" indent="0">
              <a:lnSpc>
                <a:spcPts val="1400"/>
              </a:lnSpc>
              <a:buNone/>
            </a:pPr>
            <a:r>
              <a:rPr lang="en-US" sz="1300" b="1" dirty="0">
                <a:solidFill>
                  <a:srgbClr val="16264A"/>
                </a:solidFill>
                <a:latin typeface="Cambria" pitchFamily="34" charset="0"/>
                <a:ea typeface="Cambria" pitchFamily="34" charset="-122"/>
                <a:cs typeface="Cambria" pitchFamily="34" charset="-120"/>
              </a:rPr>
              <a:t>Power BI Dashboard</a:t>
            </a:r>
            <a:endParaRPr lang="en-US" sz="1300" dirty="0"/>
          </a:p>
        </p:txBody>
      </p:sp>
      <p:sp>
        <p:nvSpPr>
          <p:cNvPr id="104" name="Detail4"/>
          <p:cNvSpPr txBox="1"/>
          <p:nvPr/>
        </p:nvSpPr>
        <p:spPr>
          <a:xfrm>
            <a:off x="3126696" y="4875000"/>
            <a:ext cx="6810464" cy="818700"/>
          </a:xfrm>
          <a:prstGeom prst="rect">
            <a:avLst/>
          </a:prstGeom>
          <a:noFill/>
          <a:ln/>
        </p:spPr>
        <p:txBody>
          <a:bodyPr wrap="square" lIns="0" tIns="0" rIns="0" bIns="0" rtlCol="0" anchor="ctr"/>
          <a:lstStyle/>
          <a:p>
            <a:pPr marL="0" indent="0">
              <a:lnSpc>
                <a:spcPct val="112000"/>
              </a:lnSpc>
              <a:buNone/>
            </a:pPr>
            <a:r>
              <a:rPr lang="en-US" sz="1050" dirty="0">
                <a:solidFill>
                  <a:srgbClr val="344054"/>
                </a:solidFill>
                <a:latin typeface="Calibri" pitchFamily="34" charset="0"/>
                <a:ea typeface="Calibri" pitchFamily="34" charset="-122"/>
                <a:cs typeface="Calibri" pitchFamily="34" charset="-120"/>
              </a:rPr>
              <a:t>Six interactive report pages - Overview, Product &amp; Profit, Customer Intelligence, CLV, Scenario Analysis, Business Insights - built on MySQL and Excel sources.</a:t>
            </a:r>
            <a:endParaRPr lang="en-US" sz="1050" dirty="0"/>
          </a:p>
        </p:txBody>
      </p:sp>
      <p:sp>
        <p:nvSpPr>
          <p:cNvPr id="105" name="Badge4"/>
          <p:cNvSpPr/>
          <p:nvPr/>
        </p:nvSpPr>
        <p:spPr>
          <a:xfrm>
            <a:off x="10017160" y="5124350"/>
            <a:ext cx="1550000" cy="320000"/>
          </a:xfrm>
          <a:prstGeom prst="roundRect">
            <a:avLst>
              <a:gd name="adj" fmla="val 50000"/>
            </a:avLst>
          </a:prstGeom>
          <a:solidFill>
            <a:srgbClr val="FFFFFF"/>
          </a:solidFill>
          <a:ln w="9525">
            <a:solidFill>
              <a:srgbClr val="B9C4D9"/>
            </a:solidFill>
            <a:prstDash val="solid"/>
          </a:ln>
        </p:spPr>
      </p:sp>
      <p:sp>
        <p:nvSpPr>
          <p:cNvPr id="106" name="BadgeText4"/>
          <p:cNvSpPr txBox="1"/>
          <p:nvPr/>
        </p:nvSpPr>
        <p:spPr>
          <a:xfrm>
            <a:off x="10017160" y="5124350"/>
            <a:ext cx="1550000" cy="320000"/>
          </a:xfrm>
          <a:prstGeom prst="rect">
            <a:avLst/>
          </a:prstGeom>
          <a:noFill/>
          <a:ln/>
        </p:spPr>
        <p:txBody>
          <a:bodyPr wrap="square" lIns="0" tIns="0" rIns="0" bIns="0" rtlCol="0" anchor="ctr"/>
          <a:lstStyle/>
          <a:p>
            <a:pPr marL="0" indent="0" algn="ctr">
              <a:buNone/>
            </a:pPr>
            <a:r>
              <a:rPr lang="en-US" sz="900" i="1" dirty="0">
                <a:solidFill>
                  <a:srgbClr val="667085"/>
                </a:solidFill>
                <a:latin typeface="Calibri" pitchFamily="34" charset="0"/>
                <a:ea typeface="Calibri" pitchFamily="34" charset="-122"/>
                <a:cs typeface="Calibri" pitchFamily="34" charset="-120"/>
              </a:rPr>
              <a:t>6 report pages</a:t>
            </a:r>
            <a:endParaRPr lang="en-US" sz="900" dirty="0"/>
          </a:p>
        </p:txBody>
      </p:sp>
      <p:sp>
        <p:nvSpPr>
          <p:cNvPr id="120" name="RowBox5"/>
          <p:cNvSpPr/>
          <p:nvPr/>
        </p:nvSpPr>
        <p:spPr>
          <a:xfrm>
            <a:off x="502920" y="5739420"/>
            <a:ext cx="11155680" cy="818700"/>
          </a:xfrm>
          <a:prstGeom prst="roundRect">
            <a:avLst>
              <a:gd name="adj" fmla="val 3500"/>
            </a:avLst>
          </a:prstGeom>
          <a:solidFill>
            <a:srgbClr val="EDF1F8"/>
          </a:solidFill>
          <a:ln w="12700">
            <a:solidFill>
              <a:srgbClr val="EDF1F8"/>
            </a:solidFill>
            <a:prstDash val="solid"/>
          </a:ln>
        </p:spPr>
      </p:sp>
      <p:sp>
        <p:nvSpPr>
          <p:cNvPr id="121" name="Circle5"/>
          <p:cNvSpPr/>
          <p:nvPr/>
        </p:nvSpPr>
        <p:spPr>
          <a:xfrm>
            <a:off x="594360" y="6002466"/>
            <a:ext cx="292608" cy="292608"/>
          </a:xfrm>
          <a:prstGeom prst="ellipse">
            <a:avLst/>
          </a:prstGeom>
          <a:solidFill>
            <a:srgbClr val="16264A"/>
          </a:solidFill>
          <a:ln w="12700">
            <a:solidFill>
              <a:srgbClr val="16264A"/>
            </a:solidFill>
            <a:prstDash val="solid"/>
          </a:ln>
        </p:spPr>
      </p:sp>
      <p:sp>
        <p:nvSpPr>
          <p:cNvPr id="122" name="Num5"/>
          <p:cNvSpPr txBox="1"/>
          <p:nvPr/>
        </p:nvSpPr>
        <p:spPr>
          <a:xfrm>
            <a:off x="594360" y="600246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123" name="Title5"/>
          <p:cNvSpPr txBox="1"/>
          <p:nvPr/>
        </p:nvSpPr>
        <p:spPr>
          <a:xfrm>
            <a:off x="996696" y="5739420"/>
            <a:ext cx="2050000" cy="818700"/>
          </a:xfrm>
          <a:prstGeom prst="rect">
            <a:avLst/>
          </a:prstGeom>
          <a:noFill/>
          <a:ln/>
        </p:spPr>
        <p:txBody>
          <a:bodyPr wrap="square" lIns="0" tIns="0" rIns="0" bIns="0" rtlCol="0" anchor="ctr"/>
          <a:lstStyle/>
          <a:p>
            <a:pPr marL="0" indent="0">
              <a:lnSpc>
                <a:spcPts val="1400"/>
              </a:lnSpc>
              <a:buNone/>
            </a:pPr>
            <a:r>
              <a:rPr lang="en-US" sz="1300" b="1" dirty="0">
                <a:solidFill>
                  <a:srgbClr val="16264A"/>
                </a:solidFill>
                <a:latin typeface="Cambria" pitchFamily="34" charset="0"/>
                <a:ea typeface="Cambria" pitchFamily="34" charset="-122"/>
                <a:cs typeface="Cambria" pitchFamily="34" charset="-120"/>
              </a:rPr>
              <a:t>Business Insights</a:t>
            </a:r>
            <a:endParaRPr lang="en-US" sz="1300" dirty="0"/>
          </a:p>
        </p:txBody>
      </p:sp>
      <p:sp>
        <p:nvSpPr>
          <p:cNvPr id="124" name="Detail5"/>
          <p:cNvSpPr txBox="1"/>
          <p:nvPr/>
        </p:nvSpPr>
        <p:spPr>
          <a:xfrm>
            <a:off x="3126696" y="5739420"/>
            <a:ext cx="6810464" cy="818700"/>
          </a:xfrm>
          <a:prstGeom prst="rect">
            <a:avLst/>
          </a:prstGeom>
          <a:noFill/>
          <a:ln/>
        </p:spPr>
        <p:txBody>
          <a:bodyPr wrap="square" lIns="0" tIns="0" rIns="0" bIns="0" rtlCol="0" anchor="ctr"/>
          <a:lstStyle/>
          <a:p>
            <a:pPr marL="0" indent="0">
              <a:lnSpc>
                <a:spcPct val="112000"/>
              </a:lnSpc>
              <a:buNone/>
            </a:pPr>
            <a:r>
              <a:rPr lang="en-US" sz="1050" dirty="0">
                <a:solidFill>
                  <a:srgbClr val="344054"/>
                </a:solidFill>
                <a:latin typeface="Calibri" pitchFamily="34" charset="0"/>
                <a:ea typeface="Calibri" pitchFamily="34" charset="-122"/>
                <a:cs typeface="Calibri" pitchFamily="34" charset="-120"/>
              </a:rPr>
              <a:t>Written summary across all six analytical themes, framing scenario outputs as model predictions rather than measured business outcomes.</a:t>
            </a:r>
            <a:endParaRPr lang="en-US" sz="1050" dirty="0"/>
          </a:p>
        </p:txBody>
      </p:sp>
      <p:sp>
        <p:nvSpPr>
          <p:cNvPr id="125" name="Badge5"/>
          <p:cNvSpPr/>
          <p:nvPr/>
        </p:nvSpPr>
        <p:spPr>
          <a:xfrm>
            <a:off x="10017160" y="5988770"/>
            <a:ext cx="1550000" cy="320000"/>
          </a:xfrm>
          <a:prstGeom prst="roundRect">
            <a:avLst>
              <a:gd name="adj" fmla="val 50000"/>
            </a:avLst>
          </a:prstGeom>
          <a:solidFill>
            <a:srgbClr val="FFFFFF"/>
          </a:solidFill>
          <a:ln w="9525">
            <a:solidFill>
              <a:srgbClr val="B9C4D9"/>
            </a:solidFill>
            <a:prstDash val="solid"/>
          </a:ln>
        </p:spPr>
      </p:sp>
      <p:sp>
        <p:nvSpPr>
          <p:cNvPr id="126" name="BadgeText5"/>
          <p:cNvSpPr txBox="1"/>
          <p:nvPr/>
        </p:nvSpPr>
        <p:spPr>
          <a:xfrm>
            <a:off x="10017160" y="5988770"/>
            <a:ext cx="1550000" cy="320000"/>
          </a:xfrm>
          <a:prstGeom prst="rect">
            <a:avLst/>
          </a:prstGeom>
          <a:noFill/>
          <a:ln/>
        </p:spPr>
        <p:txBody>
          <a:bodyPr wrap="square" lIns="0" tIns="0" rIns="0" bIns="0" rtlCol="0" anchor="ctr"/>
          <a:lstStyle/>
          <a:p>
            <a:pPr marL="0" indent="0" algn="ctr">
              <a:buNone/>
            </a:pPr>
            <a:r>
              <a:rPr lang="en-US" sz="900" i="1" dirty="0">
                <a:solidFill>
                  <a:srgbClr val="667085"/>
                </a:solidFill>
                <a:latin typeface="Calibri" pitchFamily="34" charset="0"/>
                <a:ea typeface="Calibri" pitchFamily="34" charset="-122"/>
                <a:cs typeface="Calibri" pitchFamily="34" charset="-120"/>
              </a:rPr>
              <a:t>decision support</a:t>
            </a:r>
            <a:endParaRPr lang="en-US" sz="900" dirty="0"/>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6B8F2A-8362-E833-1108-7BA158233E0B}"/>
              </a:ext>
            </a:extLst>
          </p:cNvPr>
          <p:cNvSpPr txBox="1"/>
          <p:nvPr/>
        </p:nvSpPr>
        <p:spPr>
          <a:xfrm>
            <a:off x="338586" y="236273"/>
            <a:ext cx="6094562" cy="553998"/>
          </a:xfrm>
          <a:prstGeom prst="rect">
            <a:avLst/>
          </a:prstGeom>
          <a:noFill/>
        </p:spPr>
        <p:txBody>
          <a:bodyPr wrap="square">
            <a:spAutoFit/>
          </a:bodyPr>
          <a:lstStyle/>
          <a:p>
            <a:pPr marL="0" indent="0">
              <a:buNone/>
            </a:pPr>
            <a:r>
              <a:rPr lang="en-US" sz="3000" b="1" dirty="0">
                <a:solidFill>
                  <a:srgbClr val="16264A"/>
                </a:solidFill>
                <a:latin typeface="Cambria" pitchFamily="34" charset="0"/>
                <a:ea typeface="Cambria" pitchFamily="34" charset="-122"/>
                <a:cs typeface="Cambria" pitchFamily="34" charset="-120"/>
              </a:rPr>
              <a:t>System Design</a:t>
            </a:r>
            <a:endParaRPr lang="en-US" sz="3000" dirty="0"/>
          </a:p>
        </p:txBody>
      </p:sp>
      <p:pic>
        <p:nvPicPr>
          <p:cNvPr id="5" name="Picture 4">
            <a:extLst>
              <a:ext uri="{FF2B5EF4-FFF2-40B4-BE49-F238E27FC236}">
                <a16:creationId xmlns:a16="http://schemas.microsoft.com/office/drawing/2014/main" id="{C40BDAFB-6312-DE50-096D-61ED8AECAE3F}"/>
              </a:ext>
            </a:extLst>
          </p:cNvPr>
          <p:cNvPicPr>
            <a:picLocks noChangeAspect="1"/>
          </p:cNvPicPr>
          <p:nvPr/>
        </p:nvPicPr>
        <p:blipFill>
          <a:blip r:embed="rId2"/>
          <a:stretch>
            <a:fillRect/>
          </a:stretch>
        </p:blipFill>
        <p:spPr>
          <a:xfrm>
            <a:off x="3005745" y="0"/>
            <a:ext cx="9078985" cy="6858000"/>
          </a:xfrm>
          <a:prstGeom prst="rect">
            <a:avLst/>
          </a:prstGeom>
        </p:spPr>
      </p:pic>
    </p:spTree>
    <p:extLst>
      <p:ext uri="{BB962C8B-B14F-4D97-AF65-F5344CB8AC3E}">
        <p14:creationId xmlns:p14="http://schemas.microsoft.com/office/powerpoint/2010/main" val="211892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66928"/>
          </a:xfrm>
          <a:prstGeom prst="rect">
            <a:avLst/>
          </a:prstGeom>
          <a:noFill/>
          <a:ln/>
        </p:spPr>
        <p:txBody>
          <a:bodyPr wrap="square" lIns="0" tIns="0" rIns="0" bIns="0" rtlCol="0" anchor="ctr"/>
          <a:lstStyle/>
          <a:p>
            <a:pPr marL="0" indent="0">
              <a:buNone/>
            </a:pPr>
            <a:r>
              <a:rPr lang="en-US" sz="3000" b="1" dirty="0">
                <a:solidFill>
                  <a:srgbClr val="16264A"/>
                </a:solidFill>
                <a:latin typeface="Cambria" pitchFamily="34" charset="0"/>
                <a:ea typeface="Cambria" pitchFamily="34" charset="-122"/>
                <a:cs typeface="Cambria" pitchFamily="34" charset="-120"/>
              </a:rPr>
              <a:t>Modern Tools and Technologies</a:t>
            </a:r>
            <a:endParaRPr lang="en-US" sz="3000" dirty="0"/>
          </a:p>
        </p:txBody>
      </p:sp>
      <p:sp>
        <p:nvSpPr>
          <p:cNvPr id="3" name="Text 1"/>
          <p:cNvSpPr txBox="1"/>
          <p:nvPr/>
        </p:nvSpPr>
        <p:spPr>
          <a:xfrm>
            <a:off x="502920" y="896112"/>
            <a:ext cx="11155680" cy="329184"/>
          </a:xfrm>
          <a:prstGeom prst="rect">
            <a:avLst/>
          </a:prstGeom>
          <a:noFill/>
          <a:ln/>
        </p:spPr>
        <p:txBody>
          <a:bodyPr wrap="square" lIns="0" tIns="0" rIns="0" bIns="0" rtlCol="0" anchor="ctr"/>
          <a:lstStyle/>
          <a:p>
            <a:pPr marL="0" indent="0">
              <a:buNone/>
            </a:pPr>
            <a:r>
              <a:rPr lang="en-US" sz="1300" i="1" dirty="0">
                <a:solidFill>
                  <a:srgbClr val="667085"/>
                </a:solidFill>
                <a:latin typeface="Calibri" pitchFamily="34" charset="0"/>
                <a:ea typeface="Calibri" pitchFamily="34" charset="-122"/>
                <a:cs typeface="Calibri" pitchFamily="34" charset="-120"/>
              </a:rPr>
              <a:t>Only technologies evidenced in the project files are listed</a:t>
            </a:r>
            <a:endParaRPr lang="en-US" sz="1300" dirty="0"/>
          </a:p>
        </p:txBody>
      </p:sp>
      <p:sp>
        <p:nvSpPr>
          <p:cNvPr id="4" name="Shape 2"/>
          <p:cNvSpPr/>
          <p:nvPr/>
        </p:nvSpPr>
        <p:spPr>
          <a:xfrm>
            <a:off x="502920" y="1371600"/>
            <a:ext cx="5541264" cy="621792"/>
          </a:xfrm>
          <a:prstGeom prst="roundRect">
            <a:avLst>
              <a:gd name="adj" fmla="val 8824"/>
            </a:avLst>
          </a:prstGeom>
          <a:solidFill>
            <a:srgbClr val="F4F6FA"/>
          </a:solidFill>
          <a:ln w="12700">
            <a:solidFill>
              <a:srgbClr val="F4F6FA"/>
            </a:solidFill>
            <a:prstDash val="solid"/>
          </a:ln>
        </p:spPr>
      </p:sp>
      <p:sp>
        <p:nvSpPr>
          <p:cNvPr id="5" name="Text 3"/>
          <p:cNvSpPr txBox="1"/>
          <p:nvPr/>
        </p:nvSpPr>
        <p:spPr>
          <a:xfrm>
            <a:off x="630936" y="1426464"/>
            <a:ext cx="1691640" cy="512064"/>
          </a:xfrm>
          <a:prstGeom prst="rect">
            <a:avLst/>
          </a:prstGeom>
          <a:noFill/>
          <a:ln/>
        </p:spPr>
        <p:txBody>
          <a:bodyPr wrap="square" lIns="0" tIns="0" rIns="0" bIns="0" rtlCol="0" anchor="ctr"/>
          <a:lstStyle/>
          <a:p>
            <a:pPr marL="0" indent="0">
              <a:buNone/>
            </a:pPr>
            <a:r>
              <a:rPr lang="en-US" sz="1150" b="1" dirty="0">
                <a:solidFill>
                  <a:srgbClr val="16264A"/>
                </a:solidFill>
                <a:latin typeface="Cambria" pitchFamily="34" charset="0"/>
                <a:ea typeface="Cambria" pitchFamily="34" charset="-122"/>
                <a:cs typeface="Cambria" pitchFamily="34" charset="-120"/>
              </a:rPr>
              <a:t>Python 3</a:t>
            </a:r>
            <a:endParaRPr lang="en-US" sz="1150" dirty="0"/>
          </a:p>
        </p:txBody>
      </p:sp>
      <p:sp>
        <p:nvSpPr>
          <p:cNvPr id="6" name="Text 4"/>
          <p:cNvSpPr txBox="1"/>
          <p:nvPr/>
        </p:nvSpPr>
        <p:spPr>
          <a:xfrm>
            <a:off x="2350008" y="1417320"/>
            <a:ext cx="3584448" cy="530352"/>
          </a:xfrm>
          <a:prstGeom prst="rect">
            <a:avLst/>
          </a:prstGeom>
          <a:noFill/>
          <a:ln/>
        </p:spPr>
        <p:txBody>
          <a:bodyPr wrap="square" lIns="0" tIns="0" rIns="0" bIns="0" rtlCol="0" anchor="ctr"/>
          <a:lstStyle/>
          <a:p>
            <a:pPr marL="0" indent="0">
              <a:lnSpc>
                <a:spcPts val="1100"/>
              </a:lnSpc>
              <a:buNone/>
            </a:pPr>
            <a:r>
              <a:rPr lang="en-US" sz="900" dirty="0">
                <a:solidFill>
                  <a:srgbClr val="1F2937"/>
                </a:solidFill>
                <a:latin typeface="Calibri" pitchFamily="34" charset="0"/>
                <a:ea typeface="Calibri" pitchFamily="34" charset="-122"/>
                <a:cs typeface="Calibri" pitchFamily="34" charset="-120"/>
              </a:rPr>
              <a:t>Core language for the entire pipeline; all nine analysis scripts</a:t>
            </a:r>
            <a:endParaRPr lang="en-US" sz="900" dirty="0"/>
          </a:p>
        </p:txBody>
      </p:sp>
      <p:sp>
        <p:nvSpPr>
          <p:cNvPr id="7" name="Shape 5"/>
          <p:cNvSpPr/>
          <p:nvPr/>
        </p:nvSpPr>
        <p:spPr>
          <a:xfrm>
            <a:off x="6281928" y="1371600"/>
            <a:ext cx="5541264" cy="621792"/>
          </a:xfrm>
          <a:prstGeom prst="roundRect">
            <a:avLst>
              <a:gd name="adj" fmla="val 8824"/>
            </a:avLst>
          </a:prstGeom>
          <a:solidFill>
            <a:srgbClr val="F4F6FA"/>
          </a:solidFill>
          <a:ln w="12700">
            <a:solidFill>
              <a:srgbClr val="F4F6FA"/>
            </a:solidFill>
            <a:prstDash val="solid"/>
          </a:ln>
        </p:spPr>
      </p:sp>
      <p:sp>
        <p:nvSpPr>
          <p:cNvPr id="8" name="Text 6"/>
          <p:cNvSpPr txBox="1"/>
          <p:nvPr/>
        </p:nvSpPr>
        <p:spPr>
          <a:xfrm>
            <a:off x="6409944" y="1426464"/>
            <a:ext cx="1691640" cy="512064"/>
          </a:xfrm>
          <a:prstGeom prst="rect">
            <a:avLst/>
          </a:prstGeom>
          <a:noFill/>
          <a:ln/>
        </p:spPr>
        <p:txBody>
          <a:bodyPr wrap="square" lIns="0" tIns="0" rIns="0" bIns="0" rtlCol="0" anchor="ctr"/>
          <a:lstStyle/>
          <a:p>
            <a:pPr marL="0" indent="0">
              <a:buNone/>
            </a:pPr>
            <a:r>
              <a:rPr lang="en-US" sz="1150" b="1" dirty="0">
                <a:solidFill>
                  <a:srgbClr val="16264A"/>
                </a:solidFill>
                <a:latin typeface="Cambria" pitchFamily="34" charset="0"/>
                <a:ea typeface="Cambria" pitchFamily="34" charset="-122"/>
                <a:cs typeface="Cambria" pitchFamily="34" charset="-120"/>
              </a:rPr>
              <a:t>pandas</a:t>
            </a:r>
            <a:endParaRPr lang="en-US" sz="1150" dirty="0"/>
          </a:p>
        </p:txBody>
      </p:sp>
      <p:sp>
        <p:nvSpPr>
          <p:cNvPr id="9" name="Text 7"/>
          <p:cNvSpPr txBox="1"/>
          <p:nvPr/>
        </p:nvSpPr>
        <p:spPr>
          <a:xfrm>
            <a:off x="8129016" y="1417320"/>
            <a:ext cx="3584448" cy="530352"/>
          </a:xfrm>
          <a:prstGeom prst="rect">
            <a:avLst/>
          </a:prstGeom>
          <a:noFill/>
          <a:ln/>
        </p:spPr>
        <p:txBody>
          <a:bodyPr wrap="square" lIns="0" tIns="0" rIns="0" bIns="0" rtlCol="0" anchor="ctr"/>
          <a:lstStyle/>
          <a:p>
            <a:pPr marL="0" indent="0">
              <a:lnSpc>
                <a:spcPts val="1100"/>
              </a:lnSpc>
              <a:buNone/>
            </a:pPr>
            <a:r>
              <a:rPr lang="en-US" sz="900" dirty="0">
                <a:solidFill>
                  <a:srgbClr val="1F2937"/>
                </a:solidFill>
                <a:latin typeface="Calibri" pitchFamily="34" charset="0"/>
                <a:ea typeface="Calibri" pitchFamily="34" charset="-122"/>
                <a:cs typeface="Calibri" pitchFamily="34" charset="-120"/>
              </a:rPr>
              <a:t>Loading, cleaning, grouping, merging and Excel export of every stage</a:t>
            </a:r>
            <a:endParaRPr lang="en-US" sz="900" dirty="0"/>
          </a:p>
        </p:txBody>
      </p:sp>
      <p:sp>
        <p:nvSpPr>
          <p:cNvPr id="10" name="Shape 8"/>
          <p:cNvSpPr/>
          <p:nvPr/>
        </p:nvSpPr>
        <p:spPr>
          <a:xfrm>
            <a:off x="502920" y="2066544"/>
            <a:ext cx="5541264" cy="621792"/>
          </a:xfrm>
          <a:prstGeom prst="roundRect">
            <a:avLst>
              <a:gd name="adj" fmla="val 8824"/>
            </a:avLst>
          </a:prstGeom>
          <a:solidFill>
            <a:srgbClr val="F4F6FA"/>
          </a:solidFill>
          <a:ln w="12700">
            <a:solidFill>
              <a:srgbClr val="F4F6FA"/>
            </a:solidFill>
            <a:prstDash val="solid"/>
          </a:ln>
        </p:spPr>
      </p:sp>
      <p:sp>
        <p:nvSpPr>
          <p:cNvPr id="11" name="Text 9"/>
          <p:cNvSpPr txBox="1"/>
          <p:nvPr/>
        </p:nvSpPr>
        <p:spPr>
          <a:xfrm>
            <a:off x="630936" y="2121408"/>
            <a:ext cx="1691640" cy="512064"/>
          </a:xfrm>
          <a:prstGeom prst="rect">
            <a:avLst/>
          </a:prstGeom>
          <a:noFill/>
          <a:ln/>
        </p:spPr>
        <p:txBody>
          <a:bodyPr wrap="square" lIns="0" tIns="0" rIns="0" bIns="0" rtlCol="0" anchor="ctr"/>
          <a:lstStyle/>
          <a:p>
            <a:pPr marL="0" indent="0">
              <a:buNone/>
            </a:pPr>
            <a:r>
              <a:rPr lang="en-US" sz="1150" b="1" dirty="0">
                <a:solidFill>
                  <a:srgbClr val="16264A"/>
                </a:solidFill>
                <a:latin typeface="Cambria" pitchFamily="34" charset="0"/>
                <a:ea typeface="Cambria" pitchFamily="34" charset="-122"/>
                <a:cs typeface="Cambria" pitchFamily="34" charset="-120"/>
              </a:rPr>
              <a:t>NumPy</a:t>
            </a:r>
            <a:endParaRPr lang="en-US" sz="1150" dirty="0"/>
          </a:p>
        </p:txBody>
      </p:sp>
      <p:sp>
        <p:nvSpPr>
          <p:cNvPr id="12" name="Text 10"/>
          <p:cNvSpPr txBox="1"/>
          <p:nvPr/>
        </p:nvSpPr>
        <p:spPr>
          <a:xfrm>
            <a:off x="2350008" y="2112264"/>
            <a:ext cx="3584448" cy="530352"/>
          </a:xfrm>
          <a:prstGeom prst="rect">
            <a:avLst/>
          </a:prstGeom>
          <a:noFill/>
          <a:ln/>
        </p:spPr>
        <p:txBody>
          <a:bodyPr wrap="square" lIns="0" tIns="0" rIns="0" bIns="0" rtlCol="0" anchor="ctr"/>
          <a:lstStyle/>
          <a:p>
            <a:pPr marL="0" indent="0">
              <a:lnSpc>
                <a:spcPts val="1100"/>
              </a:lnSpc>
              <a:buNone/>
            </a:pPr>
            <a:r>
              <a:rPr lang="en-US" sz="900" dirty="0">
                <a:solidFill>
                  <a:srgbClr val="1F2937"/>
                </a:solidFill>
                <a:latin typeface="Calibri" pitchFamily="34" charset="0"/>
                <a:ea typeface="Calibri" pitchFamily="34" charset="-122"/>
                <a:cs typeface="Calibri" pitchFamily="34" charset="-120"/>
              </a:rPr>
              <a:t>Vectorised arithmetic, np.where conditions, binning boundaries</a:t>
            </a:r>
            <a:endParaRPr lang="en-US" sz="900" dirty="0"/>
          </a:p>
        </p:txBody>
      </p:sp>
      <p:sp>
        <p:nvSpPr>
          <p:cNvPr id="13" name="Shape 11"/>
          <p:cNvSpPr/>
          <p:nvPr/>
        </p:nvSpPr>
        <p:spPr>
          <a:xfrm>
            <a:off x="6281928" y="2066544"/>
            <a:ext cx="5541264" cy="621792"/>
          </a:xfrm>
          <a:prstGeom prst="roundRect">
            <a:avLst>
              <a:gd name="adj" fmla="val 8824"/>
            </a:avLst>
          </a:prstGeom>
          <a:solidFill>
            <a:srgbClr val="F4F6FA"/>
          </a:solidFill>
          <a:ln w="12700">
            <a:solidFill>
              <a:srgbClr val="F4F6FA"/>
            </a:solidFill>
            <a:prstDash val="solid"/>
          </a:ln>
        </p:spPr>
      </p:sp>
      <p:sp>
        <p:nvSpPr>
          <p:cNvPr id="14" name="Text 12"/>
          <p:cNvSpPr txBox="1"/>
          <p:nvPr/>
        </p:nvSpPr>
        <p:spPr>
          <a:xfrm>
            <a:off x="6409944" y="2121408"/>
            <a:ext cx="1691640" cy="512064"/>
          </a:xfrm>
          <a:prstGeom prst="rect">
            <a:avLst/>
          </a:prstGeom>
          <a:noFill/>
          <a:ln/>
        </p:spPr>
        <p:txBody>
          <a:bodyPr wrap="square" lIns="0" tIns="0" rIns="0" bIns="0" rtlCol="0" anchor="ctr"/>
          <a:lstStyle/>
          <a:p>
            <a:pPr marL="0" indent="0">
              <a:buNone/>
            </a:pPr>
            <a:r>
              <a:rPr lang="en-US" sz="1150" b="1" dirty="0">
                <a:solidFill>
                  <a:srgbClr val="16264A"/>
                </a:solidFill>
                <a:latin typeface="Cambria" pitchFamily="34" charset="0"/>
                <a:ea typeface="Cambria" pitchFamily="34" charset="-122"/>
                <a:cs typeface="Cambria" pitchFamily="34" charset="-120"/>
              </a:rPr>
              <a:t>Matplotlib</a:t>
            </a:r>
            <a:endParaRPr lang="en-US" sz="1150" dirty="0"/>
          </a:p>
        </p:txBody>
      </p:sp>
      <p:sp>
        <p:nvSpPr>
          <p:cNvPr id="15" name="Text 13"/>
          <p:cNvSpPr txBox="1"/>
          <p:nvPr/>
        </p:nvSpPr>
        <p:spPr>
          <a:xfrm>
            <a:off x="8129016" y="2112264"/>
            <a:ext cx="3584448" cy="530352"/>
          </a:xfrm>
          <a:prstGeom prst="rect">
            <a:avLst/>
          </a:prstGeom>
          <a:noFill/>
          <a:ln/>
        </p:spPr>
        <p:txBody>
          <a:bodyPr wrap="square" lIns="0" tIns="0" rIns="0" bIns="0" rtlCol="0" anchor="ctr"/>
          <a:lstStyle/>
          <a:p>
            <a:pPr marL="0" indent="0">
              <a:lnSpc>
                <a:spcPts val="1100"/>
              </a:lnSpc>
              <a:buNone/>
            </a:pPr>
            <a:r>
              <a:rPr lang="en-US" sz="900" dirty="0">
                <a:solidFill>
                  <a:srgbClr val="1F2937"/>
                </a:solidFill>
                <a:latin typeface="Calibri" pitchFamily="34" charset="0"/>
                <a:ea typeface="Calibri" pitchFamily="34" charset="-122"/>
                <a:cs typeface="Calibri" pitchFamily="34" charset="-120"/>
              </a:rPr>
              <a:t>All saved EDA, model comparison and cluster charts (PNG, 300 dpi)</a:t>
            </a:r>
            <a:endParaRPr lang="en-US" sz="900" dirty="0"/>
          </a:p>
        </p:txBody>
      </p:sp>
      <p:sp>
        <p:nvSpPr>
          <p:cNvPr id="16" name="Shape 14"/>
          <p:cNvSpPr/>
          <p:nvPr/>
        </p:nvSpPr>
        <p:spPr>
          <a:xfrm>
            <a:off x="502920" y="2761488"/>
            <a:ext cx="5541264" cy="621792"/>
          </a:xfrm>
          <a:prstGeom prst="roundRect">
            <a:avLst>
              <a:gd name="adj" fmla="val 8824"/>
            </a:avLst>
          </a:prstGeom>
          <a:solidFill>
            <a:srgbClr val="F4F6FA"/>
          </a:solidFill>
          <a:ln w="12700">
            <a:solidFill>
              <a:srgbClr val="F4F6FA"/>
            </a:solidFill>
            <a:prstDash val="solid"/>
          </a:ln>
        </p:spPr>
      </p:sp>
      <p:sp>
        <p:nvSpPr>
          <p:cNvPr id="17" name="Text 15"/>
          <p:cNvSpPr txBox="1"/>
          <p:nvPr/>
        </p:nvSpPr>
        <p:spPr>
          <a:xfrm>
            <a:off x="630936" y="2816352"/>
            <a:ext cx="1691640" cy="512064"/>
          </a:xfrm>
          <a:prstGeom prst="rect">
            <a:avLst/>
          </a:prstGeom>
          <a:noFill/>
          <a:ln/>
        </p:spPr>
        <p:txBody>
          <a:bodyPr wrap="square" lIns="0" tIns="0" rIns="0" bIns="0" rtlCol="0" anchor="ctr"/>
          <a:lstStyle/>
          <a:p>
            <a:pPr marL="0" indent="0">
              <a:buNone/>
            </a:pPr>
            <a:r>
              <a:rPr lang="en-US" sz="1150" b="1" dirty="0">
                <a:solidFill>
                  <a:srgbClr val="16264A"/>
                </a:solidFill>
                <a:latin typeface="Cambria" pitchFamily="34" charset="0"/>
                <a:ea typeface="Cambria" pitchFamily="34" charset="-122"/>
                <a:cs typeface="Cambria" pitchFamily="34" charset="-120"/>
              </a:rPr>
              <a:t>Seaborn</a:t>
            </a:r>
            <a:endParaRPr lang="en-US" sz="1150" dirty="0"/>
          </a:p>
        </p:txBody>
      </p:sp>
      <p:sp>
        <p:nvSpPr>
          <p:cNvPr id="18" name="Text 16"/>
          <p:cNvSpPr txBox="1"/>
          <p:nvPr/>
        </p:nvSpPr>
        <p:spPr>
          <a:xfrm>
            <a:off x="2350008" y="2807208"/>
            <a:ext cx="3584448" cy="530352"/>
          </a:xfrm>
          <a:prstGeom prst="rect">
            <a:avLst/>
          </a:prstGeom>
          <a:noFill/>
          <a:ln/>
        </p:spPr>
        <p:txBody>
          <a:bodyPr wrap="square" lIns="0" tIns="0" rIns="0" bIns="0" rtlCol="0" anchor="ctr"/>
          <a:lstStyle/>
          <a:p>
            <a:pPr marL="0" indent="0">
              <a:lnSpc>
                <a:spcPts val="1100"/>
              </a:lnSpc>
              <a:buNone/>
            </a:pPr>
            <a:r>
              <a:rPr lang="en-US" sz="900" dirty="0">
                <a:solidFill>
                  <a:srgbClr val="1F2937"/>
                </a:solidFill>
                <a:latin typeface="Calibri" pitchFamily="34" charset="0"/>
                <a:ea typeface="Calibri" pitchFamily="34" charset="-122"/>
                <a:cs typeface="Calibri" pitchFamily="34" charset="-120"/>
              </a:rPr>
              <a:t>Statistical plot styling in the machine learning script</a:t>
            </a:r>
            <a:endParaRPr lang="en-US" sz="900" dirty="0"/>
          </a:p>
        </p:txBody>
      </p:sp>
      <p:sp>
        <p:nvSpPr>
          <p:cNvPr id="19" name="Shape 17"/>
          <p:cNvSpPr/>
          <p:nvPr/>
        </p:nvSpPr>
        <p:spPr>
          <a:xfrm>
            <a:off x="6281928" y="2761488"/>
            <a:ext cx="5541264" cy="621792"/>
          </a:xfrm>
          <a:prstGeom prst="roundRect">
            <a:avLst>
              <a:gd name="adj" fmla="val 8824"/>
            </a:avLst>
          </a:prstGeom>
          <a:solidFill>
            <a:srgbClr val="F4F6FA"/>
          </a:solidFill>
          <a:ln w="12700">
            <a:solidFill>
              <a:srgbClr val="F4F6FA"/>
            </a:solidFill>
            <a:prstDash val="solid"/>
          </a:ln>
        </p:spPr>
      </p:sp>
      <p:sp>
        <p:nvSpPr>
          <p:cNvPr id="20" name="Text 18"/>
          <p:cNvSpPr txBox="1"/>
          <p:nvPr/>
        </p:nvSpPr>
        <p:spPr>
          <a:xfrm>
            <a:off x="6409944" y="2816352"/>
            <a:ext cx="1691640" cy="512064"/>
          </a:xfrm>
          <a:prstGeom prst="rect">
            <a:avLst/>
          </a:prstGeom>
          <a:noFill/>
          <a:ln/>
        </p:spPr>
        <p:txBody>
          <a:bodyPr wrap="square" lIns="0" tIns="0" rIns="0" bIns="0" rtlCol="0" anchor="ctr"/>
          <a:lstStyle/>
          <a:p>
            <a:pPr marL="0" indent="0">
              <a:buNone/>
            </a:pPr>
            <a:r>
              <a:rPr lang="en-US" sz="1150" b="1" dirty="0">
                <a:solidFill>
                  <a:srgbClr val="16264A"/>
                </a:solidFill>
                <a:latin typeface="Cambria" pitchFamily="34" charset="0"/>
                <a:ea typeface="Cambria" pitchFamily="34" charset="-122"/>
                <a:cs typeface="Cambria" pitchFamily="34" charset="-120"/>
              </a:rPr>
              <a:t>scikit-learn</a:t>
            </a:r>
            <a:endParaRPr lang="en-US" sz="1150" dirty="0"/>
          </a:p>
        </p:txBody>
      </p:sp>
      <p:sp>
        <p:nvSpPr>
          <p:cNvPr id="21" name="Text 19"/>
          <p:cNvSpPr txBox="1"/>
          <p:nvPr/>
        </p:nvSpPr>
        <p:spPr>
          <a:xfrm>
            <a:off x="8129016" y="2807208"/>
            <a:ext cx="3584448" cy="530352"/>
          </a:xfrm>
          <a:prstGeom prst="rect">
            <a:avLst/>
          </a:prstGeom>
          <a:noFill/>
          <a:ln/>
        </p:spPr>
        <p:txBody>
          <a:bodyPr wrap="square" lIns="0" tIns="0" rIns="0" bIns="0" rtlCol="0" anchor="ctr"/>
          <a:lstStyle/>
          <a:p>
            <a:pPr marL="0" indent="0">
              <a:lnSpc>
                <a:spcPts val="1100"/>
              </a:lnSpc>
              <a:buNone/>
            </a:pPr>
            <a:r>
              <a:rPr lang="en-US" sz="900" dirty="0">
                <a:solidFill>
                  <a:srgbClr val="1F2937"/>
                </a:solidFill>
                <a:latin typeface="Calibri" pitchFamily="34" charset="0"/>
                <a:ea typeface="Calibri" pitchFamily="34" charset="-122"/>
                <a:cs typeface="Calibri" pitchFamily="34" charset="-120"/>
              </a:rPr>
              <a:t>Pipeline, ColumnTransformer, OneHotEncoder, StandardScaler, train_test_split, Linear Regression, Decision Tree, Random Forest, KMeans, metrics</a:t>
            </a:r>
            <a:endParaRPr lang="en-US" sz="900" dirty="0"/>
          </a:p>
        </p:txBody>
      </p:sp>
      <p:sp>
        <p:nvSpPr>
          <p:cNvPr id="22" name="Shape 20"/>
          <p:cNvSpPr/>
          <p:nvPr/>
        </p:nvSpPr>
        <p:spPr>
          <a:xfrm>
            <a:off x="502920" y="3456432"/>
            <a:ext cx="5541264" cy="621792"/>
          </a:xfrm>
          <a:prstGeom prst="roundRect">
            <a:avLst>
              <a:gd name="adj" fmla="val 8824"/>
            </a:avLst>
          </a:prstGeom>
          <a:solidFill>
            <a:srgbClr val="F4F6FA"/>
          </a:solidFill>
          <a:ln w="12700">
            <a:solidFill>
              <a:srgbClr val="F4F6FA"/>
            </a:solidFill>
            <a:prstDash val="solid"/>
          </a:ln>
        </p:spPr>
      </p:sp>
      <p:sp>
        <p:nvSpPr>
          <p:cNvPr id="23" name="Text 21"/>
          <p:cNvSpPr txBox="1"/>
          <p:nvPr/>
        </p:nvSpPr>
        <p:spPr>
          <a:xfrm>
            <a:off x="630936" y="3511296"/>
            <a:ext cx="1691640" cy="512064"/>
          </a:xfrm>
          <a:prstGeom prst="rect">
            <a:avLst/>
          </a:prstGeom>
          <a:noFill/>
          <a:ln/>
        </p:spPr>
        <p:txBody>
          <a:bodyPr wrap="square" lIns="0" tIns="0" rIns="0" bIns="0" rtlCol="0" anchor="ctr"/>
          <a:lstStyle/>
          <a:p>
            <a:pPr marL="0" indent="0">
              <a:buNone/>
            </a:pPr>
            <a:r>
              <a:rPr lang="en-US" sz="1150" b="1" dirty="0">
                <a:solidFill>
                  <a:srgbClr val="16264A"/>
                </a:solidFill>
                <a:latin typeface="Cambria" pitchFamily="34" charset="0"/>
                <a:ea typeface="Cambria" pitchFamily="34" charset="-122"/>
                <a:cs typeface="Cambria" pitchFamily="34" charset="-120"/>
              </a:rPr>
              <a:t>XGBoost</a:t>
            </a:r>
            <a:endParaRPr lang="en-US" sz="1150" dirty="0"/>
          </a:p>
        </p:txBody>
      </p:sp>
      <p:sp>
        <p:nvSpPr>
          <p:cNvPr id="24" name="Text 22"/>
          <p:cNvSpPr txBox="1"/>
          <p:nvPr/>
        </p:nvSpPr>
        <p:spPr>
          <a:xfrm>
            <a:off x="2350008" y="3502152"/>
            <a:ext cx="3584448" cy="530352"/>
          </a:xfrm>
          <a:prstGeom prst="rect">
            <a:avLst/>
          </a:prstGeom>
          <a:noFill/>
          <a:ln/>
        </p:spPr>
        <p:txBody>
          <a:bodyPr wrap="square" lIns="0" tIns="0" rIns="0" bIns="0" rtlCol="0" anchor="ctr"/>
          <a:lstStyle/>
          <a:p>
            <a:pPr marL="0" indent="0">
              <a:lnSpc>
                <a:spcPts val="1100"/>
              </a:lnSpc>
              <a:buNone/>
            </a:pPr>
            <a:r>
              <a:rPr lang="en-US" sz="900" dirty="0">
                <a:solidFill>
                  <a:srgbClr val="1F2937"/>
                </a:solidFill>
                <a:latin typeface="Calibri" pitchFamily="34" charset="0"/>
                <a:ea typeface="Calibri" pitchFamily="34" charset="-122"/>
                <a:cs typeface="Calibri" pitchFamily="34" charset="-120"/>
              </a:rPr>
              <a:t>XGBRegressor - the best performing model and the one persisted for scenarios</a:t>
            </a:r>
            <a:endParaRPr lang="en-US" sz="900" dirty="0"/>
          </a:p>
        </p:txBody>
      </p:sp>
      <p:sp>
        <p:nvSpPr>
          <p:cNvPr id="25" name="Shape 23"/>
          <p:cNvSpPr/>
          <p:nvPr/>
        </p:nvSpPr>
        <p:spPr>
          <a:xfrm>
            <a:off x="6281928" y="3456432"/>
            <a:ext cx="5541264" cy="621792"/>
          </a:xfrm>
          <a:prstGeom prst="roundRect">
            <a:avLst>
              <a:gd name="adj" fmla="val 8824"/>
            </a:avLst>
          </a:prstGeom>
          <a:solidFill>
            <a:srgbClr val="F4F6FA"/>
          </a:solidFill>
          <a:ln w="12700">
            <a:solidFill>
              <a:srgbClr val="F4F6FA"/>
            </a:solidFill>
            <a:prstDash val="solid"/>
          </a:ln>
        </p:spPr>
      </p:sp>
      <p:sp>
        <p:nvSpPr>
          <p:cNvPr id="26" name="Text 24"/>
          <p:cNvSpPr txBox="1"/>
          <p:nvPr/>
        </p:nvSpPr>
        <p:spPr>
          <a:xfrm>
            <a:off x="6409944" y="3511296"/>
            <a:ext cx="1691640" cy="512064"/>
          </a:xfrm>
          <a:prstGeom prst="rect">
            <a:avLst/>
          </a:prstGeom>
          <a:noFill/>
          <a:ln/>
        </p:spPr>
        <p:txBody>
          <a:bodyPr wrap="square" lIns="0" tIns="0" rIns="0" bIns="0" rtlCol="0" anchor="ctr"/>
          <a:lstStyle/>
          <a:p>
            <a:pPr marL="0" indent="0">
              <a:buNone/>
            </a:pPr>
            <a:r>
              <a:rPr lang="en-US" sz="1150" b="1" dirty="0">
                <a:solidFill>
                  <a:srgbClr val="16264A"/>
                </a:solidFill>
                <a:latin typeface="Cambria" pitchFamily="34" charset="0"/>
                <a:ea typeface="Cambria" pitchFamily="34" charset="-122"/>
                <a:cs typeface="Cambria" pitchFamily="34" charset="-120"/>
              </a:rPr>
              <a:t>joblib</a:t>
            </a:r>
            <a:endParaRPr lang="en-US" sz="1150" dirty="0"/>
          </a:p>
        </p:txBody>
      </p:sp>
      <p:sp>
        <p:nvSpPr>
          <p:cNvPr id="27" name="Text 25"/>
          <p:cNvSpPr txBox="1"/>
          <p:nvPr/>
        </p:nvSpPr>
        <p:spPr>
          <a:xfrm>
            <a:off x="8129016" y="3502152"/>
            <a:ext cx="3584448" cy="530352"/>
          </a:xfrm>
          <a:prstGeom prst="rect">
            <a:avLst/>
          </a:prstGeom>
          <a:noFill/>
          <a:ln/>
        </p:spPr>
        <p:txBody>
          <a:bodyPr wrap="square" lIns="0" tIns="0" rIns="0" bIns="0" rtlCol="0" anchor="ctr"/>
          <a:lstStyle/>
          <a:p>
            <a:pPr marL="0" indent="0">
              <a:lnSpc>
                <a:spcPts val="1100"/>
              </a:lnSpc>
              <a:buNone/>
            </a:pPr>
            <a:r>
              <a:rPr lang="en-US" sz="900" dirty="0">
                <a:solidFill>
                  <a:srgbClr val="1F2937"/>
                </a:solidFill>
                <a:latin typeface="Calibri" pitchFamily="34" charset="0"/>
                <a:ea typeface="Calibri" pitchFamily="34" charset="-122"/>
                <a:cs typeface="Calibri" pitchFamily="34" charset="-120"/>
              </a:rPr>
              <a:t>Serialises the fitted pipeline to Final_XGBoost_Sales_Model.pkl</a:t>
            </a:r>
            <a:endParaRPr lang="en-US" sz="900" dirty="0"/>
          </a:p>
        </p:txBody>
      </p:sp>
      <p:sp>
        <p:nvSpPr>
          <p:cNvPr id="28" name="Shape 26"/>
          <p:cNvSpPr/>
          <p:nvPr/>
        </p:nvSpPr>
        <p:spPr>
          <a:xfrm>
            <a:off x="502920" y="4151376"/>
            <a:ext cx="5541264" cy="621792"/>
          </a:xfrm>
          <a:prstGeom prst="roundRect">
            <a:avLst>
              <a:gd name="adj" fmla="val 8824"/>
            </a:avLst>
          </a:prstGeom>
          <a:solidFill>
            <a:srgbClr val="F4F6FA"/>
          </a:solidFill>
          <a:ln w="12700">
            <a:solidFill>
              <a:srgbClr val="F4F6FA"/>
            </a:solidFill>
            <a:prstDash val="solid"/>
          </a:ln>
        </p:spPr>
      </p:sp>
      <p:sp>
        <p:nvSpPr>
          <p:cNvPr id="29" name="Text 27"/>
          <p:cNvSpPr txBox="1"/>
          <p:nvPr/>
        </p:nvSpPr>
        <p:spPr>
          <a:xfrm>
            <a:off x="630936" y="4206240"/>
            <a:ext cx="1691640" cy="512064"/>
          </a:xfrm>
          <a:prstGeom prst="rect">
            <a:avLst/>
          </a:prstGeom>
          <a:noFill/>
          <a:ln/>
        </p:spPr>
        <p:txBody>
          <a:bodyPr wrap="square" lIns="0" tIns="0" rIns="0" bIns="0" rtlCol="0" anchor="ctr"/>
          <a:lstStyle/>
          <a:p>
            <a:pPr marL="0" indent="0">
              <a:buNone/>
            </a:pPr>
            <a:r>
              <a:rPr lang="en-US" sz="1150" b="1" dirty="0">
                <a:solidFill>
                  <a:srgbClr val="16264A"/>
                </a:solidFill>
                <a:latin typeface="Cambria" pitchFamily="34" charset="0"/>
                <a:ea typeface="Cambria" pitchFamily="34" charset="-122"/>
                <a:cs typeface="Cambria" pitchFamily="34" charset="-120"/>
              </a:rPr>
              <a:t>MySQL + SQLAlchemy</a:t>
            </a:r>
            <a:endParaRPr lang="en-US" sz="1150" dirty="0"/>
          </a:p>
        </p:txBody>
      </p:sp>
      <p:sp>
        <p:nvSpPr>
          <p:cNvPr id="30" name="Text 28"/>
          <p:cNvSpPr txBox="1"/>
          <p:nvPr/>
        </p:nvSpPr>
        <p:spPr>
          <a:xfrm>
            <a:off x="2350008" y="4197096"/>
            <a:ext cx="3584448" cy="530352"/>
          </a:xfrm>
          <a:prstGeom prst="rect">
            <a:avLst/>
          </a:prstGeom>
          <a:noFill/>
          <a:ln/>
        </p:spPr>
        <p:txBody>
          <a:bodyPr wrap="square" lIns="0" tIns="0" rIns="0" bIns="0" rtlCol="0" anchor="ctr"/>
          <a:lstStyle/>
          <a:p>
            <a:pPr marL="0" indent="0">
              <a:lnSpc>
                <a:spcPts val="1100"/>
              </a:lnSpc>
              <a:buNone/>
            </a:pPr>
            <a:r>
              <a:rPr lang="en-US" sz="900" dirty="0">
                <a:solidFill>
                  <a:srgbClr val="1F2937"/>
                </a:solidFill>
                <a:latin typeface="Calibri" pitchFamily="34" charset="0"/>
                <a:ea typeface="Calibri" pitchFamily="34" charset="-122"/>
                <a:cs typeface="Calibri" pitchFamily="34" charset="-120"/>
              </a:rPr>
              <a:t>retail_analytics database; sales_data table loaded via pymysql; sql_analysis.sql holds the business queries</a:t>
            </a:r>
            <a:endParaRPr lang="en-US" sz="900" dirty="0"/>
          </a:p>
        </p:txBody>
      </p:sp>
      <p:sp>
        <p:nvSpPr>
          <p:cNvPr id="31" name="Shape 29"/>
          <p:cNvSpPr/>
          <p:nvPr/>
        </p:nvSpPr>
        <p:spPr>
          <a:xfrm>
            <a:off x="6281928" y="4151376"/>
            <a:ext cx="5541264" cy="621792"/>
          </a:xfrm>
          <a:prstGeom prst="roundRect">
            <a:avLst>
              <a:gd name="adj" fmla="val 8824"/>
            </a:avLst>
          </a:prstGeom>
          <a:solidFill>
            <a:srgbClr val="F4F6FA"/>
          </a:solidFill>
          <a:ln w="12700">
            <a:solidFill>
              <a:srgbClr val="F4F6FA"/>
            </a:solidFill>
            <a:prstDash val="solid"/>
          </a:ln>
        </p:spPr>
      </p:sp>
      <p:sp>
        <p:nvSpPr>
          <p:cNvPr id="32" name="Text 30"/>
          <p:cNvSpPr txBox="1"/>
          <p:nvPr/>
        </p:nvSpPr>
        <p:spPr>
          <a:xfrm>
            <a:off x="6409944" y="4206240"/>
            <a:ext cx="1691640" cy="512064"/>
          </a:xfrm>
          <a:prstGeom prst="rect">
            <a:avLst/>
          </a:prstGeom>
          <a:noFill/>
          <a:ln/>
        </p:spPr>
        <p:txBody>
          <a:bodyPr wrap="square" lIns="0" tIns="0" rIns="0" bIns="0" rtlCol="0" anchor="ctr"/>
          <a:lstStyle/>
          <a:p>
            <a:pPr marL="0" indent="0">
              <a:buNone/>
            </a:pPr>
            <a:r>
              <a:rPr lang="en-US" sz="1150" b="1" dirty="0">
                <a:solidFill>
                  <a:srgbClr val="16264A"/>
                </a:solidFill>
                <a:latin typeface="Cambria" pitchFamily="34" charset="0"/>
                <a:ea typeface="Cambria" pitchFamily="34" charset="-122"/>
                <a:cs typeface="Cambria" pitchFamily="34" charset="-120"/>
              </a:rPr>
              <a:t>openpyxl</a:t>
            </a:r>
            <a:endParaRPr lang="en-US" sz="1150" dirty="0"/>
          </a:p>
        </p:txBody>
      </p:sp>
      <p:sp>
        <p:nvSpPr>
          <p:cNvPr id="33" name="Text 31"/>
          <p:cNvSpPr txBox="1"/>
          <p:nvPr/>
        </p:nvSpPr>
        <p:spPr>
          <a:xfrm>
            <a:off x="8129016" y="4197096"/>
            <a:ext cx="3584448" cy="530352"/>
          </a:xfrm>
          <a:prstGeom prst="rect">
            <a:avLst/>
          </a:prstGeom>
          <a:noFill/>
          <a:ln/>
        </p:spPr>
        <p:txBody>
          <a:bodyPr wrap="square" lIns="0" tIns="0" rIns="0" bIns="0" rtlCol="0" anchor="ctr"/>
          <a:lstStyle/>
          <a:p>
            <a:pPr marL="0" indent="0">
              <a:lnSpc>
                <a:spcPts val="1100"/>
              </a:lnSpc>
              <a:buNone/>
            </a:pPr>
            <a:r>
              <a:rPr lang="en-US" sz="900" dirty="0">
                <a:solidFill>
                  <a:srgbClr val="1F2937"/>
                </a:solidFill>
                <a:latin typeface="Calibri" pitchFamily="34" charset="0"/>
                <a:ea typeface="Calibri" pitchFamily="34" charset="-122"/>
                <a:cs typeface="Calibri" pitchFamily="34" charset="-120"/>
              </a:rPr>
              <a:t>Multi-sheet Excel writer used for every analytical output file</a:t>
            </a:r>
            <a:endParaRPr lang="en-US" sz="900" dirty="0"/>
          </a:p>
        </p:txBody>
      </p:sp>
      <p:sp>
        <p:nvSpPr>
          <p:cNvPr id="34" name="Shape 32"/>
          <p:cNvSpPr/>
          <p:nvPr/>
        </p:nvSpPr>
        <p:spPr>
          <a:xfrm>
            <a:off x="502920" y="4846320"/>
            <a:ext cx="5541264" cy="621792"/>
          </a:xfrm>
          <a:prstGeom prst="roundRect">
            <a:avLst>
              <a:gd name="adj" fmla="val 8824"/>
            </a:avLst>
          </a:prstGeom>
          <a:solidFill>
            <a:srgbClr val="F4F6FA"/>
          </a:solidFill>
          <a:ln w="12700">
            <a:solidFill>
              <a:srgbClr val="F4F6FA"/>
            </a:solidFill>
            <a:prstDash val="solid"/>
          </a:ln>
        </p:spPr>
      </p:sp>
      <p:sp>
        <p:nvSpPr>
          <p:cNvPr id="35" name="Text 33"/>
          <p:cNvSpPr txBox="1"/>
          <p:nvPr/>
        </p:nvSpPr>
        <p:spPr>
          <a:xfrm>
            <a:off x="630936" y="4901184"/>
            <a:ext cx="1691640" cy="512064"/>
          </a:xfrm>
          <a:prstGeom prst="rect">
            <a:avLst/>
          </a:prstGeom>
          <a:noFill/>
          <a:ln/>
        </p:spPr>
        <p:txBody>
          <a:bodyPr wrap="square" lIns="0" tIns="0" rIns="0" bIns="0" rtlCol="0" anchor="ctr"/>
          <a:lstStyle/>
          <a:p>
            <a:pPr marL="0" indent="0">
              <a:buNone/>
            </a:pPr>
            <a:r>
              <a:rPr lang="en-US" sz="1150" b="1" dirty="0">
                <a:solidFill>
                  <a:srgbClr val="16264A"/>
                </a:solidFill>
                <a:latin typeface="Cambria" pitchFamily="34" charset="0"/>
                <a:ea typeface="Cambria" pitchFamily="34" charset="-122"/>
                <a:cs typeface="Cambria" pitchFamily="34" charset="-120"/>
              </a:rPr>
              <a:t>Power BI Desktop</a:t>
            </a:r>
            <a:endParaRPr lang="en-US" sz="1150" dirty="0"/>
          </a:p>
        </p:txBody>
      </p:sp>
      <p:sp>
        <p:nvSpPr>
          <p:cNvPr id="36" name="Text 34"/>
          <p:cNvSpPr txBox="1"/>
          <p:nvPr/>
        </p:nvSpPr>
        <p:spPr>
          <a:xfrm>
            <a:off x="2350008" y="4892040"/>
            <a:ext cx="3584448" cy="530352"/>
          </a:xfrm>
          <a:prstGeom prst="rect">
            <a:avLst/>
          </a:prstGeom>
          <a:noFill/>
          <a:ln/>
        </p:spPr>
        <p:txBody>
          <a:bodyPr wrap="square" lIns="0" tIns="0" rIns="0" bIns="0" rtlCol="0" anchor="ctr"/>
          <a:lstStyle/>
          <a:p>
            <a:pPr marL="0" indent="0">
              <a:lnSpc>
                <a:spcPts val="1100"/>
              </a:lnSpc>
              <a:buNone/>
            </a:pPr>
            <a:r>
              <a:rPr lang="en-US" sz="900" dirty="0">
                <a:solidFill>
                  <a:srgbClr val="1F2937"/>
                </a:solidFill>
                <a:latin typeface="Calibri" pitchFamily="34" charset="0"/>
                <a:ea typeface="Calibri" pitchFamily="34" charset="-122"/>
                <a:cs typeface="Calibri" pitchFamily="34" charset="-120"/>
              </a:rPr>
              <a:t>Six-page interactive report with DAX measures and slicers</a:t>
            </a:r>
            <a:endParaRPr lang="en-US" sz="900" dirty="0"/>
          </a:p>
        </p:txBody>
      </p:sp>
      <p:sp>
        <p:nvSpPr>
          <p:cNvPr id="37" name="Shape 35"/>
          <p:cNvSpPr/>
          <p:nvPr/>
        </p:nvSpPr>
        <p:spPr>
          <a:xfrm>
            <a:off x="6281928" y="4846320"/>
            <a:ext cx="5541264" cy="621792"/>
          </a:xfrm>
          <a:prstGeom prst="roundRect">
            <a:avLst>
              <a:gd name="adj" fmla="val 8824"/>
            </a:avLst>
          </a:prstGeom>
          <a:solidFill>
            <a:srgbClr val="F4F6FA"/>
          </a:solidFill>
          <a:ln w="12700">
            <a:solidFill>
              <a:srgbClr val="F4F6FA"/>
            </a:solidFill>
            <a:prstDash val="solid"/>
          </a:ln>
        </p:spPr>
      </p:sp>
      <p:sp>
        <p:nvSpPr>
          <p:cNvPr id="38" name="Text 36"/>
          <p:cNvSpPr txBox="1"/>
          <p:nvPr/>
        </p:nvSpPr>
        <p:spPr>
          <a:xfrm>
            <a:off x="6409944" y="4901184"/>
            <a:ext cx="1691640" cy="512064"/>
          </a:xfrm>
          <a:prstGeom prst="rect">
            <a:avLst/>
          </a:prstGeom>
          <a:noFill/>
          <a:ln/>
        </p:spPr>
        <p:txBody>
          <a:bodyPr wrap="square" lIns="0" tIns="0" rIns="0" bIns="0" rtlCol="0" anchor="ctr"/>
          <a:lstStyle/>
          <a:p>
            <a:pPr marL="0" indent="0">
              <a:buNone/>
            </a:pPr>
            <a:r>
              <a:rPr lang="en-US" sz="1150" b="1" dirty="0">
                <a:solidFill>
                  <a:srgbClr val="16264A"/>
                </a:solidFill>
                <a:latin typeface="Cambria" pitchFamily="34" charset="0"/>
                <a:ea typeface="Cambria" pitchFamily="34" charset="-122"/>
                <a:cs typeface="Cambria" pitchFamily="34" charset="-120"/>
              </a:rPr>
              <a:t>Microsoft Excel</a:t>
            </a:r>
            <a:endParaRPr lang="en-US" sz="1150" dirty="0"/>
          </a:p>
        </p:txBody>
      </p:sp>
      <p:sp>
        <p:nvSpPr>
          <p:cNvPr id="39" name="Text 37"/>
          <p:cNvSpPr txBox="1"/>
          <p:nvPr/>
        </p:nvSpPr>
        <p:spPr>
          <a:xfrm>
            <a:off x="8129016" y="4892040"/>
            <a:ext cx="3584448" cy="530352"/>
          </a:xfrm>
          <a:prstGeom prst="rect">
            <a:avLst/>
          </a:prstGeom>
          <a:noFill/>
          <a:ln/>
        </p:spPr>
        <p:txBody>
          <a:bodyPr wrap="square" lIns="0" tIns="0" rIns="0" bIns="0" rtlCol="0" anchor="ctr"/>
          <a:lstStyle/>
          <a:p>
            <a:pPr marL="0" indent="0">
              <a:lnSpc>
                <a:spcPts val="1100"/>
              </a:lnSpc>
              <a:buNone/>
            </a:pPr>
            <a:r>
              <a:rPr lang="en-US" sz="900" dirty="0">
                <a:solidFill>
                  <a:srgbClr val="1F2937"/>
                </a:solidFill>
                <a:latin typeface="Calibri" pitchFamily="34" charset="0"/>
                <a:ea typeface="Calibri" pitchFamily="34" charset="-122"/>
                <a:cs typeface="Calibri" pitchFamily="34" charset="-120"/>
              </a:rPr>
              <a:t>Interchange format between Python stages and Power BI</a:t>
            </a:r>
            <a:endParaRPr lang="en-US" sz="900" dirty="0"/>
          </a:p>
        </p:txBody>
      </p:sp>
      <p:sp>
        <p:nvSpPr>
          <p:cNvPr id="40" name="Shape 38"/>
          <p:cNvSpPr/>
          <p:nvPr/>
        </p:nvSpPr>
        <p:spPr>
          <a:xfrm>
            <a:off x="502920" y="5541264"/>
            <a:ext cx="5541264" cy="621792"/>
          </a:xfrm>
          <a:prstGeom prst="roundRect">
            <a:avLst>
              <a:gd name="adj" fmla="val 8824"/>
            </a:avLst>
          </a:prstGeom>
          <a:solidFill>
            <a:srgbClr val="F4F6FA"/>
          </a:solidFill>
          <a:ln w="12700">
            <a:solidFill>
              <a:srgbClr val="F4F6FA"/>
            </a:solidFill>
            <a:prstDash val="solid"/>
          </a:ln>
        </p:spPr>
      </p:sp>
      <p:sp>
        <p:nvSpPr>
          <p:cNvPr id="41" name="Text 39"/>
          <p:cNvSpPr txBox="1"/>
          <p:nvPr/>
        </p:nvSpPr>
        <p:spPr>
          <a:xfrm>
            <a:off x="630936" y="5596128"/>
            <a:ext cx="1691640" cy="512064"/>
          </a:xfrm>
          <a:prstGeom prst="rect">
            <a:avLst/>
          </a:prstGeom>
          <a:noFill/>
          <a:ln/>
        </p:spPr>
        <p:txBody>
          <a:bodyPr wrap="square" lIns="0" tIns="0" rIns="0" bIns="0" rtlCol="0" anchor="ctr"/>
          <a:lstStyle/>
          <a:p>
            <a:pPr marL="0" indent="0">
              <a:buNone/>
            </a:pPr>
            <a:r>
              <a:rPr lang="en-US" sz="1150" b="1" dirty="0">
                <a:solidFill>
                  <a:srgbClr val="16264A"/>
                </a:solidFill>
                <a:latin typeface="Cambria" pitchFamily="34" charset="0"/>
                <a:ea typeface="Cambria" pitchFamily="34" charset="-122"/>
                <a:cs typeface="Cambria" pitchFamily="34" charset="-120"/>
              </a:rPr>
              <a:t>VS Code</a:t>
            </a:r>
            <a:endParaRPr lang="en-US" sz="1150" dirty="0"/>
          </a:p>
        </p:txBody>
      </p:sp>
      <p:sp>
        <p:nvSpPr>
          <p:cNvPr id="42" name="Text 40"/>
          <p:cNvSpPr txBox="1"/>
          <p:nvPr/>
        </p:nvSpPr>
        <p:spPr>
          <a:xfrm>
            <a:off x="2350008" y="5586984"/>
            <a:ext cx="3584448" cy="530352"/>
          </a:xfrm>
          <a:prstGeom prst="rect">
            <a:avLst/>
          </a:prstGeom>
          <a:noFill/>
          <a:ln/>
        </p:spPr>
        <p:txBody>
          <a:bodyPr wrap="square" lIns="0" tIns="0" rIns="0" bIns="0" rtlCol="0" anchor="ctr"/>
          <a:lstStyle/>
          <a:p>
            <a:pPr marL="0" indent="0">
              <a:lnSpc>
                <a:spcPts val="1100"/>
              </a:lnSpc>
              <a:buNone/>
            </a:pPr>
            <a:r>
              <a:rPr lang="en-US" sz="900" dirty="0">
                <a:solidFill>
                  <a:srgbClr val="1F2937"/>
                </a:solidFill>
                <a:latin typeface="Calibri" pitchFamily="34" charset="0"/>
                <a:ea typeface="Calibri" pitchFamily="34" charset="-122"/>
                <a:cs typeface="Calibri" pitchFamily="34" charset="-120"/>
              </a:rPr>
              <a:t>Development environment (project paths reference the local workspace)</a:t>
            </a:r>
            <a:endParaRPr lang="en-US" sz="900" dirty="0"/>
          </a:p>
        </p:txBody>
      </p:sp>
      <p:sp>
        <p:nvSpPr>
          <p:cNvPr id="43" name="Text 41"/>
          <p:cNvSpPr txBox="1"/>
          <p:nvPr/>
        </p:nvSpPr>
        <p:spPr>
          <a:xfrm>
            <a:off x="502920" y="6309360"/>
            <a:ext cx="11155680" cy="310896"/>
          </a:xfrm>
          <a:prstGeom prst="rect">
            <a:avLst/>
          </a:prstGeom>
          <a:noFill/>
          <a:ln/>
        </p:spPr>
        <p:txBody>
          <a:bodyPr wrap="square" lIns="0" tIns="0" rIns="0" bIns="0" rtlCol="0" anchor="ctr"/>
          <a:lstStyle/>
          <a:p>
            <a:pPr marL="0" indent="0">
              <a:buNone/>
            </a:pPr>
            <a:r>
              <a:rPr lang="en-US" sz="1050" i="1" dirty="0">
                <a:solidFill>
                  <a:srgbClr val="667085"/>
                </a:solidFill>
                <a:latin typeface="Calibri" pitchFamily="34" charset="0"/>
                <a:ea typeface="Calibri" pitchFamily="34" charset="-122"/>
                <a:cs typeface="Calibri" pitchFamily="34" charset="-120"/>
              </a:rPr>
              <a:t>requirements.txt lists pandas, numpy, matplotlib, seaborn, openpyxl and scikit-learn. XGBoost, joblib, SQLAlchemy and pymysql are imported in the scripts but are not listed in requirements.txt.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66928"/>
          </a:xfrm>
          <a:prstGeom prst="rect">
            <a:avLst/>
          </a:prstGeom>
          <a:noFill/>
          <a:ln/>
        </p:spPr>
        <p:txBody>
          <a:bodyPr wrap="square" lIns="0" tIns="0" rIns="0" bIns="0" rtlCol="0" anchor="ctr"/>
          <a:lstStyle/>
          <a:p>
            <a:pPr marL="0" indent="0">
              <a:buNone/>
            </a:pPr>
            <a:r>
              <a:rPr lang="en-US" sz="3000" b="1" dirty="0">
                <a:solidFill>
                  <a:srgbClr val="16264A"/>
                </a:solidFill>
                <a:latin typeface="Cambria" pitchFamily="34" charset="0"/>
                <a:ea typeface="Cambria" pitchFamily="34" charset="-122"/>
                <a:cs typeface="Cambria" pitchFamily="34" charset="-120"/>
              </a:rPr>
              <a:t>Implementation: Data Preprocessing</a:t>
            </a:r>
            <a:endParaRPr lang="en-US" sz="3000" dirty="0"/>
          </a:p>
        </p:txBody>
      </p:sp>
      <p:sp>
        <p:nvSpPr>
          <p:cNvPr id="3" name="Text 1"/>
          <p:cNvSpPr txBox="1"/>
          <p:nvPr/>
        </p:nvSpPr>
        <p:spPr>
          <a:xfrm>
            <a:off x="502920" y="896112"/>
            <a:ext cx="11155680" cy="329184"/>
          </a:xfrm>
          <a:prstGeom prst="rect">
            <a:avLst/>
          </a:prstGeom>
          <a:noFill/>
          <a:ln/>
        </p:spPr>
        <p:txBody>
          <a:bodyPr wrap="square" lIns="0" tIns="0" rIns="0" bIns="0" rtlCol="0" anchor="ctr"/>
          <a:lstStyle/>
          <a:p>
            <a:pPr marL="0" indent="0">
              <a:buNone/>
            </a:pPr>
            <a:r>
              <a:rPr lang="en-US" sz="1300" i="1" dirty="0">
                <a:solidFill>
                  <a:srgbClr val="667085"/>
                </a:solidFill>
                <a:latin typeface="Calibri" pitchFamily="34" charset="0"/>
                <a:ea typeface="Calibri" pitchFamily="34" charset="-122"/>
                <a:cs typeface="Calibri" pitchFamily="34" charset="-120"/>
              </a:rPr>
              <a:t>preprocessing.py - fourteen sequential blocks</a:t>
            </a:r>
            <a:endParaRPr lang="en-US" sz="1300" dirty="0"/>
          </a:p>
        </p:txBody>
      </p:sp>
      <p:sp>
        <p:nvSpPr>
          <p:cNvPr id="4" name="Text 2"/>
          <p:cNvSpPr txBox="1"/>
          <p:nvPr/>
        </p:nvSpPr>
        <p:spPr>
          <a:xfrm>
            <a:off x="502920" y="1371600"/>
            <a:ext cx="5486400" cy="274320"/>
          </a:xfrm>
          <a:prstGeom prst="rect">
            <a:avLst/>
          </a:prstGeom>
          <a:noFill/>
          <a:ln/>
        </p:spPr>
        <p:txBody>
          <a:bodyPr wrap="square" lIns="0" tIns="0" rIns="0" bIns="0" rtlCol="0" anchor="t"/>
          <a:lstStyle/>
          <a:p>
            <a:pPr marL="0" indent="0">
              <a:buNone/>
            </a:pPr>
            <a:r>
              <a:rPr lang="en-US" sz="1400" b="1" dirty="0">
                <a:solidFill>
                  <a:srgbClr val="16264A"/>
                </a:solidFill>
                <a:latin typeface="Cambria" pitchFamily="34" charset="0"/>
                <a:ea typeface="Cambria" pitchFamily="34" charset="-122"/>
                <a:cs typeface="Cambria" pitchFamily="34" charset="-120"/>
              </a:rPr>
              <a:t>Steps performed</a:t>
            </a:r>
            <a:endParaRPr lang="en-US" sz="1400" dirty="0"/>
          </a:p>
        </p:txBody>
      </p:sp>
      <p:sp>
        <p:nvSpPr>
          <p:cNvPr id="5" name="Text 3"/>
          <p:cNvSpPr txBox="1"/>
          <p:nvPr/>
        </p:nvSpPr>
        <p:spPr>
          <a:xfrm>
            <a:off x="521208" y="1682496"/>
            <a:ext cx="5449824" cy="301752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Load CSV with latin-1 encoding to handle special characters</a:t>
            </a:r>
            <a:endParaRPr lang="en-US" sz="1200" dirty="0"/>
          </a:p>
          <a:p>
            <a:pPr marL="342900" indent="-342900">
              <a:lnSpc>
                <a:spcPts val="1700"/>
              </a:lnSpc>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Data quality assessment: dtypes, null counts, unique counts</a:t>
            </a:r>
            <a:endParaRPr lang="en-US" sz="1200" dirty="0"/>
          </a:p>
          <a:p>
            <a:pPr marL="342900" indent="-342900">
              <a:lnSpc>
                <a:spcPts val="1700"/>
              </a:lnSpc>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Descriptive statistics for all numeric columns</a:t>
            </a:r>
            <a:endParaRPr lang="en-US" sz="1200" dirty="0"/>
          </a:p>
          <a:p>
            <a:pPr marL="342900" indent="-342900">
              <a:lnSpc>
                <a:spcPts val="1700"/>
              </a:lnSpc>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Missing value analysis, then duplicate detection and removal</a:t>
            </a:r>
            <a:endParaRPr lang="en-US" sz="1200" dirty="0"/>
          </a:p>
          <a:p>
            <a:pPr marL="342900" indent="-342900">
              <a:lnSpc>
                <a:spcPts val="1700"/>
              </a:lnSpc>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Whitespace stripping on every text column</a:t>
            </a:r>
            <a:endParaRPr lang="en-US" sz="1200" dirty="0"/>
          </a:p>
          <a:p>
            <a:pPr marL="342900" indent="-342900">
              <a:lnSpc>
                <a:spcPts val="1700"/>
              </a:lnSpc>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Order Date and Ship Date converted with pd.to_datetime</a:t>
            </a:r>
            <a:endParaRPr lang="en-US" sz="1200" dirty="0"/>
          </a:p>
          <a:p>
            <a:pPr marL="342900" indent="-342900">
              <a:lnSpc>
                <a:spcPts val="1700"/>
              </a:lnSpc>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Median imputation (numeric) and mode imputation (categorical)</a:t>
            </a:r>
            <a:endParaRPr lang="en-US" sz="1200" dirty="0"/>
          </a:p>
          <a:p>
            <a:pPr marL="342900" indent="-342900">
              <a:lnSpc>
                <a:spcPts val="1700"/>
              </a:lnSpc>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IQR outlier detection, then capping of Sales, Quantity, Discount, Profit</a:t>
            </a:r>
            <a:endParaRPr lang="en-US" sz="1200" dirty="0"/>
          </a:p>
        </p:txBody>
      </p:sp>
      <p:sp>
        <p:nvSpPr>
          <p:cNvPr id="6" name="Text 4"/>
          <p:cNvSpPr txBox="1"/>
          <p:nvPr/>
        </p:nvSpPr>
        <p:spPr>
          <a:xfrm>
            <a:off x="6309360" y="1371600"/>
            <a:ext cx="5394960" cy="274320"/>
          </a:xfrm>
          <a:prstGeom prst="rect">
            <a:avLst/>
          </a:prstGeom>
          <a:noFill/>
          <a:ln/>
        </p:spPr>
        <p:txBody>
          <a:bodyPr wrap="square" lIns="0" tIns="0" rIns="0" bIns="0" rtlCol="0" anchor="t"/>
          <a:lstStyle/>
          <a:p>
            <a:pPr marL="0" indent="0">
              <a:buNone/>
            </a:pPr>
            <a:r>
              <a:rPr lang="en-US" sz="1400" b="1" dirty="0">
                <a:solidFill>
                  <a:srgbClr val="16264A"/>
                </a:solidFill>
                <a:latin typeface="Cambria" pitchFamily="34" charset="0"/>
                <a:ea typeface="Cambria" pitchFamily="34" charset="-122"/>
                <a:cs typeface="Cambria" pitchFamily="34" charset="-120"/>
              </a:rPr>
              <a:t>Validation results</a:t>
            </a:r>
            <a:endParaRPr lang="en-US" sz="1400" dirty="0"/>
          </a:p>
        </p:txBody>
      </p:sp>
      <p:sp>
        <p:nvSpPr>
          <p:cNvPr id="7" name="Text 5"/>
          <p:cNvSpPr txBox="1"/>
          <p:nvPr/>
        </p:nvSpPr>
        <p:spPr>
          <a:xfrm>
            <a:off x="6327648" y="1682496"/>
            <a:ext cx="5358384" cy="91440"/>
          </a:xfrm>
          <a:prstGeom prst="rect">
            <a:avLst/>
          </a:prstGeom>
          <a:noFill/>
          <a:ln/>
        </p:spPr>
        <p:txBody>
          <a:bodyPr wrap="square" lIns="0" tIns="0" rIns="0" bIns="0" rtlCol="0" anchor="t"/>
          <a:lstStyle/>
          <a:p>
            <a:pPr marL="0" indent="0">
              <a:lnSpc>
                <a:spcPts val="1700"/>
              </a:lnSpc>
              <a:spcAft>
                <a:spcPts val="700"/>
              </a:spcAft>
              <a:buNone/>
            </a:pP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309360" y="1719072"/>
          <a:ext cx="5394960" cy="1984248"/>
        </p:xfrm>
        <a:graphic>
          <a:graphicData uri="http://schemas.openxmlformats.org/drawingml/2006/table">
            <a:tbl>
              <a:tblPr/>
              <a:tblGrid>
                <a:gridCol w="30175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tblGrid>
              <a:tr h="283464">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Check</a:t>
                      </a:r>
                      <a:endParaRPr lang="en-US" sz="11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extLst>
                  <a:ext uri="{0D108BD9-81ED-4DB2-BD59-A6C34878D82A}">
                    <a16:rowId xmlns:a16="http://schemas.microsoft.com/office/drawing/2014/main" val="10000"/>
                  </a:ext>
                </a:extLst>
              </a:tr>
              <a:tr h="283464">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Rows before / after</a:t>
                      </a:r>
                      <a:endParaRPr lang="en-US" sz="11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51,290 / 51,290</a:t>
                      </a:r>
                      <a:endParaRPr lang="en-US" sz="11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1"/>
                  </a:ext>
                </a:extLst>
              </a:tr>
              <a:tr h="283464">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Duplicate records found</a:t>
                      </a:r>
                      <a:endParaRPr lang="en-US" sz="11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2"/>
                  </a:ext>
                </a:extLst>
              </a:tr>
              <a:tr h="283464">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Missing values (raw)</a:t>
                      </a:r>
                      <a:endParaRPr lang="en-US" sz="11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41,296 in Postal Code</a:t>
                      </a:r>
                      <a:endParaRPr lang="en-US" sz="11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3"/>
                  </a:ext>
                </a:extLst>
              </a:tr>
              <a:tr h="283464">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Missing values (final)</a:t>
                      </a:r>
                      <a:endParaRPr lang="en-US" sz="11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4"/>
                  </a:ext>
                </a:extLst>
              </a:tr>
              <a:tr h="283464">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Invalid dates after conversion</a:t>
                      </a:r>
                      <a:endParaRPr lang="en-US" sz="11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5"/>
                  </a:ext>
                </a:extLst>
              </a:tr>
              <a:tr h="283464">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Rows removed by outlier step</a:t>
                      </a:r>
                      <a:endParaRPr lang="en-US" sz="11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 (values capped)</a:t>
                      </a:r>
                      <a:endParaRPr lang="en-US" sz="11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9" name="Shape 6"/>
          <p:cNvSpPr/>
          <p:nvPr/>
        </p:nvSpPr>
        <p:spPr>
          <a:xfrm>
            <a:off x="6309360" y="3977640"/>
            <a:ext cx="5394960" cy="2148840"/>
          </a:xfrm>
          <a:prstGeom prst="roundRect">
            <a:avLst>
              <a:gd name="adj" fmla="val 2553"/>
            </a:avLst>
          </a:prstGeom>
          <a:solidFill>
            <a:srgbClr val="F4F6FA"/>
          </a:solidFill>
          <a:ln w="12700">
            <a:solidFill>
              <a:srgbClr val="F4F6FA"/>
            </a:solidFill>
            <a:prstDash val="solid"/>
          </a:ln>
        </p:spPr>
      </p:sp>
      <p:sp>
        <p:nvSpPr>
          <p:cNvPr id="10" name="Text 7"/>
          <p:cNvSpPr txBox="1"/>
          <p:nvPr/>
        </p:nvSpPr>
        <p:spPr>
          <a:xfrm>
            <a:off x="6473952" y="4078224"/>
            <a:ext cx="5074920" cy="274320"/>
          </a:xfrm>
          <a:prstGeom prst="rect">
            <a:avLst/>
          </a:prstGeom>
          <a:noFill/>
          <a:ln/>
        </p:spPr>
        <p:txBody>
          <a:bodyPr wrap="square" lIns="0" tIns="0" rIns="0" bIns="0" rtlCol="0" anchor="ctr"/>
          <a:lstStyle/>
          <a:p>
            <a:pPr marL="0" indent="0">
              <a:buNone/>
            </a:pPr>
            <a:r>
              <a:rPr lang="en-US" sz="1250" b="1" dirty="0">
                <a:solidFill>
                  <a:srgbClr val="B3453C"/>
                </a:solidFill>
                <a:latin typeface="Cambria" pitchFamily="34" charset="0"/>
                <a:ea typeface="Cambria" pitchFamily="34" charset="-122"/>
                <a:cs typeface="Cambria" pitchFamily="34" charset="-120"/>
              </a:rPr>
              <a:t>Effect of IQR capping - important caveat</a:t>
            </a:r>
            <a:endParaRPr lang="en-US" sz="1250" dirty="0"/>
          </a:p>
        </p:txBody>
      </p:sp>
      <p:sp>
        <p:nvSpPr>
          <p:cNvPr id="11" name="Text 8"/>
          <p:cNvSpPr txBox="1"/>
          <p:nvPr/>
        </p:nvSpPr>
        <p:spPr>
          <a:xfrm>
            <a:off x="6473952" y="4370832"/>
            <a:ext cx="5074920" cy="164592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050" dirty="0">
                <a:solidFill>
                  <a:srgbClr val="1F2937"/>
                </a:solidFill>
                <a:latin typeface="Calibri" pitchFamily="34" charset="0"/>
                <a:ea typeface="Calibri" pitchFamily="34" charset="-122"/>
                <a:cs typeface="Calibri" pitchFamily="34" charset="-120"/>
              </a:rPr>
              <a:t>Raw totals: Sales 12,642,501.91 and Profit 1,467,457.29</a:t>
            </a:r>
            <a:endParaRPr lang="en-US" sz="1050" dirty="0"/>
          </a:p>
          <a:p>
            <a:pPr marL="342900" indent="-342900">
              <a:lnSpc>
                <a:spcPts val="1700"/>
              </a:lnSpc>
              <a:spcAft>
                <a:spcPts val="700"/>
              </a:spcAft>
              <a:buSzPct val="100000"/>
              <a:buChar char="•"/>
            </a:pPr>
            <a:r>
              <a:rPr lang="en-US" sz="1050" dirty="0">
                <a:solidFill>
                  <a:srgbClr val="1F2937"/>
                </a:solidFill>
                <a:latin typeface="Calibri" pitchFamily="34" charset="0"/>
                <a:ea typeface="Calibri" pitchFamily="34" charset="-122"/>
                <a:cs typeface="Calibri" pitchFamily="34" charset="-120"/>
              </a:rPr>
              <a:t>After capping: Sales 8,840,302.23 and Profit 927,961.27</a:t>
            </a:r>
            <a:endParaRPr lang="en-US" sz="1050" dirty="0"/>
          </a:p>
          <a:p>
            <a:pPr marL="342900" indent="-342900">
              <a:lnSpc>
                <a:spcPts val="1700"/>
              </a:lnSpc>
              <a:spcAft>
                <a:spcPts val="700"/>
              </a:spcAft>
              <a:buSzPct val="100000"/>
              <a:buChar char="•"/>
            </a:pPr>
            <a:r>
              <a:rPr lang="en-US" sz="1050" dirty="0">
                <a:solidFill>
                  <a:srgbClr val="1F2937"/>
                </a:solidFill>
                <a:latin typeface="Calibri" pitchFamily="34" charset="0"/>
                <a:ea typeface="Calibri" pitchFamily="34" charset="-122"/>
                <a:cs typeface="Calibri" pitchFamily="34" charset="-120"/>
              </a:rPr>
              <a:t>Capping therefore reduces total sales by about 30% and total profit by about 37%</a:t>
            </a:r>
            <a:endParaRPr lang="en-US" sz="1050" dirty="0"/>
          </a:p>
          <a:p>
            <a:pPr marL="342900" indent="-342900">
              <a:lnSpc>
                <a:spcPts val="1700"/>
              </a:lnSpc>
              <a:spcAft>
                <a:spcPts val="700"/>
              </a:spcAft>
              <a:buSzPct val="100000"/>
              <a:buChar char="•"/>
            </a:pPr>
            <a:r>
              <a:rPr lang="en-US" sz="1050" dirty="0">
                <a:solidFill>
                  <a:srgbClr val="1F2937"/>
                </a:solidFill>
                <a:latin typeface="Calibri" pitchFamily="34" charset="0"/>
                <a:ea typeface="Calibri" pitchFamily="34" charset="-122"/>
                <a:cs typeface="Calibri" pitchFamily="34" charset="-120"/>
              </a:rPr>
              <a:t>All EDA, model and dashboard figures in this deck are post-capping values, not raw business totals</a:t>
            </a:r>
            <a:endParaRPr lang="en-US" sz="1050" dirty="0"/>
          </a:p>
        </p:txBody>
      </p:sp>
      <p:sp>
        <p:nvSpPr>
          <p:cNvPr id="12" name="Shape 9"/>
          <p:cNvSpPr/>
          <p:nvPr/>
        </p:nvSpPr>
        <p:spPr>
          <a:xfrm>
            <a:off x="502920" y="4206240"/>
            <a:ext cx="5486400" cy="1920240"/>
          </a:xfrm>
          <a:prstGeom prst="roundRect">
            <a:avLst>
              <a:gd name="adj" fmla="val 2857"/>
            </a:avLst>
          </a:prstGeom>
          <a:solidFill>
            <a:srgbClr val="F4F6FA"/>
          </a:solidFill>
          <a:ln w="12700">
            <a:solidFill>
              <a:srgbClr val="F4F6FA"/>
            </a:solidFill>
            <a:prstDash val="solid"/>
          </a:ln>
        </p:spPr>
      </p:sp>
      <p:sp>
        <p:nvSpPr>
          <p:cNvPr id="13" name="Text 10"/>
          <p:cNvSpPr txBox="1"/>
          <p:nvPr/>
        </p:nvSpPr>
        <p:spPr>
          <a:xfrm>
            <a:off x="667512" y="4297680"/>
            <a:ext cx="5166360" cy="274320"/>
          </a:xfrm>
          <a:prstGeom prst="rect">
            <a:avLst/>
          </a:prstGeom>
          <a:noFill/>
          <a:ln/>
        </p:spPr>
        <p:txBody>
          <a:bodyPr wrap="square" lIns="0" tIns="0" rIns="0" bIns="0" rtlCol="0" anchor="t"/>
          <a:lstStyle/>
          <a:p>
            <a:pPr marL="0" indent="0">
              <a:buNone/>
            </a:pPr>
            <a:r>
              <a:rPr lang="en-US" sz="1250" b="1" dirty="0">
                <a:solidFill>
                  <a:srgbClr val="16264A"/>
                </a:solidFill>
                <a:latin typeface="Cambria" pitchFamily="34" charset="0"/>
                <a:ea typeface="Cambria" pitchFamily="34" charset="-122"/>
                <a:cs typeface="Cambria" pitchFamily="34" charset="-120"/>
              </a:rPr>
              <a:t>Design choice: cap rather than delete</a:t>
            </a:r>
            <a:endParaRPr lang="en-US" sz="1250" dirty="0"/>
          </a:p>
        </p:txBody>
      </p:sp>
      <p:sp>
        <p:nvSpPr>
          <p:cNvPr id="14" name="Text 11"/>
          <p:cNvSpPr txBox="1"/>
          <p:nvPr/>
        </p:nvSpPr>
        <p:spPr>
          <a:xfrm>
            <a:off x="667512" y="4590288"/>
            <a:ext cx="5166360" cy="1417320"/>
          </a:xfrm>
          <a:prstGeom prst="rect">
            <a:avLst/>
          </a:prstGeom>
          <a:noFill/>
          <a:ln/>
        </p:spPr>
        <p:txBody>
          <a:bodyPr wrap="square" lIns="0" tIns="0" rIns="0" bIns="0" rtlCol="0" anchor="t"/>
          <a:lstStyle/>
          <a:p>
            <a:pPr marL="0" indent="0">
              <a:lnSpc>
                <a:spcPts val="1400"/>
              </a:lnSpc>
              <a:buNone/>
            </a:pPr>
            <a:r>
              <a:rPr lang="en-US" sz="1050" dirty="0">
                <a:solidFill>
                  <a:srgbClr val="1F2937"/>
                </a:solidFill>
                <a:latin typeface="Calibri" pitchFamily="34" charset="0"/>
                <a:ea typeface="Calibri" pitchFamily="34" charset="-122"/>
                <a:cs typeface="Calibri" pitchFamily="34" charset="-120"/>
              </a:rPr>
              <a:t>Extreme values were clipped to the IQR boundaries instead of removing the rows that contained them. Every one of the 51,290 transactions is therefore retained for analysis, which keeps order, customer and product counts intact. The trade-off is that the magnitude of large transactions is compressed, and that compression carries through to every downstream figure.</a:t>
            </a:r>
            <a:endParaRPr lang="en-US" sz="1050" dirty="0"/>
          </a:p>
        </p:txBody>
      </p:sp>
      <p:sp>
        <p:nvSpPr>
          <p:cNvPr id="15" name="Text 12"/>
          <p:cNvSpPr txBox="1"/>
          <p:nvPr/>
        </p:nvSpPr>
        <p:spPr>
          <a:xfrm>
            <a:off x="502920" y="6309360"/>
            <a:ext cx="11155680" cy="310896"/>
          </a:xfrm>
          <a:prstGeom prst="rect">
            <a:avLst/>
          </a:prstGeom>
          <a:noFill/>
          <a:ln/>
        </p:spPr>
        <p:txBody>
          <a:bodyPr wrap="square" lIns="0" tIns="0" rIns="0" bIns="0" rtlCol="0" anchor="ctr"/>
          <a:lstStyle/>
          <a:p>
            <a:pPr marL="0" indent="0">
              <a:buNone/>
            </a:pPr>
            <a:r>
              <a:rPr lang="en-US" sz="1050" i="1" dirty="0">
                <a:solidFill>
                  <a:srgbClr val="667085"/>
                </a:solidFill>
                <a:latin typeface="Calibri" pitchFamily="34" charset="0"/>
                <a:ea typeface="Calibri" pitchFamily="34" charset="-122"/>
                <a:cs typeface="Calibri" pitchFamily="34" charset="-120"/>
              </a:rPr>
              <a:t>Postal Code is numeric, so its 41,296 missing values were median-imputed rather than dropped; the column is not used in any model.</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66928"/>
          </a:xfrm>
          <a:prstGeom prst="rect">
            <a:avLst/>
          </a:prstGeom>
          <a:noFill/>
          <a:ln/>
        </p:spPr>
        <p:txBody>
          <a:bodyPr wrap="square" lIns="0" tIns="0" rIns="0" bIns="0" rtlCol="0" anchor="ctr"/>
          <a:lstStyle/>
          <a:p>
            <a:pPr marL="0" indent="0">
              <a:buNone/>
            </a:pPr>
            <a:r>
              <a:rPr lang="en-US" sz="3000" b="1" dirty="0">
                <a:solidFill>
                  <a:srgbClr val="16264A"/>
                </a:solidFill>
                <a:latin typeface="Cambria" pitchFamily="34" charset="0"/>
                <a:ea typeface="Cambria" pitchFamily="34" charset="-122"/>
                <a:cs typeface="Cambria" pitchFamily="34" charset="-120"/>
              </a:rPr>
              <a:t>Implementation: Exploratory Data Analysis</a:t>
            </a:r>
            <a:endParaRPr lang="en-US" sz="3000" dirty="0"/>
          </a:p>
        </p:txBody>
      </p:sp>
      <p:sp>
        <p:nvSpPr>
          <p:cNvPr id="3" name="Text 1"/>
          <p:cNvSpPr txBox="1"/>
          <p:nvPr/>
        </p:nvSpPr>
        <p:spPr>
          <a:xfrm>
            <a:off x="502920" y="896112"/>
            <a:ext cx="11155680" cy="329184"/>
          </a:xfrm>
          <a:prstGeom prst="rect">
            <a:avLst/>
          </a:prstGeom>
          <a:noFill/>
          <a:ln/>
        </p:spPr>
        <p:txBody>
          <a:bodyPr wrap="square" lIns="0" tIns="0" rIns="0" bIns="0" rtlCol="0" anchor="ctr"/>
          <a:lstStyle/>
          <a:p>
            <a:pPr marL="0" indent="0">
              <a:buNone/>
            </a:pPr>
            <a:r>
              <a:rPr lang="en-US" sz="1300" i="1" dirty="0">
                <a:solidFill>
                  <a:srgbClr val="667085"/>
                </a:solidFill>
                <a:latin typeface="Calibri" pitchFamily="34" charset="0"/>
                <a:ea typeface="Calibri" pitchFamily="34" charset="-122"/>
                <a:cs typeface="Calibri" pitchFamily="34" charset="-120"/>
              </a:rPr>
              <a:t>eda.py - 24 result tables in EDA_Results.xlsx plus 30+ saved charts</a:t>
            </a:r>
            <a:endParaRPr lang="en-US" sz="1300" dirty="0"/>
          </a:p>
        </p:txBody>
      </p:sp>
      <p:pic>
        <p:nvPicPr>
          <p:cNvPr id="4" name="Image 0" descr="/home/claude/work/build/img/01_Monthly_Sales_Trend.png"/>
          <p:cNvPicPr>
            <a:picLocks noChangeAspect="1"/>
          </p:cNvPicPr>
          <p:nvPr/>
        </p:nvPicPr>
        <p:blipFill>
          <a:blip r:embed="rId3"/>
          <a:stretch>
            <a:fillRect/>
          </a:stretch>
        </p:blipFill>
        <p:spPr>
          <a:xfrm>
            <a:off x="502920" y="1371600"/>
            <a:ext cx="5943600" cy="3246120"/>
          </a:xfrm>
          <a:prstGeom prst="rect">
            <a:avLst/>
          </a:prstGeom>
        </p:spPr>
      </p:pic>
      <p:sp>
        <p:nvSpPr>
          <p:cNvPr id="5" name="Text 2"/>
          <p:cNvSpPr txBox="1"/>
          <p:nvPr/>
        </p:nvSpPr>
        <p:spPr>
          <a:xfrm>
            <a:off x="502920" y="4645152"/>
            <a:ext cx="5943600" cy="274320"/>
          </a:xfrm>
          <a:prstGeom prst="rect">
            <a:avLst/>
          </a:prstGeom>
          <a:noFill/>
          <a:ln/>
        </p:spPr>
        <p:txBody>
          <a:bodyPr wrap="square" lIns="0" tIns="0" rIns="0" bIns="0" rtlCol="0" anchor="ctr"/>
          <a:lstStyle/>
          <a:p>
            <a:pPr marL="0" indent="0" algn="ctr">
              <a:buNone/>
            </a:pPr>
            <a:r>
              <a:rPr lang="en-US" sz="1000" i="1" dirty="0">
                <a:solidFill>
                  <a:srgbClr val="667085"/>
                </a:solidFill>
                <a:latin typeface="Calibri" pitchFamily="34" charset="0"/>
                <a:ea typeface="Calibri" pitchFamily="34" charset="-122"/>
                <a:cs typeface="Calibri" pitchFamily="34" charset="-120"/>
              </a:rPr>
              <a:t>Figure 1: Monthly sales trend, Jan 2011 - Dec 2014 (outputs/02_EDA/05_Sales_Trend)</a:t>
            </a:r>
            <a:endParaRPr lang="en-US" sz="1000" dirty="0"/>
          </a:p>
        </p:txBody>
      </p:sp>
      <p:sp>
        <p:nvSpPr>
          <p:cNvPr id="6" name="Text 3"/>
          <p:cNvSpPr txBox="1"/>
          <p:nvPr/>
        </p:nvSpPr>
        <p:spPr>
          <a:xfrm>
            <a:off x="6720840" y="1371600"/>
            <a:ext cx="4983480" cy="274320"/>
          </a:xfrm>
          <a:prstGeom prst="rect">
            <a:avLst/>
          </a:prstGeom>
          <a:noFill/>
          <a:ln/>
        </p:spPr>
        <p:txBody>
          <a:bodyPr wrap="square" lIns="0" tIns="0" rIns="0" bIns="0" rtlCol="0" anchor="t"/>
          <a:lstStyle/>
          <a:p>
            <a:pPr marL="0" indent="0">
              <a:buNone/>
            </a:pPr>
            <a:r>
              <a:rPr lang="en-US" sz="1400" b="1" dirty="0">
                <a:solidFill>
                  <a:srgbClr val="16264A"/>
                </a:solidFill>
                <a:latin typeface="Cambria" pitchFamily="34" charset="0"/>
                <a:ea typeface="Cambria" pitchFamily="34" charset="-122"/>
                <a:cs typeface="Cambria" pitchFamily="34" charset="-120"/>
              </a:rPr>
              <a:t>Analyses produced</a:t>
            </a:r>
            <a:endParaRPr lang="en-US" sz="1400" dirty="0"/>
          </a:p>
        </p:txBody>
      </p:sp>
      <p:sp>
        <p:nvSpPr>
          <p:cNvPr id="7" name="Text 4"/>
          <p:cNvSpPr txBox="1"/>
          <p:nvPr/>
        </p:nvSpPr>
        <p:spPr>
          <a:xfrm>
            <a:off x="6739128" y="1682496"/>
            <a:ext cx="4946904" cy="233172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Univariate: Sales, Profit, Quantity, Discount, Segment, Category, Ship Mode, Order Priority</a:t>
            </a:r>
            <a:endParaRPr lang="en-US" sz="1150" dirty="0"/>
          </a:p>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Bivariate: Sales vs Profit, Discount vs Profit, and by Category and Segment</a:t>
            </a:r>
            <a:endParaRPr lang="en-US" sz="1150" dirty="0"/>
          </a:p>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Multivariate: Sales-Profit-Discount interaction, Category x Segment</a:t>
            </a:r>
            <a:endParaRPr lang="en-US" sz="1150" dirty="0"/>
          </a:p>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Sales trend (monthly and yearly), profit analysis, product and regional performance</a:t>
            </a:r>
            <a:endParaRPr lang="en-US" sz="1150" dirty="0"/>
          </a:p>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Customer behaviour, customer segmentation and correlation analysis</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720840" y="3977640"/>
          <a:ext cx="4983480" cy="1417320"/>
        </p:xfrm>
        <a:graphic>
          <a:graphicData uri="http://schemas.openxmlformats.org/drawingml/2006/table">
            <a:tbl>
              <a:tblPr/>
              <a:tblGrid>
                <a:gridCol w="210312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tblGrid>
              <a:tr h="283464">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Year</a:t>
                      </a:r>
                      <a:endParaRPr lang="en-US" sz="11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Total Sales (capped)</a:t>
                      </a:r>
                      <a:endParaRPr lang="en-US" sz="11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extLst>
                  <a:ext uri="{0D108BD9-81ED-4DB2-BD59-A6C34878D82A}">
                    <a16:rowId xmlns:a16="http://schemas.microsoft.com/office/drawing/2014/main" val="10000"/>
                  </a:ext>
                </a:extLst>
              </a:tr>
              <a:tr h="283464">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2011</a:t>
                      </a:r>
                      <a:endParaRPr lang="en-US" sz="11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1,556,334</a:t>
                      </a:r>
                      <a:endParaRPr lang="en-US" sz="11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1"/>
                  </a:ext>
                </a:extLst>
              </a:tr>
              <a:tr h="283464">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2012</a:t>
                      </a:r>
                      <a:endParaRPr lang="en-US" sz="11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1,895,526</a:t>
                      </a:r>
                      <a:endParaRPr lang="en-US" sz="11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2"/>
                  </a:ext>
                </a:extLst>
              </a:tr>
              <a:tr h="283464">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2013</a:t>
                      </a:r>
                      <a:endParaRPr lang="en-US" sz="11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2,373,074</a:t>
                      </a:r>
                      <a:endParaRPr lang="en-US" sz="11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3"/>
                  </a:ext>
                </a:extLst>
              </a:tr>
              <a:tr h="283464">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2014</a:t>
                      </a:r>
                      <a:endParaRPr lang="en-US" sz="11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3,015,368</a:t>
                      </a:r>
                      <a:endParaRPr lang="en-US" sz="11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Text 5"/>
          <p:cNvSpPr txBox="1"/>
          <p:nvPr/>
        </p:nvSpPr>
        <p:spPr>
          <a:xfrm>
            <a:off x="502920" y="5852160"/>
            <a:ext cx="11155680" cy="310896"/>
          </a:xfrm>
          <a:prstGeom prst="rect">
            <a:avLst/>
          </a:prstGeom>
          <a:noFill/>
          <a:ln/>
        </p:spPr>
        <p:txBody>
          <a:bodyPr wrap="square" lIns="0" tIns="0" rIns="0" bIns="0" rtlCol="0" anchor="ctr"/>
          <a:lstStyle/>
          <a:p>
            <a:pPr marL="0" indent="0">
              <a:buNone/>
            </a:pPr>
            <a:r>
              <a:rPr lang="en-US" sz="1050" i="1" dirty="0">
                <a:solidFill>
                  <a:srgbClr val="667085"/>
                </a:solidFill>
                <a:latin typeface="Calibri" pitchFamily="34" charset="0"/>
                <a:ea typeface="Calibri" pitchFamily="34" charset="-122"/>
                <a:cs typeface="Calibri" pitchFamily="34" charset="-120"/>
              </a:rPr>
              <a:t>Yearly totals aggregated from the Monthly_Sales sheet. Sales grow in every successive year across the four-year window.</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66928"/>
          </a:xfrm>
          <a:prstGeom prst="rect">
            <a:avLst/>
          </a:prstGeom>
          <a:noFill/>
          <a:ln/>
        </p:spPr>
        <p:txBody>
          <a:bodyPr wrap="square" lIns="0" tIns="0" rIns="0" bIns="0" rtlCol="0" anchor="ctr"/>
          <a:lstStyle/>
          <a:p>
            <a:pPr marL="0" indent="0">
              <a:buNone/>
            </a:pPr>
            <a:r>
              <a:rPr lang="en-US" sz="3000" b="1" dirty="0">
                <a:solidFill>
                  <a:srgbClr val="16264A"/>
                </a:solidFill>
                <a:latin typeface="Cambria" pitchFamily="34" charset="0"/>
                <a:ea typeface="Cambria" pitchFamily="34" charset="-122"/>
                <a:cs typeface="Cambria" pitchFamily="34" charset="-120"/>
              </a:rPr>
              <a:t>EDA: Key Findings</a:t>
            </a:r>
            <a:endParaRPr lang="en-US" sz="3000" dirty="0"/>
          </a:p>
        </p:txBody>
      </p:sp>
      <p:sp>
        <p:nvSpPr>
          <p:cNvPr id="3" name="Text 1"/>
          <p:cNvSpPr txBox="1"/>
          <p:nvPr/>
        </p:nvSpPr>
        <p:spPr>
          <a:xfrm>
            <a:off x="502920" y="896112"/>
            <a:ext cx="11155680" cy="329184"/>
          </a:xfrm>
          <a:prstGeom prst="rect">
            <a:avLst/>
          </a:prstGeom>
          <a:noFill/>
          <a:ln/>
        </p:spPr>
        <p:txBody>
          <a:bodyPr wrap="square" lIns="0" tIns="0" rIns="0" bIns="0" rtlCol="0" anchor="ctr"/>
          <a:lstStyle/>
          <a:p>
            <a:pPr marL="0" indent="0">
              <a:buNone/>
            </a:pPr>
            <a:r>
              <a:rPr lang="en-US" sz="1300" i="1" dirty="0">
                <a:solidFill>
                  <a:srgbClr val="667085"/>
                </a:solidFill>
                <a:latin typeface="Calibri" pitchFamily="34" charset="0"/>
                <a:ea typeface="Calibri" pitchFamily="34" charset="-122"/>
                <a:cs typeface="Calibri" pitchFamily="34" charset="-120"/>
              </a:rPr>
              <a:t>All values from EDA_Results.xlsx (post-capping)</a:t>
            </a:r>
            <a:endParaRPr lang="en-US" sz="1300" dirty="0"/>
          </a:p>
        </p:txBody>
      </p:sp>
      <p:sp>
        <p:nvSpPr>
          <p:cNvPr id="4" name="Shape 2"/>
          <p:cNvSpPr/>
          <p:nvPr/>
        </p:nvSpPr>
        <p:spPr>
          <a:xfrm>
            <a:off x="502920" y="1298448"/>
            <a:ext cx="2743200" cy="1024128"/>
          </a:xfrm>
          <a:prstGeom prst="roundRect">
            <a:avLst>
              <a:gd name="adj" fmla="val 5357"/>
            </a:avLst>
          </a:prstGeom>
          <a:solidFill>
            <a:srgbClr val="F4F6FA"/>
          </a:solidFill>
          <a:ln w="12700">
            <a:solidFill>
              <a:srgbClr val="F4F6FA"/>
            </a:solidFill>
            <a:prstDash val="solid"/>
          </a:ln>
        </p:spPr>
      </p:sp>
      <p:sp>
        <p:nvSpPr>
          <p:cNvPr id="5" name="Text 3"/>
          <p:cNvSpPr txBox="1"/>
          <p:nvPr/>
        </p:nvSpPr>
        <p:spPr>
          <a:xfrm>
            <a:off x="502920" y="1399032"/>
            <a:ext cx="2743200" cy="457200"/>
          </a:xfrm>
          <a:prstGeom prst="rect">
            <a:avLst/>
          </a:prstGeom>
          <a:noFill/>
          <a:ln/>
        </p:spPr>
        <p:txBody>
          <a:bodyPr wrap="square" lIns="0" tIns="0" rIns="0" bIns="0" rtlCol="0" anchor="ctr"/>
          <a:lstStyle/>
          <a:p>
            <a:pPr marL="0" indent="0" algn="ctr">
              <a:buNone/>
            </a:pPr>
            <a:r>
              <a:rPr lang="en-US" sz="2500" b="1" dirty="0">
                <a:solidFill>
                  <a:srgbClr val="16264A"/>
                </a:solidFill>
                <a:latin typeface="Cambria" pitchFamily="34" charset="0"/>
                <a:ea typeface="Cambria" pitchFamily="34" charset="-122"/>
                <a:cs typeface="Cambria" pitchFamily="34" charset="-120"/>
              </a:rPr>
              <a:t>8.84 M</a:t>
            </a:r>
            <a:endParaRPr lang="en-US" sz="2500" dirty="0"/>
          </a:p>
        </p:txBody>
      </p:sp>
      <p:sp>
        <p:nvSpPr>
          <p:cNvPr id="6" name="Text 4"/>
          <p:cNvSpPr txBox="1"/>
          <p:nvPr/>
        </p:nvSpPr>
        <p:spPr>
          <a:xfrm>
            <a:off x="502920" y="1901952"/>
            <a:ext cx="2743200" cy="310896"/>
          </a:xfrm>
          <a:prstGeom prst="rect">
            <a:avLst/>
          </a:prstGeom>
          <a:noFill/>
          <a:ln/>
        </p:spPr>
        <p:txBody>
          <a:bodyPr wrap="square" lIns="0" tIns="0" rIns="0" bIns="0" rtlCol="0" anchor="ctr"/>
          <a:lstStyle/>
          <a:p>
            <a:pPr marL="0" indent="0" algn="ctr">
              <a:buNone/>
            </a:pPr>
            <a:r>
              <a:rPr lang="en-US" sz="1050" dirty="0">
                <a:solidFill>
                  <a:srgbClr val="667085"/>
                </a:solidFill>
                <a:latin typeface="Calibri" pitchFamily="34" charset="0"/>
                <a:ea typeface="Calibri" pitchFamily="34" charset="-122"/>
                <a:cs typeface="Calibri" pitchFamily="34" charset="-120"/>
              </a:rPr>
              <a:t>Total sales (capped)</a:t>
            </a:r>
            <a:endParaRPr lang="en-US" sz="1050" dirty="0"/>
          </a:p>
        </p:txBody>
      </p:sp>
      <p:sp>
        <p:nvSpPr>
          <p:cNvPr id="7" name="Shape 5"/>
          <p:cNvSpPr/>
          <p:nvPr/>
        </p:nvSpPr>
        <p:spPr>
          <a:xfrm>
            <a:off x="3410712" y="1298448"/>
            <a:ext cx="2743200" cy="1024128"/>
          </a:xfrm>
          <a:prstGeom prst="roundRect">
            <a:avLst>
              <a:gd name="adj" fmla="val 5357"/>
            </a:avLst>
          </a:prstGeom>
          <a:solidFill>
            <a:srgbClr val="F4F6FA"/>
          </a:solidFill>
          <a:ln w="12700">
            <a:solidFill>
              <a:srgbClr val="F4F6FA"/>
            </a:solidFill>
            <a:prstDash val="solid"/>
          </a:ln>
        </p:spPr>
      </p:sp>
      <p:sp>
        <p:nvSpPr>
          <p:cNvPr id="8" name="Text 6"/>
          <p:cNvSpPr txBox="1"/>
          <p:nvPr/>
        </p:nvSpPr>
        <p:spPr>
          <a:xfrm>
            <a:off x="3410712" y="1399032"/>
            <a:ext cx="2743200" cy="457200"/>
          </a:xfrm>
          <a:prstGeom prst="rect">
            <a:avLst/>
          </a:prstGeom>
          <a:noFill/>
          <a:ln/>
        </p:spPr>
        <p:txBody>
          <a:bodyPr wrap="square" lIns="0" tIns="0" rIns="0" bIns="0" rtlCol="0" anchor="ctr"/>
          <a:lstStyle/>
          <a:p>
            <a:pPr marL="0" indent="0" algn="ctr">
              <a:buNone/>
            </a:pPr>
            <a:r>
              <a:rPr lang="en-US" sz="2500" b="1" dirty="0">
                <a:solidFill>
                  <a:srgbClr val="16264A"/>
                </a:solidFill>
                <a:latin typeface="Cambria" pitchFamily="34" charset="0"/>
                <a:ea typeface="Cambria" pitchFamily="34" charset="-122"/>
                <a:cs typeface="Cambria" pitchFamily="34" charset="-120"/>
              </a:rPr>
              <a:t>0.93 M</a:t>
            </a:r>
            <a:endParaRPr lang="en-US" sz="2500" dirty="0"/>
          </a:p>
        </p:txBody>
      </p:sp>
      <p:sp>
        <p:nvSpPr>
          <p:cNvPr id="9" name="Text 7"/>
          <p:cNvSpPr txBox="1"/>
          <p:nvPr/>
        </p:nvSpPr>
        <p:spPr>
          <a:xfrm>
            <a:off x="3410712" y="1901952"/>
            <a:ext cx="2743200" cy="310896"/>
          </a:xfrm>
          <a:prstGeom prst="rect">
            <a:avLst/>
          </a:prstGeom>
          <a:noFill/>
          <a:ln/>
        </p:spPr>
        <p:txBody>
          <a:bodyPr wrap="square" lIns="0" tIns="0" rIns="0" bIns="0" rtlCol="0" anchor="ctr"/>
          <a:lstStyle/>
          <a:p>
            <a:pPr marL="0" indent="0" algn="ctr">
              <a:buNone/>
            </a:pPr>
            <a:r>
              <a:rPr lang="en-US" sz="1050" dirty="0">
                <a:solidFill>
                  <a:srgbClr val="667085"/>
                </a:solidFill>
                <a:latin typeface="Calibri" pitchFamily="34" charset="0"/>
                <a:ea typeface="Calibri" pitchFamily="34" charset="-122"/>
                <a:cs typeface="Calibri" pitchFamily="34" charset="-120"/>
              </a:rPr>
              <a:t>Total profit (capped)</a:t>
            </a:r>
            <a:endParaRPr lang="en-US" sz="1050" dirty="0"/>
          </a:p>
        </p:txBody>
      </p:sp>
      <p:sp>
        <p:nvSpPr>
          <p:cNvPr id="10" name="Shape 8"/>
          <p:cNvSpPr/>
          <p:nvPr/>
        </p:nvSpPr>
        <p:spPr>
          <a:xfrm>
            <a:off x="6318504" y="1298448"/>
            <a:ext cx="2743200" cy="1024128"/>
          </a:xfrm>
          <a:prstGeom prst="roundRect">
            <a:avLst>
              <a:gd name="adj" fmla="val 5357"/>
            </a:avLst>
          </a:prstGeom>
          <a:solidFill>
            <a:srgbClr val="F4F6FA"/>
          </a:solidFill>
          <a:ln w="12700">
            <a:solidFill>
              <a:srgbClr val="F4F6FA"/>
            </a:solidFill>
            <a:prstDash val="solid"/>
          </a:ln>
        </p:spPr>
      </p:sp>
      <p:sp>
        <p:nvSpPr>
          <p:cNvPr id="11" name="Text 9"/>
          <p:cNvSpPr txBox="1"/>
          <p:nvPr/>
        </p:nvSpPr>
        <p:spPr>
          <a:xfrm>
            <a:off x="6318504" y="1399032"/>
            <a:ext cx="2743200" cy="457200"/>
          </a:xfrm>
          <a:prstGeom prst="rect">
            <a:avLst/>
          </a:prstGeom>
          <a:noFill/>
          <a:ln/>
        </p:spPr>
        <p:txBody>
          <a:bodyPr wrap="square" lIns="0" tIns="0" rIns="0" bIns="0" rtlCol="0" anchor="ctr"/>
          <a:lstStyle/>
          <a:p>
            <a:pPr marL="0" indent="0" algn="ctr">
              <a:buNone/>
            </a:pPr>
            <a:r>
              <a:rPr lang="en-US" sz="2500" b="1" dirty="0">
                <a:solidFill>
                  <a:srgbClr val="B3453C"/>
                </a:solidFill>
                <a:latin typeface="Cambria" pitchFamily="34" charset="0"/>
                <a:ea typeface="Cambria" pitchFamily="34" charset="-122"/>
                <a:cs typeface="Cambria" pitchFamily="34" charset="-120"/>
              </a:rPr>
              <a:t>-0.576</a:t>
            </a:r>
            <a:endParaRPr lang="en-US" sz="2500" dirty="0"/>
          </a:p>
        </p:txBody>
      </p:sp>
      <p:sp>
        <p:nvSpPr>
          <p:cNvPr id="12" name="Text 10"/>
          <p:cNvSpPr txBox="1"/>
          <p:nvPr/>
        </p:nvSpPr>
        <p:spPr>
          <a:xfrm>
            <a:off x="6318504" y="1901952"/>
            <a:ext cx="2743200" cy="310896"/>
          </a:xfrm>
          <a:prstGeom prst="rect">
            <a:avLst/>
          </a:prstGeom>
          <a:noFill/>
          <a:ln/>
        </p:spPr>
        <p:txBody>
          <a:bodyPr wrap="square" lIns="0" tIns="0" rIns="0" bIns="0" rtlCol="0" anchor="ctr"/>
          <a:lstStyle/>
          <a:p>
            <a:pPr marL="0" indent="0" algn="ctr">
              <a:buNone/>
            </a:pPr>
            <a:r>
              <a:rPr lang="en-US" sz="1050" dirty="0">
                <a:solidFill>
                  <a:srgbClr val="667085"/>
                </a:solidFill>
                <a:latin typeface="Calibri" pitchFamily="34" charset="0"/>
                <a:ea typeface="Calibri" pitchFamily="34" charset="-122"/>
                <a:cs typeface="Calibri" pitchFamily="34" charset="-120"/>
              </a:rPr>
              <a:t>Discount to Profit correlation</a:t>
            </a:r>
            <a:endParaRPr lang="en-US" sz="1050" dirty="0"/>
          </a:p>
        </p:txBody>
      </p:sp>
      <p:sp>
        <p:nvSpPr>
          <p:cNvPr id="13" name="Shape 11"/>
          <p:cNvSpPr/>
          <p:nvPr/>
        </p:nvSpPr>
        <p:spPr>
          <a:xfrm>
            <a:off x="9226296" y="1298448"/>
            <a:ext cx="2478024" cy="1024128"/>
          </a:xfrm>
          <a:prstGeom prst="roundRect">
            <a:avLst>
              <a:gd name="adj" fmla="val 5357"/>
            </a:avLst>
          </a:prstGeom>
          <a:solidFill>
            <a:srgbClr val="F4F6FA"/>
          </a:solidFill>
          <a:ln w="12700">
            <a:solidFill>
              <a:srgbClr val="F4F6FA"/>
            </a:solidFill>
            <a:prstDash val="solid"/>
          </a:ln>
        </p:spPr>
      </p:sp>
      <p:sp>
        <p:nvSpPr>
          <p:cNvPr id="14" name="Text 12"/>
          <p:cNvSpPr txBox="1"/>
          <p:nvPr/>
        </p:nvSpPr>
        <p:spPr>
          <a:xfrm>
            <a:off x="9226296" y="1399032"/>
            <a:ext cx="2478024" cy="457200"/>
          </a:xfrm>
          <a:prstGeom prst="rect">
            <a:avLst/>
          </a:prstGeom>
          <a:noFill/>
          <a:ln/>
        </p:spPr>
        <p:txBody>
          <a:bodyPr wrap="square" lIns="0" tIns="0" rIns="0" bIns="0" rtlCol="0" anchor="ctr"/>
          <a:lstStyle/>
          <a:p>
            <a:pPr marL="0" indent="0" algn="ctr">
              <a:buNone/>
            </a:pPr>
            <a:r>
              <a:rPr lang="en-US" sz="2500" b="1" dirty="0">
                <a:solidFill>
                  <a:srgbClr val="2C7A5B"/>
                </a:solidFill>
                <a:latin typeface="Cambria" pitchFamily="34" charset="0"/>
                <a:ea typeface="Cambria" pitchFamily="34" charset="-122"/>
                <a:cs typeface="Cambria" pitchFamily="34" charset="-120"/>
              </a:rPr>
              <a:t>+0.483</a:t>
            </a:r>
            <a:endParaRPr lang="en-US" sz="2500" dirty="0"/>
          </a:p>
        </p:txBody>
      </p:sp>
      <p:sp>
        <p:nvSpPr>
          <p:cNvPr id="15" name="Text 13"/>
          <p:cNvSpPr txBox="1"/>
          <p:nvPr/>
        </p:nvSpPr>
        <p:spPr>
          <a:xfrm>
            <a:off x="9226296" y="1901952"/>
            <a:ext cx="2478024" cy="310896"/>
          </a:xfrm>
          <a:prstGeom prst="rect">
            <a:avLst/>
          </a:prstGeom>
          <a:noFill/>
          <a:ln/>
        </p:spPr>
        <p:txBody>
          <a:bodyPr wrap="square" lIns="0" tIns="0" rIns="0" bIns="0" rtlCol="0" anchor="ctr"/>
          <a:lstStyle/>
          <a:p>
            <a:pPr marL="0" indent="0" algn="ctr">
              <a:buNone/>
            </a:pPr>
            <a:r>
              <a:rPr lang="en-US" sz="1050" dirty="0">
                <a:solidFill>
                  <a:srgbClr val="667085"/>
                </a:solidFill>
                <a:latin typeface="Calibri" pitchFamily="34" charset="0"/>
                <a:ea typeface="Calibri" pitchFamily="34" charset="-122"/>
                <a:cs typeface="Calibri" pitchFamily="34" charset="-120"/>
              </a:rPr>
              <a:t>Sales to Profit correlation</a:t>
            </a:r>
            <a:endParaRPr lang="en-US" sz="1050" dirty="0"/>
          </a:p>
        </p:txBody>
      </p:sp>
      <p:pic>
        <p:nvPicPr>
          <p:cNvPr id="16" name="Image 0" descr="/home/claude/work/build/img/02_Average_Profit_by_Discount.png"/>
          <p:cNvPicPr>
            <a:picLocks noChangeAspect="1"/>
          </p:cNvPicPr>
          <p:nvPr/>
        </p:nvPicPr>
        <p:blipFill>
          <a:blip r:embed="rId3"/>
          <a:stretch>
            <a:fillRect/>
          </a:stretch>
        </p:blipFill>
        <p:spPr>
          <a:xfrm>
            <a:off x="502920" y="2542032"/>
            <a:ext cx="5120640" cy="2834640"/>
          </a:xfrm>
          <a:prstGeom prst="rect">
            <a:avLst/>
          </a:prstGeom>
        </p:spPr>
      </p:pic>
      <p:sp>
        <p:nvSpPr>
          <p:cNvPr id="17" name="Text 14"/>
          <p:cNvSpPr txBox="1"/>
          <p:nvPr/>
        </p:nvSpPr>
        <p:spPr>
          <a:xfrm>
            <a:off x="502920" y="5394960"/>
            <a:ext cx="5120640" cy="274320"/>
          </a:xfrm>
          <a:prstGeom prst="rect">
            <a:avLst/>
          </a:prstGeom>
          <a:noFill/>
          <a:ln/>
        </p:spPr>
        <p:txBody>
          <a:bodyPr wrap="square" lIns="0" tIns="0" rIns="0" bIns="0" rtlCol="0" anchor="ctr"/>
          <a:lstStyle/>
          <a:p>
            <a:pPr marL="0" indent="0" algn="ctr">
              <a:buNone/>
            </a:pPr>
            <a:r>
              <a:rPr lang="en-US" sz="1000" i="1" dirty="0">
                <a:solidFill>
                  <a:srgbClr val="667085"/>
                </a:solidFill>
                <a:latin typeface="Calibri" pitchFamily="34" charset="0"/>
                <a:ea typeface="Calibri" pitchFamily="34" charset="-122"/>
                <a:cs typeface="Calibri" pitchFamily="34" charset="-120"/>
              </a:rPr>
              <a:t>Figure 2: Average profit by discount level (outputs/02_EDA/10_Discount_Analysis)</a:t>
            </a:r>
            <a:endParaRPr lang="en-US" sz="1000" dirty="0"/>
          </a:p>
        </p:txBody>
      </p:sp>
      <p:sp>
        <p:nvSpPr>
          <p:cNvPr id="18" name="Text 15"/>
          <p:cNvSpPr txBox="1"/>
          <p:nvPr/>
        </p:nvSpPr>
        <p:spPr>
          <a:xfrm>
            <a:off x="5943600" y="2487168"/>
            <a:ext cx="5760720" cy="274320"/>
          </a:xfrm>
          <a:prstGeom prst="rect">
            <a:avLst/>
          </a:prstGeom>
          <a:noFill/>
          <a:ln/>
        </p:spPr>
        <p:txBody>
          <a:bodyPr wrap="square" lIns="0" tIns="0" rIns="0" bIns="0" rtlCol="0" anchor="t"/>
          <a:lstStyle/>
          <a:p>
            <a:pPr marL="0" indent="0">
              <a:buNone/>
            </a:pPr>
            <a:r>
              <a:rPr lang="en-US" sz="1400" b="1" dirty="0">
                <a:solidFill>
                  <a:srgbClr val="16264A"/>
                </a:solidFill>
                <a:latin typeface="Cambria" pitchFamily="34" charset="0"/>
                <a:ea typeface="Cambria" pitchFamily="34" charset="-122"/>
                <a:cs typeface="Cambria" pitchFamily="34" charset="-120"/>
              </a:rPr>
              <a:t>What the numbers show</a:t>
            </a:r>
            <a:endParaRPr lang="en-US" sz="1400" dirty="0"/>
          </a:p>
        </p:txBody>
      </p:sp>
      <p:sp>
        <p:nvSpPr>
          <p:cNvPr id="19" name="Text 16"/>
          <p:cNvSpPr txBox="1"/>
          <p:nvPr/>
        </p:nvSpPr>
        <p:spPr>
          <a:xfrm>
            <a:off x="5961888" y="2798064"/>
            <a:ext cx="5724144" cy="292608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Category sales are close: Technology 3.08 M, Office Supplies 3.01 M, Furniture 2.75 M - but profit ranks differently, with Office Supplies highest at 392,508</a:t>
            </a:r>
            <a:endParaRPr lang="en-US" sz="1150" dirty="0"/>
          </a:p>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Phones lead sub-category sales (1.04 M) and profit (107,358); Chairs sell 1.04 M but return only 83,188</a:t>
            </a:r>
            <a:endParaRPr lang="en-US" sz="1150" dirty="0"/>
          </a:p>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Central is the strongest region on both sales (2.02 M) and profit (208,782); Southeast Asia sells 615,554 yet returns only 14,717</a:t>
            </a:r>
            <a:endParaRPr lang="en-US" sz="1150" dirty="0"/>
          </a:p>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Consumer is the largest segment: 4.56 M sales, 475,572 profit, 13,104 orders</a:t>
            </a:r>
            <a:endParaRPr lang="en-US" sz="1150" dirty="0"/>
          </a:p>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Discounts above 30% are associated with negative total profit; at 50% discount total profit is -173,380</a:t>
            </a:r>
            <a:endParaRPr lang="en-US" sz="1150" dirty="0"/>
          </a:p>
        </p:txBody>
      </p:sp>
      <p:sp>
        <p:nvSpPr>
          <p:cNvPr id="20" name="Text 17"/>
          <p:cNvSpPr txBox="1"/>
          <p:nvPr/>
        </p:nvSpPr>
        <p:spPr>
          <a:xfrm>
            <a:off x="502920" y="5806440"/>
            <a:ext cx="11155680" cy="310896"/>
          </a:xfrm>
          <a:prstGeom prst="rect">
            <a:avLst/>
          </a:prstGeom>
          <a:noFill/>
          <a:ln/>
        </p:spPr>
        <p:txBody>
          <a:bodyPr wrap="square" lIns="0" tIns="0" rIns="0" bIns="0" rtlCol="0" anchor="ctr"/>
          <a:lstStyle/>
          <a:p>
            <a:pPr marL="0" indent="0">
              <a:buNone/>
            </a:pPr>
            <a:r>
              <a:rPr lang="en-US" sz="1050" i="1" dirty="0">
                <a:solidFill>
                  <a:srgbClr val="667085"/>
                </a:solidFill>
                <a:latin typeface="Calibri" pitchFamily="34" charset="0"/>
                <a:ea typeface="Calibri" pitchFamily="34" charset="-122"/>
                <a:cs typeface="Calibri" pitchFamily="34" charset="-120"/>
              </a:rPr>
              <a:t>Correlation and profitability patterns are associations observed in historical data. They are not causal estimates.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66928"/>
          </a:xfrm>
          <a:prstGeom prst="rect">
            <a:avLst/>
          </a:prstGeom>
          <a:noFill/>
          <a:ln/>
        </p:spPr>
        <p:txBody>
          <a:bodyPr wrap="square" lIns="0" tIns="0" rIns="0" bIns="0" rtlCol="0" anchor="ctr"/>
          <a:lstStyle/>
          <a:p>
            <a:pPr marL="0" indent="0">
              <a:buNone/>
            </a:pPr>
            <a:r>
              <a:rPr lang="en-US" sz="3000" b="1" dirty="0">
                <a:solidFill>
                  <a:srgbClr val="16264A"/>
                </a:solidFill>
                <a:latin typeface="Cambria" pitchFamily="34" charset="0"/>
                <a:ea typeface="Cambria" pitchFamily="34" charset="-122"/>
                <a:cs typeface="Cambria" pitchFamily="34" charset="-120"/>
              </a:rPr>
              <a:t>Implementation: Feature Engineering and Selection</a:t>
            </a:r>
            <a:endParaRPr lang="en-US" sz="3000" dirty="0"/>
          </a:p>
        </p:txBody>
      </p:sp>
      <p:sp>
        <p:nvSpPr>
          <p:cNvPr id="3" name="Text 1"/>
          <p:cNvSpPr txBox="1"/>
          <p:nvPr/>
        </p:nvSpPr>
        <p:spPr>
          <a:xfrm>
            <a:off x="502920" y="896112"/>
            <a:ext cx="11155680" cy="329184"/>
          </a:xfrm>
          <a:prstGeom prst="rect">
            <a:avLst/>
          </a:prstGeom>
          <a:noFill/>
          <a:ln/>
        </p:spPr>
        <p:txBody>
          <a:bodyPr wrap="square" lIns="0" tIns="0" rIns="0" bIns="0" rtlCol="0" anchor="ctr"/>
          <a:lstStyle/>
          <a:p>
            <a:pPr marL="0" indent="0">
              <a:buNone/>
            </a:pPr>
            <a:r>
              <a:rPr lang="en-US" sz="1300" i="1" dirty="0">
                <a:solidFill>
                  <a:srgbClr val="667085"/>
                </a:solidFill>
                <a:latin typeface="Calibri" pitchFamily="34" charset="0"/>
                <a:ea typeface="Calibri" pitchFamily="34" charset="-122"/>
                <a:cs typeface="Calibri" pitchFamily="34" charset="-120"/>
              </a:rPr>
              <a:t>27 engineered features take the dataset from 24 to 51 columns</a:t>
            </a:r>
            <a:endParaRPr lang="en-US" sz="1300" dirty="0"/>
          </a:p>
        </p:txBody>
      </p:sp>
      <p:sp>
        <p:nvSpPr>
          <p:cNvPr id="4" name="Shape 2"/>
          <p:cNvSpPr/>
          <p:nvPr/>
        </p:nvSpPr>
        <p:spPr>
          <a:xfrm>
            <a:off x="502920" y="1371600"/>
            <a:ext cx="6309360" cy="694944"/>
          </a:xfrm>
          <a:prstGeom prst="roundRect">
            <a:avLst>
              <a:gd name="adj" fmla="val 7895"/>
            </a:avLst>
          </a:prstGeom>
          <a:solidFill>
            <a:srgbClr val="F4F6FA"/>
          </a:solidFill>
          <a:ln w="12700">
            <a:solidFill>
              <a:srgbClr val="F4F6FA"/>
            </a:solidFill>
            <a:prstDash val="solid"/>
          </a:ln>
        </p:spPr>
      </p:sp>
      <p:sp>
        <p:nvSpPr>
          <p:cNvPr id="5" name="Text 3"/>
          <p:cNvSpPr txBox="1"/>
          <p:nvPr/>
        </p:nvSpPr>
        <p:spPr>
          <a:xfrm>
            <a:off x="640080" y="1426464"/>
            <a:ext cx="1828800" cy="585216"/>
          </a:xfrm>
          <a:prstGeom prst="rect">
            <a:avLst/>
          </a:prstGeom>
          <a:noFill/>
          <a:ln/>
        </p:spPr>
        <p:txBody>
          <a:bodyPr wrap="square" lIns="0" tIns="0" rIns="0" bIns="0" rtlCol="0" anchor="ctr"/>
          <a:lstStyle/>
          <a:p>
            <a:pPr marL="0" indent="0">
              <a:buNone/>
            </a:pPr>
            <a:r>
              <a:rPr lang="en-US" sz="1150" b="1" dirty="0">
                <a:solidFill>
                  <a:srgbClr val="16264A"/>
                </a:solidFill>
                <a:latin typeface="Cambria" pitchFamily="34" charset="0"/>
                <a:ea typeface="Cambria" pitchFamily="34" charset="-122"/>
                <a:cs typeface="Cambria" pitchFamily="34" charset="-120"/>
              </a:rPr>
              <a:t>Date features (9)</a:t>
            </a:r>
            <a:endParaRPr lang="en-US" sz="1150" dirty="0"/>
          </a:p>
        </p:txBody>
      </p:sp>
      <p:sp>
        <p:nvSpPr>
          <p:cNvPr id="6" name="Text 4"/>
          <p:cNvSpPr txBox="1"/>
          <p:nvPr/>
        </p:nvSpPr>
        <p:spPr>
          <a:xfrm>
            <a:off x="2487168" y="1417320"/>
            <a:ext cx="4206240" cy="603504"/>
          </a:xfrm>
          <a:prstGeom prst="rect">
            <a:avLst/>
          </a:prstGeom>
          <a:noFill/>
          <a:ln/>
        </p:spPr>
        <p:txBody>
          <a:bodyPr wrap="square" lIns="0" tIns="0" rIns="0" bIns="0" rtlCol="0" anchor="ctr"/>
          <a:lstStyle/>
          <a:p>
            <a:pPr marL="0" indent="0">
              <a:lnSpc>
                <a:spcPts val="1100"/>
              </a:lnSpc>
              <a:buNone/>
            </a:pPr>
            <a:r>
              <a:rPr lang="en-US" sz="900" dirty="0">
                <a:solidFill>
                  <a:srgbClr val="1F2937"/>
                </a:solidFill>
                <a:latin typeface="Calibri" pitchFamily="34" charset="0"/>
                <a:ea typeface="Calibri" pitchFamily="34" charset="-122"/>
                <a:cs typeface="Calibri" pitchFamily="34" charset="-120"/>
              </a:rPr>
              <a:t>Order Year, Order Month, Order Month Name, Order Quarter, Order Week, Order Day of Week, Order Day Name, Is Weekend, Shipping Days</a:t>
            </a:r>
            <a:endParaRPr lang="en-US" sz="900" dirty="0"/>
          </a:p>
        </p:txBody>
      </p:sp>
      <p:sp>
        <p:nvSpPr>
          <p:cNvPr id="7" name="Shape 5"/>
          <p:cNvSpPr/>
          <p:nvPr/>
        </p:nvSpPr>
        <p:spPr>
          <a:xfrm>
            <a:off x="502920" y="2139696"/>
            <a:ext cx="6309360" cy="694944"/>
          </a:xfrm>
          <a:prstGeom prst="roundRect">
            <a:avLst>
              <a:gd name="adj" fmla="val 7895"/>
            </a:avLst>
          </a:prstGeom>
          <a:solidFill>
            <a:srgbClr val="F4F6FA"/>
          </a:solidFill>
          <a:ln w="12700">
            <a:solidFill>
              <a:srgbClr val="F4F6FA"/>
            </a:solidFill>
            <a:prstDash val="solid"/>
          </a:ln>
        </p:spPr>
      </p:sp>
      <p:sp>
        <p:nvSpPr>
          <p:cNvPr id="8" name="Text 6"/>
          <p:cNvSpPr txBox="1"/>
          <p:nvPr/>
        </p:nvSpPr>
        <p:spPr>
          <a:xfrm>
            <a:off x="640080" y="2194560"/>
            <a:ext cx="1828800" cy="585216"/>
          </a:xfrm>
          <a:prstGeom prst="rect">
            <a:avLst/>
          </a:prstGeom>
          <a:noFill/>
          <a:ln/>
        </p:spPr>
        <p:txBody>
          <a:bodyPr wrap="square" lIns="0" tIns="0" rIns="0" bIns="0" rtlCol="0" anchor="ctr"/>
          <a:lstStyle/>
          <a:p>
            <a:pPr marL="0" indent="0">
              <a:buNone/>
            </a:pPr>
            <a:r>
              <a:rPr lang="en-US" sz="1150" b="1" dirty="0">
                <a:solidFill>
                  <a:srgbClr val="16264A"/>
                </a:solidFill>
                <a:latin typeface="Cambria" pitchFamily="34" charset="0"/>
                <a:ea typeface="Cambria" pitchFamily="34" charset="-122"/>
                <a:cs typeface="Cambria" pitchFamily="34" charset="-120"/>
              </a:rPr>
              <a:t>Sales features (5)</a:t>
            </a:r>
            <a:endParaRPr lang="en-US" sz="1150" dirty="0"/>
          </a:p>
        </p:txBody>
      </p:sp>
      <p:sp>
        <p:nvSpPr>
          <p:cNvPr id="9" name="Text 7"/>
          <p:cNvSpPr txBox="1"/>
          <p:nvPr/>
        </p:nvSpPr>
        <p:spPr>
          <a:xfrm>
            <a:off x="2487168" y="2185416"/>
            <a:ext cx="4206240" cy="603504"/>
          </a:xfrm>
          <a:prstGeom prst="rect">
            <a:avLst/>
          </a:prstGeom>
          <a:noFill/>
          <a:ln/>
        </p:spPr>
        <p:txBody>
          <a:bodyPr wrap="square" lIns="0" tIns="0" rIns="0" bIns="0" rtlCol="0" anchor="ctr"/>
          <a:lstStyle/>
          <a:p>
            <a:pPr marL="0" indent="0">
              <a:lnSpc>
                <a:spcPts val="1100"/>
              </a:lnSpc>
              <a:buNone/>
            </a:pPr>
            <a:r>
              <a:rPr lang="en-US" sz="900" dirty="0">
                <a:solidFill>
                  <a:srgbClr val="1F2937"/>
                </a:solidFill>
                <a:latin typeface="Calibri" pitchFamily="34" charset="0"/>
                <a:ea typeface="Calibri" pitchFamily="34" charset="-122"/>
                <a:cs typeface="Calibri" pitchFamily="34" charset="-120"/>
              </a:rPr>
              <a:t>Sales per Quantity, Discount Amount, Net Sales, Quantity Category, Discount Category</a:t>
            </a:r>
            <a:endParaRPr lang="en-US" sz="900" dirty="0"/>
          </a:p>
        </p:txBody>
      </p:sp>
      <p:sp>
        <p:nvSpPr>
          <p:cNvPr id="10" name="Shape 8"/>
          <p:cNvSpPr/>
          <p:nvPr/>
        </p:nvSpPr>
        <p:spPr>
          <a:xfrm>
            <a:off x="502920" y="2907792"/>
            <a:ext cx="6309360" cy="694944"/>
          </a:xfrm>
          <a:prstGeom prst="roundRect">
            <a:avLst>
              <a:gd name="adj" fmla="val 7895"/>
            </a:avLst>
          </a:prstGeom>
          <a:solidFill>
            <a:srgbClr val="F4F6FA"/>
          </a:solidFill>
          <a:ln w="12700">
            <a:solidFill>
              <a:srgbClr val="F4F6FA"/>
            </a:solidFill>
            <a:prstDash val="solid"/>
          </a:ln>
        </p:spPr>
      </p:sp>
      <p:sp>
        <p:nvSpPr>
          <p:cNvPr id="11" name="Text 9"/>
          <p:cNvSpPr txBox="1"/>
          <p:nvPr/>
        </p:nvSpPr>
        <p:spPr>
          <a:xfrm>
            <a:off x="640080" y="2962656"/>
            <a:ext cx="1828800" cy="585216"/>
          </a:xfrm>
          <a:prstGeom prst="rect">
            <a:avLst/>
          </a:prstGeom>
          <a:noFill/>
          <a:ln/>
        </p:spPr>
        <p:txBody>
          <a:bodyPr wrap="square" lIns="0" tIns="0" rIns="0" bIns="0" rtlCol="0" anchor="ctr"/>
          <a:lstStyle/>
          <a:p>
            <a:pPr marL="0" indent="0">
              <a:buNone/>
            </a:pPr>
            <a:r>
              <a:rPr lang="en-US" sz="1150" b="1" dirty="0">
                <a:solidFill>
                  <a:srgbClr val="16264A"/>
                </a:solidFill>
                <a:latin typeface="Cambria" pitchFamily="34" charset="0"/>
                <a:ea typeface="Cambria" pitchFamily="34" charset="-122"/>
                <a:cs typeface="Cambria" pitchFamily="34" charset="-120"/>
              </a:rPr>
              <a:t>Customer features (5)</a:t>
            </a:r>
            <a:endParaRPr lang="en-US" sz="1150" dirty="0"/>
          </a:p>
        </p:txBody>
      </p:sp>
      <p:sp>
        <p:nvSpPr>
          <p:cNvPr id="12" name="Text 10"/>
          <p:cNvSpPr txBox="1"/>
          <p:nvPr/>
        </p:nvSpPr>
        <p:spPr>
          <a:xfrm>
            <a:off x="2487168" y="2953512"/>
            <a:ext cx="4206240" cy="603504"/>
          </a:xfrm>
          <a:prstGeom prst="rect">
            <a:avLst/>
          </a:prstGeom>
          <a:noFill/>
          <a:ln/>
        </p:spPr>
        <p:txBody>
          <a:bodyPr wrap="square" lIns="0" tIns="0" rIns="0" bIns="0" rtlCol="0" anchor="ctr"/>
          <a:lstStyle/>
          <a:p>
            <a:pPr marL="0" indent="0">
              <a:lnSpc>
                <a:spcPts val="1100"/>
              </a:lnSpc>
              <a:buNone/>
            </a:pPr>
            <a:r>
              <a:rPr lang="en-US" sz="900" dirty="0">
                <a:solidFill>
                  <a:srgbClr val="1F2937"/>
                </a:solidFill>
                <a:latin typeface="Calibri" pitchFamily="34" charset="0"/>
                <a:ea typeface="Calibri" pitchFamily="34" charset="-122"/>
                <a:cs typeface="Calibri" pitchFamily="34" charset="-120"/>
              </a:rPr>
              <a:t>Customer Order Count, Customer Total Sales, Customer Total Profit, Customer Average Order Value, Customer Profitability</a:t>
            </a:r>
            <a:endParaRPr lang="en-US" sz="900" dirty="0"/>
          </a:p>
        </p:txBody>
      </p:sp>
      <p:sp>
        <p:nvSpPr>
          <p:cNvPr id="13" name="Shape 11"/>
          <p:cNvSpPr/>
          <p:nvPr/>
        </p:nvSpPr>
        <p:spPr>
          <a:xfrm>
            <a:off x="502920" y="3675888"/>
            <a:ext cx="6309360" cy="694944"/>
          </a:xfrm>
          <a:prstGeom prst="roundRect">
            <a:avLst>
              <a:gd name="adj" fmla="val 7895"/>
            </a:avLst>
          </a:prstGeom>
          <a:solidFill>
            <a:srgbClr val="F4F6FA"/>
          </a:solidFill>
          <a:ln w="12700">
            <a:solidFill>
              <a:srgbClr val="F4F6FA"/>
            </a:solidFill>
            <a:prstDash val="solid"/>
          </a:ln>
        </p:spPr>
      </p:sp>
      <p:sp>
        <p:nvSpPr>
          <p:cNvPr id="14" name="Text 12"/>
          <p:cNvSpPr txBox="1"/>
          <p:nvPr/>
        </p:nvSpPr>
        <p:spPr>
          <a:xfrm>
            <a:off x="640080" y="3730752"/>
            <a:ext cx="1828800" cy="585216"/>
          </a:xfrm>
          <a:prstGeom prst="rect">
            <a:avLst/>
          </a:prstGeom>
          <a:noFill/>
          <a:ln/>
        </p:spPr>
        <p:txBody>
          <a:bodyPr wrap="square" lIns="0" tIns="0" rIns="0" bIns="0" rtlCol="0" anchor="ctr"/>
          <a:lstStyle/>
          <a:p>
            <a:pPr marL="0" indent="0">
              <a:buNone/>
            </a:pPr>
            <a:r>
              <a:rPr lang="en-US" sz="1150" b="1" dirty="0">
                <a:solidFill>
                  <a:srgbClr val="16264A"/>
                </a:solidFill>
                <a:latin typeface="Cambria" pitchFamily="34" charset="0"/>
                <a:ea typeface="Cambria" pitchFamily="34" charset="-122"/>
                <a:cs typeface="Cambria" pitchFamily="34" charset="-120"/>
              </a:rPr>
              <a:t>Product features (5)</a:t>
            </a:r>
            <a:endParaRPr lang="en-US" sz="1150" dirty="0"/>
          </a:p>
        </p:txBody>
      </p:sp>
      <p:sp>
        <p:nvSpPr>
          <p:cNvPr id="15" name="Text 13"/>
          <p:cNvSpPr txBox="1"/>
          <p:nvPr/>
        </p:nvSpPr>
        <p:spPr>
          <a:xfrm>
            <a:off x="2487168" y="3721608"/>
            <a:ext cx="4206240" cy="603504"/>
          </a:xfrm>
          <a:prstGeom prst="rect">
            <a:avLst/>
          </a:prstGeom>
          <a:noFill/>
          <a:ln/>
        </p:spPr>
        <p:txBody>
          <a:bodyPr wrap="square" lIns="0" tIns="0" rIns="0" bIns="0" rtlCol="0" anchor="ctr"/>
          <a:lstStyle/>
          <a:p>
            <a:pPr marL="0" indent="0">
              <a:lnSpc>
                <a:spcPts val="1100"/>
              </a:lnSpc>
              <a:buNone/>
            </a:pPr>
            <a:r>
              <a:rPr lang="en-US" sz="900" dirty="0">
                <a:solidFill>
                  <a:srgbClr val="1F2937"/>
                </a:solidFill>
                <a:latin typeface="Calibri" pitchFamily="34" charset="0"/>
                <a:ea typeface="Calibri" pitchFamily="34" charset="-122"/>
                <a:cs typeface="Calibri" pitchFamily="34" charset="-120"/>
              </a:rPr>
              <a:t>Product Order Count, Product Total Sales, Product Total Profit, Product Average Sales, Product Performance</a:t>
            </a:r>
            <a:endParaRPr lang="en-US" sz="900" dirty="0"/>
          </a:p>
        </p:txBody>
      </p:sp>
      <p:sp>
        <p:nvSpPr>
          <p:cNvPr id="16" name="Shape 14"/>
          <p:cNvSpPr/>
          <p:nvPr/>
        </p:nvSpPr>
        <p:spPr>
          <a:xfrm>
            <a:off x="502920" y="4443984"/>
            <a:ext cx="6309360" cy="694944"/>
          </a:xfrm>
          <a:prstGeom prst="roundRect">
            <a:avLst>
              <a:gd name="adj" fmla="val 7895"/>
            </a:avLst>
          </a:prstGeom>
          <a:solidFill>
            <a:srgbClr val="F4F6FA"/>
          </a:solidFill>
          <a:ln w="12700">
            <a:solidFill>
              <a:srgbClr val="F4F6FA"/>
            </a:solidFill>
            <a:prstDash val="solid"/>
          </a:ln>
        </p:spPr>
      </p:sp>
      <p:sp>
        <p:nvSpPr>
          <p:cNvPr id="17" name="Text 15"/>
          <p:cNvSpPr txBox="1"/>
          <p:nvPr/>
        </p:nvSpPr>
        <p:spPr>
          <a:xfrm>
            <a:off x="640080" y="4498848"/>
            <a:ext cx="1828800" cy="585216"/>
          </a:xfrm>
          <a:prstGeom prst="rect">
            <a:avLst/>
          </a:prstGeom>
          <a:noFill/>
          <a:ln/>
        </p:spPr>
        <p:txBody>
          <a:bodyPr wrap="square" lIns="0" tIns="0" rIns="0" bIns="0" rtlCol="0" anchor="ctr"/>
          <a:lstStyle/>
          <a:p>
            <a:pPr marL="0" indent="0">
              <a:buNone/>
            </a:pPr>
            <a:r>
              <a:rPr lang="en-US" sz="1150" b="1" dirty="0">
                <a:solidFill>
                  <a:srgbClr val="16264A"/>
                </a:solidFill>
                <a:latin typeface="Cambria" pitchFamily="34" charset="0"/>
                <a:ea typeface="Cambria" pitchFamily="34" charset="-122"/>
                <a:cs typeface="Cambria" pitchFamily="34" charset="-120"/>
              </a:rPr>
              <a:t>Profit features (3)</a:t>
            </a:r>
            <a:endParaRPr lang="en-US" sz="1150" dirty="0"/>
          </a:p>
        </p:txBody>
      </p:sp>
      <p:sp>
        <p:nvSpPr>
          <p:cNvPr id="18" name="Text 16"/>
          <p:cNvSpPr txBox="1"/>
          <p:nvPr/>
        </p:nvSpPr>
        <p:spPr>
          <a:xfrm>
            <a:off x="2487168" y="4489704"/>
            <a:ext cx="4206240" cy="603504"/>
          </a:xfrm>
          <a:prstGeom prst="rect">
            <a:avLst/>
          </a:prstGeom>
          <a:noFill/>
          <a:ln/>
        </p:spPr>
        <p:txBody>
          <a:bodyPr wrap="square" lIns="0" tIns="0" rIns="0" bIns="0" rtlCol="0" anchor="ctr"/>
          <a:lstStyle/>
          <a:p>
            <a:pPr marL="0" indent="0">
              <a:lnSpc>
                <a:spcPts val="1100"/>
              </a:lnSpc>
              <a:buNone/>
            </a:pPr>
            <a:r>
              <a:rPr lang="en-US" sz="900" dirty="0">
                <a:solidFill>
                  <a:srgbClr val="1F2937"/>
                </a:solidFill>
                <a:latin typeface="Calibri" pitchFamily="34" charset="0"/>
                <a:ea typeface="Calibri" pitchFamily="34" charset="-122"/>
                <a:cs typeface="Calibri" pitchFamily="34" charset="-120"/>
              </a:rPr>
              <a:t>Profit Margin, Profit Status, Profit Category</a:t>
            </a:r>
            <a:endParaRPr lang="en-US" sz="900" dirty="0"/>
          </a:p>
        </p:txBody>
      </p:sp>
      <p:sp>
        <p:nvSpPr>
          <p:cNvPr id="19" name="Text 17"/>
          <p:cNvSpPr txBox="1"/>
          <p:nvPr/>
        </p:nvSpPr>
        <p:spPr>
          <a:xfrm>
            <a:off x="7086600" y="1371600"/>
            <a:ext cx="4617720" cy="274320"/>
          </a:xfrm>
          <a:prstGeom prst="rect">
            <a:avLst/>
          </a:prstGeom>
          <a:noFill/>
          <a:ln/>
        </p:spPr>
        <p:txBody>
          <a:bodyPr wrap="square" lIns="0" tIns="0" rIns="0" bIns="0" rtlCol="0" anchor="t"/>
          <a:lstStyle/>
          <a:p>
            <a:pPr marL="0" indent="0">
              <a:buNone/>
            </a:pPr>
            <a:r>
              <a:rPr lang="en-US" sz="1400" b="1" dirty="0">
                <a:solidFill>
                  <a:srgbClr val="16264A"/>
                </a:solidFill>
                <a:latin typeface="Cambria" pitchFamily="34" charset="0"/>
                <a:ea typeface="Cambria" pitchFamily="34" charset="-122"/>
                <a:cs typeface="Cambria" pitchFamily="34" charset="-120"/>
              </a:rPr>
              <a:t>Feature selection approach</a:t>
            </a:r>
            <a:endParaRPr lang="en-US" sz="1400" dirty="0"/>
          </a:p>
        </p:txBody>
      </p:sp>
      <p:sp>
        <p:nvSpPr>
          <p:cNvPr id="20" name="Text 18"/>
          <p:cNvSpPr txBox="1"/>
          <p:nvPr/>
        </p:nvSpPr>
        <p:spPr>
          <a:xfrm>
            <a:off x="7104888" y="1682496"/>
            <a:ext cx="4581144" cy="233172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Numerical screening: mean, standard deviation, variance, range and unique counts</a:t>
            </a:r>
            <a:endParaRPr lang="en-US" sz="1100" dirty="0"/>
          </a:p>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Categorical screening: unique value and missing value counts</a:t>
            </a:r>
            <a:endParaRPr lang="en-US" sz="1100" dirty="0"/>
          </a:p>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Correlation matrix over all numeric features, exported with a heatmap</a:t>
            </a:r>
            <a:endParaRPr lang="en-US" sz="1100" dirty="0"/>
          </a:p>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High-correlation pairs flagged at an absolute threshold of 0.80</a:t>
            </a:r>
            <a:endParaRPr lang="en-US" sz="1100" dirty="0"/>
          </a:p>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Constant (single-value) features identified for removal</a:t>
            </a:r>
            <a:endParaRPr lang="en-US" sz="1100" dirty="0"/>
          </a:p>
        </p:txBody>
      </p:sp>
      <p:sp>
        <p:nvSpPr>
          <p:cNvPr id="21" name="Shape 19"/>
          <p:cNvSpPr/>
          <p:nvPr/>
        </p:nvSpPr>
        <p:spPr>
          <a:xfrm>
            <a:off x="7086600" y="3913632"/>
            <a:ext cx="4617720" cy="2212848"/>
          </a:xfrm>
          <a:prstGeom prst="roundRect">
            <a:avLst>
              <a:gd name="adj" fmla="val 2479"/>
            </a:avLst>
          </a:prstGeom>
          <a:solidFill>
            <a:srgbClr val="EDF1F8"/>
          </a:solidFill>
          <a:ln w="12700">
            <a:solidFill>
              <a:srgbClr val="EDF1F8"/>
            </a:solidFill>
            <a:prstDash val="solid"/>
          </a:ln>
        </p:spPr>
      </p:sp>
      <p:sp>
        <p:nvSpPr>
          <p:cNvPr id="22" name="Text 20"/>
          <p:cNvSpPr txBox="1"/>
          <p:nvPr/>
        </p:nvSpPr>
        <p:spPr>
          <a:xfrm>
            <a:off x="7251192" y="4005072"/>
            <a:ext cx="4297680" cy="274320"/>
          </a:xfrm>
          <a:prstGeom prst="rect">
            <a:avLst/>
          </a:prstGeom>
          <a:noFill/>
          <a:ln/>
        </p:spPr>
        <p:txBody>
          <a:bodyPr wrap="square" lIns="0" tIns="0" rIns="0" bIns="0" rtlCol="0" anchor="ctr"/>
          <a:lstStyle/>
          <a:p>
            <a:pPr marL="0" indent="0">
              <a:buNone/>
            </a:pPr>
            <a:r>
              <a:rPr lang="en-US" sz="1200" b="1" dirty="0">
                <a:solidFill>
                  <a:srgbClr val="B3453C"/>
                </a:solidFill>
                <a:latin typeface="Cambria" pitchFamily="34" charset="0"/>
                <a:ea typeface="Cambria" pitchFamily="34" charset="-122"/>
                <a:cs typeface="Cambria" pitchFamily="34" charset="-120"/>
              </a:rPr>
              <a:t>Honest note on selection</a:t>
            </a:r>
            <a:endParaRPr lang="en-US" sz="1200" dirty="0"/>
          </a:p>
        </p:txBody>
      </p:sp>
      <p:sp>
        <p:nvSpPr>
          <p:cNvPr id="23" name="Text 21"/>
          <p:cNvSpPr txBox="1"/>
          <p:nvPr/>
        </p:nvSpPr>
        <p:spPr>
          <a:xfrm>
            <a:off x="7251192" y="4297680"/>
            <a:ext cx="4297680" cy="1737360"/>
          </a:xfrm>
          <a:prstGeom prst="rect">
            <a:avLst/>
          </a:prstGeom>
          <a:noFill/>
          <a:ln/>
        </p:spPr>
        <p:txBody>
          <a:bodyPr wrap="square" lIns="0" tIns="0" rIns="0" bIns="0" rtlCol="0" anchor="ctr"/>
          <a:lstStyle/>
          <a:p>
            <a:pPr marL="0" indent="0">
              <a:lnSpc>
                <a:spcPts val="1400"/>
              </a:lnSpc>
              <a:buNone/>
            </a:pPr>
            <a:r>
              <a:rPr lang="en-US" sz="1050" dirty="0">
                <a:solidFill>
                  <a:srgbClr val="1F2937"/>
                </a:solidFill>
                <a:latin typeface="Calibri" pitchFamily="34" charset="0"/>
                <a:ea typeface="Calibri" pitchFamily="34" charset="-122"/>
                <a:cs typeface="Calibri" pitchFamily="34" charset="-120"/>
              </a:rPr>
              <a:t>The selection script writes Final_Selected_Features.xlsx, but machine_learning.py does not read that file. It instead declares its own candidate predictor list and filters it against the feature-engineered dataset. Feature selection therefore functioned as an exploratory screening study rather than as an automated gate feeding the models.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66928"/>
          </a:xfrm>
          <a:prstGeom prst="rect">
            <a:avLst/>
          </a:prstGeom>
          <a:noFill/>
          <a:ln/>
        </p:spPr>
        <p:txBody>
          <a:bodyPr wrap="square" lIns="0" tIns="0" rIns="0" bIns="0" rtlCol="0" anchor="ctr"/>
          <a:lstStyle/>
          <a:p>
            <a:pPr marL="0" indent="0">
              <a:buNone/>
            </a:pPr>
            <a:r>
              <a:rPr lang="en-US" sz="3000" b="1" dirty="0">
                <a:solidFill>
                  <a:srgbClr val="16264A"/>
                </a:solidFill>
                <a:latin typeface="Cambria" pitchFamily="34" charset="0"/>
                <a:ea typeface="Cambria" pitchFamily="34" charset="-122"/>
                <a:cs typeface="Cambria" pitchFamily="34" charset="-120"/>
              </a:rPr>
              <a:t>Implementation: Machine Learning Approach</a:t>
            </a:r>
            <a:endParaRPr lang="en-US" sz="3000" dirty="0"/>
          </a:p>
        </p:txBody>
      </p:sp>
      <p:sp>
        <p:nvSpPr>
          <p:cNvPr id="3" name="Text 1"/>
          <p:cNvSpPr txBox="1"/>
          <p:nvPr/>
        </p:nvSpPr>
        <p:spPr>
          <a:xfrm>
            <a:off x="502920" y="896112"/>
            <a:ext cx="11155680" cy="329184"/>
          </a:xfrm>
          <a:prstGeom prst="rect">
            <a:avLst/>
          </a:prstGeom>
          <a:noFill/>
          <a:ln/>
        </p:spPr>
        <p:txBody>
          <a:bodyPr wrap="square" lIns="0" tIns="0" rIns="0" bIns="0" rtlCol="0" anchor="ctr"/>
          <a:lstStyle/>
          <a:p>
            <a:pPr marL="0" indent="0">
              <a:buNone/>
            </a:pPr>
            <a:r>
              <a:rPr lang="en-US" sz="1300" i="1" dirty="0">
                <a:solidFill>
                  <a:srgbClr val="667085"/>
                </a:solidFill>
                <a:latin typeface="Calibri" pitchFamily="34" charset="0"/>
                <a:ea typeface="Calibri" pitchFamily="34" charset="-122"/>
                <a:cs typeface="Calibri" pitchFamily="34" charset="-120"/>
              </a:rPr>
              <a:t>Target variable: Sales (continuous) - a regression problem</a:t>
            </a:r>
            <a:endParaRPr lang="en-US" sz="1300" dirty="0"/>
          </a:p>
        </p:txBody>
      </p:sp>
      <p:sp>
        <p:nvSpPr>
          <p:cNvPr id="4" name="Text 2"/>
          <p:cNvSpPr txBox="1"/>
          <p:nvPr/>
        </p:nvSpPr>
        <p:spPr>
          <a:xfrm>
            <a:off x="502920" y="1371600"/>
            <a:ext cx="5577840" cy="274320"/>
          </a:xfrm>
          <a:prstGeom prst="rect">
            <a:avLst/>
          </a:prstGeom>
          <a:noFill/>
          <a:ln/>
        </p:spPr>
        <p:txBody>
          <a:bodyPr wrap="square" lIns="0" tIns="0" rIns="0" bIns="0" rtlCol="0" anchor="t"/>
          <a:lstStyle/>
          <a:p>
            <a:pPr marL="0" indent="0">
              <a:buNone/>
            </a:pPr>
            <a:r>
              <a:rPr lang="en-US" sz="1400" b="1" dirty="0">
                <a:solidFill>
                  <a:srgbClr val="16264A"/>
                </a:solidFill>
                <a:latin typeface="Cambria" pitchFamily="34" charset="0"/>
                <a:ea typeface="Cambria" pitchFamily="34" charset="-122"/>
                <a:cs typeface="Cambria" pitchFamily="34" charset="-120"/>
              </a:rPr>
              <a:t>Modelling pipeline</a:t>
            </a:r>
            <a:endParaRPr lang="en-US" sz="1400" dirty="0"/>
          </a:p>
        </p:txBody>
      </p:sp>
      <p:sp>
        <p:nvSpPr>
          <p:cNvPr id="5" name="Text 3"/>
          <p:cNvSpPr txBox="1"/>
          <p:nvPr/>
        </p:nvSpPr>
        <p:spPr>
          <a:xfrm>
            <a:off x="521208" y="1682496"/>
            <a:ext cx="5541264" cy="274320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sklearn Pipeline wraps preprocessing and estimator together, so the same transform is applied at training and prediction time</a:t>
            </a:r>
            <a:endParaRPr lang="en-US" sz="1200" dirty="0"/>
          </a:p>
          <a:p>
            <a:pPr marL="342900" indent="-342900">
              <a:lnSpc>
                <a:spcPts val="1700"/>
              </a:lnSpc>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ColumnTransformer: StandardScaler on numeric columns, OneHotEncoder on categorical columns</a:t>
            </a:r>
            <a:endParaRPr lang="en-US" sz="1200" dirty="0"/>
          </a:p>
          <a:p>
            <a:pPr marL="342900" indent="-342900">
              <a:lnSpc>
                <a:spcPts val="1700"/>
              </a:lnSpc>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train_test_split with test_size = 0.20 and random_state = 42</a:t>
            </a:r>
            <a:endParaRPr lang="en-US" sz="1200" dirty="0"/>
          </a:p>
          <a:p>
            <a:pPr marL="342900" indent="-342900">
              <a:lnSpc>
                <a:spcPts val="1700"/>
              </a:lnSpc>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Four regressors trained on identical inputs: Linear Regression, Decision Tree, Random Forest, XGBoost</a:t>
            </a:r>
            <a:endParaRPr lang="en-US" sz="1200" dirty="0"/>
          </a:p>
          <a:p>
            <a:pPr marL="342900" indent="-342900">
              <a:lnSpc>
                <a:spcPts val="1700"/>
              </a:lnSpc>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Best model serialised with joblib for reuse in scenario analysis</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4315968"/>
          <a:ext cx="5577840" cy="1133856"/>
        </p:xfrm>
        <a:graphic>
          <a:graphicData uri="http://schemas.openxmlformats.org/drawingml/2006/table">
            <a:tbl>
              <a:tblPr/>
              <a:tblGrid>
                <a:gridCol w="32918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283464">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Dataset</a:t>
                      </a:r>
                      <a:endParaRPr lang="en-US" sz="115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Rows</a:t>
                      </a:r>
                      <a:endParaRPr lang="en-US" sz="115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extLst>
                  <a:ext uri="{0D108BD9-81ED-4DB2-BD59-A6C34878D82A}">
                    <a16:rowId xmlns:a16="http://schemas.microsoft.com/office/drawing/2014/main" val="10000"/>
                  </a:ext>
                </a:extLst>
              </a:tr>
              <a:tr h="283464">
                <a:tc>
                  <a:txBody>
                    <a:bodyPr/>
                    <a:lstStyle/>
                    <a:p>
                      <a:pPr marL="0" indent="0" algn="ctr">
                        <a:buNone/>
                      </a:pPr>
                      <a:r>
                        <a:rPr lang="en-US" sz="1150" dirty="0">
                          <a:solidFill>
                            <a:srgbClr val="1F2937"/>
                          </a:solidFill>
                          <a:latin typeface="Calibri" pitchFamily="34" charset="0"/>
                          <a:ea typeface="Calibri" pitchFamily="34" charset="-122"/>
                          <a:cs typeface="Calibri" pitchFamily="34" charset="-120"/>
                        </a:rPr>
                        <a:t>Complete ML dataset</a:t>
                      </a:r>
                      <a:endParaRPr lang="en-US" sz="115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150" dirty="0">
                          <a:solidFill>
                            <a:srgbClr val="1F2937"/>
                          </a:solidFill>
                          <a:latin typeface="Calibri" pitchFamily="34" charset="0"/>
                          <a:ea typeface="Calibri" pitchFamily="34" charset="-122"/>
                          <a:cs typeface="Calibri" pitchFamily="34" charset="-120"/>
                        </a:rPr>
                        <a:t>51,290</a:t>
                      </a:r>
                      <a:endParaRPr lang="en-US" sz="115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1"/>
                  </a:ext>
                </a:extLst>
              </a:tr>
              <a:tr h="283464">
                <a:tc>
                  <a:txBody>
                    <a:bodyPr/>
                    <a:lstStyle/>
                    <a:p>
                      <a:pPr marL="0" indent="0" algn="ctr">
                        <a:buNone/>
                      </a:pPr>
                      <a:r>
                        <a:rPr lang="en-US" sz="1150" dirty="0">
                          <a:solidFill>
                            <a:srgbClr val="1F2937"/>
                          </a:solidFill>
                          <a:latin typeface="Calibri" pitchFamily="34" charset="0"/>
                          <a:ea typeface="Calibri" pitchFamily="34" charset="-122"/>
                          <a:cs typeface="Calibri" pitchFamily="34" charset="-120"/>
                        </a:rPr>
                        <a:t>Training set (80%)</a:t>
                      </a:r>
                      <a:endParaRPr lang="en-US" sz="115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150" dirty="0">
                          <a:solidFill>
                            <a:srgbClr val="1F2937"/>
                          </a:solidFill>
                          <a:latin typeface="Calibri" pitchFamily="34" charset="0"/>
                          <a:ea typeface="Calibri" pitchFamily="34" charset="-122"/>
                          <a:cs typeface="Calibri" pitchFamily="34" charset="-120"/>
                        </a:rPr>
                        <a:t>41,032</a:t>
                      </a:r>
                      <a:endParaRPr lang="en-US" sz="115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2"/>
                  </a:ext>
                </a:extLst>
              </a:tr>
              <a:tr h="283464">
                <a:tc>
                  <a:txBody>
                    <a:bodyPr/>
                    <a:lstStyle/>
                    <a:p>
                      <a:pPr marL="0" indent="0" algn="ctr">
                        <a:buNone/>
                      </a:pPr>
                      <a:r>
                        <a:rPr lang="en-US" sz="1150" dirty="0">
                          <a:solidFill>
                            <a:srgbClr val="1F2937"/>
                          </a:solidFill>
                          <a:latin typeface="Calibri" pitchFamily="34" charset="0"/>
                          <a:ea typeface="Calibri" pitchFamily="34" charset="-122"/>
                          <a:cs typeface="Calibri" pitchFamily="34" charset="-120"/>
                        </a:rPr>
                        <a:t>Testing set (20%)</a:t>
                      </a:r>
                      <a:endParaRPr lang="en-US" sz="115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150" dirty="0">
                          <a:solidFill>
                            <a:srgbClr val="1F2937"/>
                          </a:solidFill>
                          <a:latin typeface="Calibri" pitchFamily="34" charset="0"/>
                          <a:ea typeface="Calibri" pitchFamily="34" charset="-122"/>
                          <a:cs typeface="Calibri" pitchFamily="34" charset="-120"/>
                        </a:rPr>
                        <a:t>10,258</a:t>
                      </a:r>
                      <a:endParaRPr lang="en-US" sz="115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txBox="1"/>
          <p:nvPr/>
        </p:nvSpPr>
        <p:spPr>
          <a:xfrm>
            <a:off x="502920" y="5486400"/>
            <a:ext cx="5577840" cy="274320"/>
          </a:xfrm>
          <a:prstGeom prst="rect">
            <a:avLst/>
          </a:prstGeom>
          <a:noFill/>
          <a:ln/>
        </p:spPr>
        <p:txBody>
          <a:bodyPr wrap="square" lIns="0" tIns="0" rIns="0" bIns="0" rtlCol="0" anchor="ctr"/>
          <a:lstStyle/>
          <a:p>
            <a:pPr marL="0" indent="0" algn="ctr">
              <a:buNone/>
            </a:pPr>
            <a:r>
              <a:rPr lang="en-US" sz="1000" i="1" dirty="0">
                <a:solidFill>
                  <a:srgbClr val="667085"/>
                </a:solidFill>
                <a:latin typeface="Calibri" pitchFamily="34" charset="0"/>
                <a:ea typeface="Calibri" pitchFamily="34" charset="-122"/>
                <a:cs typeface="Calibri" pitchFamily="34" charset="-120"/>
              </a:rPr>
              <a:t>Table 1: Train / test split (Train_Test_Split_Summary.xlsx)</a:t>
            </a:r>
            <a:endParaRPr lang="en-US" sz="1000" dirty="0"/>
          </a:p>
        </p:txBody>
      </p:sp>
      <p:sp>
        <p:nvSpPr>
          <p:cNvPr id="8" name="Text 5"/>
          <p:cNvSpPr txBox="1"/>
          <p:nvPr/>
        </p:nvSpPr>
        <p:spPr>
          <a:xfrm>
            <a:off x="6446520" y="1371600"/>
            <a:ext cx="5257800" cy="274320"/>
          </a:xfrm>
          <a:prstGeom prst="rect">
            <a:avLst/>
          </a:prstGeom>
          <a:noFill/>
          <a:ln/>
        </p:spPr>
        <p:txBody>
          <a:bodyPr wrap="square" lIns="0" tIns="0" rIns="0" bIns="0" rtlCol="0" anchor="t"/>
          <a:lstStyle/>
          <a:p>
            <a:pPr marL="0" indent="0">
              <a:buNone/>
            </a:pPr>
            <a:r>
              <a:rPr lang="en-US" sz="1400" b="1" dirty="0">
                <a:solidFill>
                  <a:srgbClr val="16264A"/>
                </a:solidFill>
                <a:latin typeface="Cambria" pitchFamily="34" charset="0"/>
                <a:ea typeface="Cambria" pitchFamily="34" charset="-122"/>
                <a:cs typeface="Cambria" pitchFamily="34" charset="-120"/>
              </a:rPr>
              <a:t>Predictor variables used (22)</a:t>
            </a:r>
            <a:endParaRPr lang="en-US" sz="1400" dirty="0"/>
          </a:p>
        </p:txBody>
      </p:sp>
      <p:sp>
        <p:nvSpPr>
          <p:cNvPr id="9" name="Text 6"/>
          <p:cNvSpPr txBox="1"/>
          <p:nvPr/>
        </p:nvSpPr>
        <p:spPr>
          <a:xfrm>
            <a:off x="6464808" y="1682496"/>
            <a:ext cx="5221224" cy="192024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Numeric: Quantity, Discount, Shipping Cost, Shipping Days, Order Year, Order Month, Order Quarter, Order Week, Order Day of Week, Is Weekend</a:t>
            </a:r>
            <a:endParaRPr lang="en-US" sz="1150" dirty="0"/>
          </a:p>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Categorical: Ship Mode, Segment, City, State, Country, Market, Region, Category, Sub-Category, Order Priority, Quantity Category, Discount Category</a:t>
            </a:r>
            <a:endParaRPr lang="en-US" sz="1150" dirty="0"/>
          </a:p>
        </p:txBody>
      </p:sp>
      <p:sp>
        <p:nvSpPr>
          <p:cNvPr id="10" name="Shape 7"/>
          <p:cNvSpPr/>
          <p:nvPr/>
        </p:nvSpPr>
        <p:spPr>
          <a:xfrm>
            <a:off x="6446520" y="3749040"/>
            <a:ext cx="5257800" cy="2377440"/>
          </a:xfrm>
          <a:prstGeom prst="roundRect">
            <a:avLst>
              <a:gd name="adj" fmla="val 2308"/>
            </a:avLst>
          </a:prstGeom>
          <a:solidFill>
            <a:srgbClr val="F4F6FA"/>
          </a:solidFill>
          <a:ln w="12700">
            <a:solidFill>
              <a:srgbClr val="F4F6FA"/>
            </a:solidFill>
            <a:prstDash val="solid"/>
          </a:ln>
        </p:spPr>
      </p:sp>
      <p:sp>
        <p:nvSpPr>
          <p:cNvPr id="6" name="Text 8"/>
          <p:cNvSpPr txBox="1"/>
          <p:nvPr/>
        </p:nvSpPr>
        <p:spPr>
          <a:xfrm>
            <a:off x="6611112" y="3840480"/>
            <a:ext cx="4937760" cy="274320"/>
          </a:xfrm>
          <a:prstGeom prst="rect">
            <a:avLst/>
          </a:prstGeom>
          <a:noFill/>
          <a:ln/>
        </p:spPr>
        <p:txBody>
          <a:bodyPr wrap="square" lIns="0" tIns="0" rIns="0" bIns="0" rtlCol="0" anchor="ctr"/>
          <a:lstStyle/>
          <a:p>
            <a:pPr marL="0" indent="0">
              <a:buNone/>
            </a:pPr>
            <a:r>
              <a:rPr lang="en-US" sz="1250" b="1" dirty="0">
                <a:solidFill>
                  <a:srgbClr val="16264A"/>
                </a:solidFill>
                <a:latin typeface="Cambria" pitchFamily="34" charset="0"/>
                <a:ea typeface="Cambria" pitchFamily="34" charset="-122"/>
                <a:cs typeface="Cambria" pitchFamily="34" charset="-120"/>
              </a:rPr>
              <a:t>Evaluation metrics</a:t>
            </a:r>
            <a:endParaRPr lang="en-US" sz="1250" dirty="0"/>
          </a:p>
        </p:txBody>
      </p:sp>
      <p:sp>
        <p:nvSpPr>
          <p:cNvPr id="12" name="Text 9"/>
          <p:cNvSpPr txBox="1"/>
          <p:nvPr/>
        </p:nvSpPr>
        <p:spPr>
          <a:xfrm>
            <a:off x="6611112" y="4133088"/>
            <a:ext cx="4937760" cy="182880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050" dirty="0">
                <a:solidFill>
                  <a:srgbClr val="1F2937"/>
                </a:solidFill>
                <a:latin typeface="Calibri" pitchFamily="34" charset="0"/>
                <a:ea typeface="Calibri" pitchFamily="34" charset="-122"/>
                <a:cs typeface="Calibri" pitchFamily="34" charset="-120"/>
              </a:rPr>
              <a:t>MAE - mean absolute error, average size of the error in currency units</a:t>
            </a:r>
            <a:endParaRPr lang="en-US" sz="1050" dirty="0"/>
          </a:p>
          <a:p>
            <a:pPr marL="342900" indent="-342900">
              <a:lnSpc>
                <a:spcPts val="1700"/>
              </a:lnSpc>
              <a:spcAft>
                <a:spcPts val="700"/>
              </a:spcAft>
              <a:buSzPct val="100000"/>
              <a:buChar char="•"/>
            </a:pPr>
            <a:r>
              <a:rPr lang="en-US" sz="1050" dirty="0">
                <a:solidFill>
                  <a:srgbClr val="1F2937"/>
                </a:solidFill>
                <a:latin typeface="Calibri" pitchFamily="34" charset="0"/>
                <a:ea typeface="Calibri" pitchFamily="34" charset="-122"/>
                <a:cs typeface="Calibri" pitchFamily="34" charset="-120"/>
              </a:rPr>
              <a:t>RMSE - root mean squared error, penalises large errors more heavily</a:t>
            </a:r>
            <a:endParaRPr lang="en-US" sz="1050" dirty="0"/>
          </a:p>
          <a:p>
            <a:pPr marL="342900" indent="-342900">
              <a:lnSpc>
                <a:spcPts val="1700"/>
              </a:lnSpc>
              <a:spcAft>
                <a:spcPts val="700"/>
              </a:spcAft>
              <a:buSzPct val="100000"/>
              <a:buChar char="•"/>
            </a:pPr>
            <a:r>
              <a:rPr lang="en-US" sz="1050" dirty="0">
                <a:solidFill>
                  <a:srgbClr val="1F2937"/>
                </a:solidFill>
                <a:latin typeface="Calibri" pitchFamily="34" charset="0"/>
                <a:ea typeface="Calibri" pitchFamily="34" charset="-122"/>
                <a:cs typeface="Calibri" pitchFamily="34" charset="-120"/>
              </a:rPr>
              <a:t>R squared - proportion of variance in Sales explained by the model</a:t>
            </a:r>
            <a:endParaRPr lang="en-US" sz="1050" dirty="0"/>
          </a:p>
          <a:p>
            <a:pPr marL="342900" indent="-342900">
              <a:lnSpc>
                <a:spcPts val="1700"/>
              </a:lnSpc>
              <a:spcAft>
                <a:spcPts val="700"/>
              </a:spcAft>
              <a:buSzPct val="100000"/>
              <a:buChar char="•"/>
            </a:pPr>
            <a:r>
              <a:rPr lang="en-US" sz="1050" dirty="0">
                <a:solidFill>
                  <a:srgbClr val="1F2937"/>
                </a:solidFill>
                <a:latin typeface="Calibri" pitchFamily="34" charset="0"/>
                <a:ea typeface="Calibri" pitchFamily="34" charset="-122"/>
                <a:cs typeface="Calibri" pitchFamily="34" charset="-120"/>
              </a:rPr>
              <a:t>Accuracy is deliberately not reported: it is a classification metric and does not apply to this regression task</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66928"/>
          </a:xfrm>
          <a:prstGeom prst="rect">
            <a:avLst/>
          </a:prstGeom>
          <a:noFill/>
          <a:ln/>
        </p:spPr>
        <p:txBody>
          <a:bodyPr wrap="square" lIns="0" tIns="0" rIns="0" bIns="0" rtlCol="0" anchor="ctr"/>
          <a:lstStyle/>
          <a:p>
            <a:pPr marL="0" indent="0">
              <a:buNone/>
            </a:pPr>
            <a:r>
              <a:rPr lang="en-US" sz="3000" b="1" dirty="0">
                <a:solidFill>
                  <a:srgbClr val="16264A"/>
                </a:solidFill>
                <a:latin typeface="Cambria" pitchFamily="34" charset="0"/>
                <a:ea typeface="Cambria" pitchFamily="34" charset="-122"/>
                <a:cs typeface="Cambria" pitchFamily="34" charset="-120"/>
              </a:rPr>
              <a:t>Results: Model Comparison</a:t>
            </a:r>
            <a:endParaRPr lang="en-US" sz="3000" dirty="0"/>
          </a:p>
        </p:txBody>
      </p:sp>
      <p:sp>
        <p:nvSpPr>
          <p:cNvPr id="3" name="Text 1"/>
          <p:cNvSpPr txBox="1"/>
          <p:nvPr/>
        </p:nvSpPr>
        <p:spPr>
          <a:xfrm>
            <a:off x="502920" y="896112"/>
            <a:ext cx="11155680" cy="329184"/>
          </a:xfrm>
          <a:prstGeom prst="rect">
            <a:avLst/>
          </a:prstGeom>
          <a:noFill/>
          <a:ln/>
        </p:spPr>
        <p:txBody>
          <a:bodyPr wrap="square" lIns="0" tIns="0" rIns="0" bIns="0" rtlCol="0" anchor="ctr"/>
          <a:lstStyle/>
          <a:p>
            <a:pPr marL="0" indent="0">
              <a:buNone/>
            </a:pPr>
            <a:r>
              <a:rPr lang="en-US" sz="1300" i="1" dirty="0">
                <a:solidFill>
                  <a:srgbClr val="667085"/>
                </a:solidFill>
                <a:latin typeface="Calibri" pitchFamily="34" charset="0"/>
                <a:ea typeface="Calibri" pitchFamily="34" charset="-122"/>
                <a:cs typeface="Calibri" pitchFamily="34" charset="-120"/>
              </a:rPr>
              <a:t>Metrics computed on the 10,258-row held-out test set</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6035040" cy="1920240"/>
        </p:xfrm>
        <a:graphic>
          <a:graphicData uri="http://schemas.openxmlformats.org/drawingml/2006/table">
            <a:tbl>
              <a:tblPr/>
              <a:tblGrid>
                <a:gridCol w="21945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384048">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MAE</a:t>
                      </a:r>
                      <a:endParaRPr lang="en-US" sz="12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RMSE</a:t>
                      </a:r>
                      <a:endParaRPr lang="en-US" sz="12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 squared</a:t>
                      </a:r>
                      <a:endParaRPr lang="en-US" sz="12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extLst>
                  <a:ext uri="{0D108BD9-81ED-4DB2-BD59-A6C34878D82A}">
                    <a16:rowId xmlns:a16="http://schemas.microsoft.com/office/drawing/2014/main" val="10000"/>
                  </a:ext>
                </a:extLst>
              </a:tr>
              <a:tr h="384048">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Linear Regression</a:t>
                      </a:r>
                      <a:endParaRPr lang="en-US" sz="12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78.7126</a:t>
                      </a:r>
                      <a:endParaRPr lang="en-US" sz="12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108.0159</a:t>
                      </a:r>
                      <a:endParaRPr lang="en-US" sz="12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0.6830</a:t>
                      </a:r>
                      <a:endParaRPr lang="en-US" sz="12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Decision Tree</a:t>
                      </a:r>
                      <a:endParaRPr lang="en-US" sz="12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36.8939</a:t>
                      </a:r>
                      <a:endParaRPr lang="en-US" sz="12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69.6571</a:t>
                      </a:r>
                      <a:endParaRPr lang="en-US" sz="12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0.8682</a:t>
                      </a:r>
                      <a:endParaRPr lang="en-US" sz="12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34.3853</a:t>
                      </a:r>
                      <a:endParaRPr lang="en-US" sz="12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63.5656</a:t>
                      </a:r>
                      <a:endParaRPr lang="en-US" sz="12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0.8902</a:t>
                      </a:r>
                      <a:endParaRPr lang="en-US" sz="12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ctr">
                        <a:buNone/>
                      </a:pPr>
                      <a:r>
                        <a:rPr lang="en-US" sz="1200" b="1" dirty="0">
                          <a:solidFill>
                            <a:srgbClr val="1F2937"/>
                          </a:solidFill>
                          <a:latin typeface="Calibri" pitchFamily="34" charset="0"/>
                          <a:ea typeface="Calibri" pitchFamily="34" charset="-122"/>
                          <a:cs typeface="Calibri" pitchFamily="34" charset="-120"/>
                        </a:rPr>
                        <a:t>XGBoost</a:t>
                      </a:r>
                      <a:endParaRPr lang="en-US" sz="12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3EDDF"/>
                    </a:solidFill>
                  </a:tcPr>
                </a:tc>
                <a:tc>
                  <a:txBody>
                    <a:bodyPr/>
                    <a:lstStyle/>
                    <a:p>
                      <a:pPr marL="0" indent="0" algn="ctr">
                        <a:buNone/>
                      </a:pPr>
                      <a:r>
                        <a:rPr lang="en-US" sz="1200" b="1" dirty="0">
                          <a:solidFill>
                            <a:srgbClr val="1F2937"/>
                          </a:solidFill>
                          <a:latin typeface="Calibri" pitchFamily="34" charset="0"/>
                          <a:ea typeface="Calibri" pitchFamily="34" charset="-122"/>
                          <a:cs typeface="Calibri" pitchFamily="34" charset="-120"/>
                        </a:rPr>
                        <a:t>32.8537</a:t>
                      </a:r>
                      <a:endParaRPr lang="en-US" sz="12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3EDDF"/>
                    </a:solidFill>
                  </a:tcPr>
                </a:tc>
                <a:tc>
                  <a:txBody>
                    <a:bodyPr/>
                    <a:lstStyle/>
                    <a:p>
                      <a:pPr marL="0" indent="0" algn="ctr">
                        <a:buNone/>
                      </a:pPr>
                      <a:r>
                        <a:rPr lang="en-US" sz="1200" b="1" dirty="0">
                          <a:solidFill>
                            <a:srgbClr val="1F2937"/>
                          </a:solidFill>
                          <a:latin typeface="Calibri" pitchFamily="34" charset="0"/>
                          <a:ea typeface="Calibri" pitchFamily="34" charset="-122"/>
                          <a:cs typeface="Calibri" pitchFamily="34" charset="-120"/>
                        </a:rPr>
                        <a:t>57.0368</a:t>
                      </a:r>
                      <a:endParaRPr lang="en-US" sz="12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3EDDF"/>
                    </a:solidFill>
                  </a:tcPr>
                </a:tc>
                <a:tc>
                  <a:txBody>
                    <a:bodyPr/>
                    <a:lstStyle/>
                    <a:p>
                      <a:pPr marL="0" indent="0" algn="ctr">
                        <a:buNone/>
                      </a:pPr>
                      <a:r>
                        <a:rPr lang="en-US" sz="1200" b="1" dirty="0">
                          <a:solidFill>
                            <a:srgbClr val="1F2937"/>
                          </a:solidFill>
                          <a:latin typeface="Calibri" pitchFamily="34" charset="0"/>
                          <a:ea typeface="Calibri" pitchFamily="34" charset="-122"/>
                          <a:cs typeface="Calibri" pitchFamily="34" charset="-120"/>
                        </a:rPr>
                        <a:t>0.9116</a:t>
                      </a:r>
                      <a:endParaRPr lang="en-US" sz="12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3EDDF"/>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502920" y="3703320"/>
            <a:ext cx="6035040" cy="274320"/>
          </a:xfrm>
          <a:prstGeom prst="rect">
            <a:avLst/>
          </a:prstGeom>
          <a:noFill/>
          <a:ln/>
        </p:spPr>
        <p:txBody>
          <a:bodyPr wrap="square" lIns="0" tIns="0" rIns="0" bIns="0" rtlCol="0" anchor="ctr"/>
          <a:lstStyle/>
          <a:p>
            <a:pPr marL="0" indent="0" algn="ctr">
              <a:buNone/>
            </a:pPr>
            <a:r>
              <a:rPr lang="en-US" sz="1000" i="1" dirty="0">
                <a:solidFill>
                  <a:srgbClr val="667085"/>
                </a:solidFill>
                <a:latin typeface="Calibri" pitchFamily="34" charset="0"/>
                <a:ea typeface="Calibri" pitchFamily="34" charset="-122"/>
                <a:cs typeface="Calibri" pitchFamily="34" charset="-120"/>
              </a:rPr>
              <a:t>Table 2: Model comparison, exact values from Model_Comparison.xlsx</a:t>
            </a:r>
            <a:endParaRPr lang="en-US" sz="1000" dirty="0"/>
          </a:p>
        </p:txBody>
      </p:sp>
      <p:pic>
        <p:nvPicPr>
          <p:cNvPr id="6" name="Image 0" descr="/home/claude/work/build/img/Model_Comparison_R2.png"/>
          <p:cNvPicPr>
            <a:picLocks noChangeAspect="1"/>
          </p:cNvPicPr>
          <p:nvPr/>
        </p:nvPicPr>
        <p:blipFill>
          <a:blip r:embed="rId3"/>
          <a:stretch>
            <a:fillRect/>
          </a:stretch>
        </p:blipFill>
        <p:spPr>
          <a:xfrm>
            <a:off x="6812280" y="1371600"/>
            <a:ext cx="4892040" cy="2743200"/>
          </a:xfrm>
          <a:prstGeom prst="rect">
            <a:avLst/>
          </a:prstGeom>
        </p:spPr>
      </p:pic>
      <p:sp>
        <p:nvSpPr>
          <p:cNvPr id="7" name="Text 3"/>
          <p:cNvSpPr txBox="1"/>
          <p:nvPr/>
        </p:nvSpPr>
        <p:spPr>
          <a:xfrm>
            <a:off x="6812280" y="4142232"/>
            <a:ext cx="4892040" cy="274320"/>
          </a:xfrm>
          <a:prstGeom prst="rect">
            <a:avLst/>
          </a:prstGeom>
          <a:noFill/>
          <a:ln/>
        </p:spPr>
        <p:txBody>
          <a:bodyPr wrap="square" lIns="0" tIns="0" rIns="0" bIns="0" rtlCol="0" anchor="ctr"/>
          <a:lstStyle/>
          <a:p>
            <a:pPr marL="0" indent="0" algn="ctr">
              <a:buNone/>
            </a:pPr>
            <a:r>
              <a:rPr lang="en-US" sz="1000" i="1" dirty="0">
                <a:solidFill>
                  <a:srgbClr val="667085"/>
                </a:solidFill>
                <a:latin typeface="Calibri" pitchFamily="34" charset="0"/>
                <a:ea typeface="Calibri" pitchFamily="34" charset="-122"/>
                <a:cs typeface="Calibri" pitchFamily="34" charset="-120"/>
              </a:rPr>
              <a:t>Figure 3: R squared by model (06_Model_Comparison)</a:t>
            </a:r>
            <a:endParaRPr lang="en-US" sz="1000" dirty="0"/>
          </a:p>
        </p:txBody>
      </p:sp>
      <p:sp>
        <p:nvSpPr>
          <p:cNvPr id="8" name="Text 4"/>
          <p:cNvSpPr txBox="1"/>
          <p:nvPr/>
        </p:nvSpPr>
        <p:spPr>
          <a:xfrm>
            <a:off x="502920" y="4114800"/>
            <a:ext cx="6035040" cy="274320"/>
          </a:xfrm>
          <a:prstGeom prst="rect">
            <a:avLst/>
          </a:prstGeom>
          <a:noFill/>
          <a:ln/>
        </p:spPr>
        <p:txBody>
          <a:bodyPr wrap="square" lIns="0" tIns="0" rIns="0" bIns="0" rtlCol="0" anchor="t"/>
          <a:lstStyle/>
          <a:p>
            <a:pPr marL="0" indent="0">
              <a:buNone/>
            </a:pPr>
            <a:r>
              <a:rPr lang="en-US" sz="1400" b="1" dirty="0">
                <a:solidFill>
                  <a:srgbClr val="16264A"/>
                </a:solidFill>
                <a:latin typeface="Cambria" pitchFamily="34" charset="0"/>
                <a:ea typeface="Cambria" pitchFamily="34" charset="-122"/>
                <a:cs typeface="Cambria" pitchFamily="34" charset="-120"/>
              </a:rPr>
              <a:t>Reading the table</a:t>
            </a:r>
            <a:endParaRPr lang="en-US" sz="1400" dirty="0"/>
          </a:p>
        </p:txBody>
      </p:sp>
      <p:sp>
        <p:nvSpPr>
          <p:cNvPr id="9" name="Text 5"/>
          <p:cNvSpPr txBox="1"/>
          <p:nvPr/>
        </p:nvSpPr>
        <p:spPr>
          <a:xfrm>
            <a:off x="521208" y="4425696"/>
            <a:ext cx="5998464" cy="173736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XGBoost is best on all three metrics simultaneously - no metric disagreement</a:t>
            </a:r>
            <a:endParaRPr lang="en-US" sz="1150" dirty="0"/>
          </a:p>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Moving from Linear Regression to XGBoost cuts MAE by about 58% and RMSE by about 47%</a:t>
            </a:r>
            <a:endParaRPr lang="en-US" sz="1150" dirty="0"/>
          </a:p>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The gap between Linear Regression and the tree ensembles indicates meaningful non-linearity in the relationship between the predictors and Sales</a:t>
            </a:r>
            <a:endParaRPr lang="en-US" sz="1150" dirty="0"/>
          </a:p>
        </p:txBody>
      </p:sp>
      <p:sp>
        <p:nvSpPr>
          <p:cNvPr id="10" name="Text 6"/>
          <p:cNvSpPr txBox="1"/>
          <p:nvPr/>
        </p:nvSpPr>
        <p:spPr>
          <a:xfrm>
            <a:off x="502920" y="5989320"/>
            <a:ext cx="11155680" cy="310896"/>
          </a:xfrm>
          <a:prstGeom prst="rect">
            <a:avLst/>
          </a:prstGeom>
          <a:noFill/>
          <a:ln/>
        </p:spPr>
        <p:txBody>
          <a:bodyPr wrap="square" lIns="0" tIns="0" rIns="0" bIns="0" rtlCol="0" anchor="ctr"/>
          <a:lstStyle/>
          <a:p>
            <a:pPr marL="0" indent="0">
              <a:buNone/>
            </a:pPr>
            <a:r>
              <a:rPr lang="en-US" sz="1050" i="1" dirty="0">
                <a:solidFill>
                  <a:srgbClr val="667085"/>
                </a:solidFill>
                <a:latin typeface="Calibri" pitchFamily="34" charset="0"/>
                <a:ea typeface="Calibri" pitchFamily="34" charset="-122"/>
                <a:cs typeface="Calibri" pitchFamily="34" charset="-120"/>
              </a:rPr>
              <a:t>Final_Model_Summary.xlsx independently records the same XGBoost figures: MAE 32.8537, RMSE 57.0368, R squared 0.9116.</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66928"/>
          </a:xfrm>
          <a:prstGeom prst="rect">
            <a:avLst/>
          </a:prstGeom>
          <a:noFill/>
          <a:ln/>
        </p:spPr>
        <p:txBody>
          <a:bodyPr wrap="square" lIns="0" tIns="0" rIns="0" bIns="0" rtlCol="0" anchor="ctr"/>
          <a:lstStyle/>
          <a:p>
            <a:pPr marL="0" indent="0">
              <a:buNone/>
            </a:pPr>
            <a:r>
              <a:rPr lang="en-US" sz="3000" b="1" dirty="0">
                <a:solidFill>
                  <a:srgbClr val="16264A"/>
                </a:solidFill>
                <a:latin typeface="Cambria" pitchFamily="34" charset="0"/>
                <a:ea typeface="Cambria" pitchFamily="34" charset="-122"/>
                <a:cs typeface="Cambria" pitchFamily="34" charset="-120"/>
              </a:rPr>
              <a:t>Results: Final Model (XGBoost)</a:t>
            </a:r>
            <a:endParaRPr lang="en-US" sz="3000" dirty="0"/>
          </a:p>
        </p:txBody>
      </p:sp>
      <p:sp>
        <p:nvSpPr>
          <p:cNvPr id="3" name="Text 1"/>
          <p:cNvSpPr txBox="1"/>
          <p:nvPr/>
        </p:nvSpPr>
        <p:spPr>
          <a:xfrm>
            <a:off x="502920" y="896112"/>
            <a:ext cx="11155680" cy="329184"/>
          </a:xfrm>
          <a:prstGeom prst="rect">
            <a:avLst/>
          </a:prstGeom>
          <a:noFill/>
          <a:ln/>
        </p:spPr>
        <p:txBody>
          <a:bodyPr wrap="square" lIns="0" tIns="0" rIns="0" bIns="0" rtlCol="0" anchor="ctr"/>
          <a:lstStyle/>
          <a:p>
            <a:pPr marL="0" indent="0">
              <a:buNone/>
            </a:pPr>
            <a:r>
              <a:rPr lang="en-US" sz="1300" i="1" dirty="0">
                <a:solidFill>
                  <a:srgbClr val="667085"/>
                </a:solidFill>
                <a:latin typeface="Calibri" pitchFamily="34" charset="0"/>
                <a:ea typeface="Calibri" pitchFamily="34" charset="-122"/>
                <a:cs typeface="Calibri" pitchFamily="34" charset="-120"/>
              </a:rPr>
              <a:t>Persisted as Final_XGBoost_Sales_Model.pkl and reused by both scenario scripts</a:t>
            </a:r>
            <a:endParaRPr lang="en-US" sz="1300" dirty="0"/>
          </a:p>
        </p:txBody>
      </p:sp>
      <p:pic>
        <p:nvPicPr>
          <p:cNvPr id="4" name="Image 0" descr="/home/claude/work/build/img/XGBoost_Actual_vs_Predicted.png"/>
          <p:cNvPicPr>
            <a:picLocks noChangeAspect="1"/>
          </p:cNvPicPr>
          <p:nvPr/>
        </p:nvPicPr>
        <p:blipFill>
          <a:blip r:embed="rId3"/>
          <a:stretch>
            <a:fillRect/>
          </a:stretch>
        </p:blipFill>
        <p:spPr>
          <a:xfrm>
            <a:off x="502920" y="1371600"/>
            <a:ext cx="5760720" cy="3566160"/>
          </a:xfrm>
          <a:prstGeom prst="rect">
            <a:avLst/>
          </a:prstGeom>
        </p:spPr>
      </p:pic>
      <p:sp>
        <p:nvSpPr>
          <p:cNvPr id="5" name="Text 2"/>
          <p:cNvSpPr txBox="1"/>
          <p:nvPr/>
        </p:nvSpPr>
        <p:spPr>
          <a:xfrm>
            <a:off x="502920" y="4965192"/>
            <a:ext cx="5760720" cy="274320"/>
          </a:xfrm>
          <a:prstGeom prst="rect">
            <a:avLst/>
          </a:prstGeom>
          <a:noFill/>
          <a:ln/>
        </p:spPr>
        <p:txBody>
          <a:bodyPr wrap="square" lIns="0" tIns="0" rIns="0" bIns="0" rtlCol="0" anchor="ctr"/>
          <a:lstStyle/>
          <a:p>
            <a:pPr marL="0" indent="0" algn="ctr">
              <a:buNone/>
            </a:pPr>
            <a:r>
              <a:rPr lang="en-US" sz="1000" i="1" dirty="0">
                <a:solidFill>
                  <a:srgbClr val="667085"/>
                </a:solidFill>
                <a:latin typeface="Calibri" pitchFamily="34" charset="0"/>
                <a:ea typeface="Calibri" pitchFamily="34" charset="-122"/>
                <a:cs typeface="Calibri" pitchFamily="34" charset="-120"/>
              </a:rPr>
              <a:t>Figure 4: Actual versus predicted sales, XGBoost test set (05_XGBoost)</a:t>
            </a:r>
            <a:endParaRPr lang="en-US" sz="1000" dirty="0"/>
          </a:p>
        </p:txBody>
      </p:sp>
      <p:sp>
        <p:nvSpPr>
          <p:cNvPr id="6" name="Shape 3"/>
          <p:cNvSpPr/>
          <p:nvPr/>
        </p:nvSpPr>
        <p:spPr>
          <a:xfrm>
            <a:off x="6583680" y="1371600"/>
            <a:ext cx="1636776" cy="1024128"/>
          </a:xfrm>
          <a:prstGeom prst="roundRect">
            <a:avLst>
              <a:gd name="adj" fmla="val 5357"/>
            </a:avLst>
          </a:prstGeom>
          <a:solidFill>
            <a:srgbClr val="F4F6FA"/>
          </a:solidFill>
          <a:ln w="12700">
            <a:solidFill>
              <a:srgbClr val="F4F6FA"/>
            </a:solidFill>
            <a:prstDash val="solid"/>
          </a:ln>
        </p:spPr>
      </p:sp>
      <p:sp>
        <p:nvSpPr>
          <p:cNvPr id="7" name="Text 4"/>
          <p:cNvSpPr txBox="1"/>
          <p:nvPr/>
        </p:nvSpPr>
        <p:spPr>
          <a:xfrm>
            <a:off x="6583680" y="1472184"/>
            <a:ext cx="1636776" cy="457200"/>
          </a:xfrm>
          <a:prstGeom prst="rect">
            <a:avLst/>
          </a:prstGeom>
          <a:noFill/>
          <a:ln/>
        </p:spPr>
        <p:txBody>
          <a:bodyPr wrap="square" lIns="0" tIns="0" rIns="0" bIns="0" rtlCol="0" anchor="ctr"/>
          <a:lstStyle/>
          <a:p>
            <a:pPr marL="0" indent="0" algn="ctr">
              <a:buNone/>
            </a:pPr>
            <a:r>
              <a:rPr lang="en-US" sz="2500" b="1" dirty="0">
                <a:solidFill>
                  <a:srgbClr val="16264A"/>
                </a:solidFill>
                <a:latin typeface="Cambria" pitchFamily="34" charset="0"/>
                <a:ea typeface="Cambria" pitchFamily="34" charset="-122"/>
                <a:cs typeface="Cambria" pitchFamily="34" charset="-120"/>
              </a:rPr>
              <a:t>32.85</a:t>
            </a:r>
            <a:endParaRPr lang="en-US" sz="2500" dirty="0"/>
          </a:p>
        </p:txBody>
      </p:sp>
      <p:sp>
        <p:nvSpPr>
          <p:cNvPr id="8" name="Text 5"/>
          <p:cNvSpPr txBox="1"/>
          <p:nvPr/>
        </p:nvSpPr>
        <p:spPr>
          <a:xfrm>
            <a:off x="6583680" y="1975104"/>
            <a:ext cx="1636776" cy="310896"/>
          </a:xfrm>
          <a:prstGeom prst="rect">
            <a:avLst/>
          </a:prstGeom>
          <a:noFill/>
          <a:ln/>
        </p:spPr>
        <p:txBody>
          <a:bodyPr wrap="square" lIns="0" tIns="0" rIns="0" bIns="0" rtlCol="0" anchor="ctr"/>
          <a:lstStyle/>
          <a:p>
            <a:pPr marL="0" indent="0" algn="ctr">
              <a:buNone/>
            </a:pPr>
            <a:r>
              <a:rPr lang="en-US" sz="1050" dirty="0">
                <a:solidFill>
                  <a:srgbClr val="667085"/>
                </a:solidFill>
                <a:latin typeface="Calibri" pitchFamily="34" charset="0"/>
                <a:ea typeface="Calibri" pitchFamily="34" charset="-122"/>
                <a:cs typeface="Calibri" pitchFamily="34" charset="-120"/>
              </a:rPr>
              <a:t>MAE</a:t>
            </a:r>
            <a:endParaRPr lang="en-US" sz="1050" dirty="0"/>
          </a:p>
        </p:txBody>
      </p:sp>
      <p:sp>
        <p:nvSpPr>
          <p:cNvPr id="9" name="Shape 6"/>
          <p:cNvSpPr/>
          <p:nvPr/>
        </p:nvSpPr>
        <p:spPr>
          <a:xfrm>
            <a:off x="8330184" y="1371600"/>
            <a:ext cx="1636776" cy="1024128"/>
          </a:xfrm>
          <a:prstGeom prst="roundRect">
            <a:avLst>
              <a:gd name="adj" fmla="val 5357"/>
            </a:avLst>
          </a:prstGeom>
          <a:solidFill>
            <a:srgbClr val="F4F6FA"/>
          </a:solidFill>
          <a:ln w="12700">
            <a:solidFill>
              <a:srgbClr val="F4F6FA"/>
            </a:solidFill>
            <a:prstDash val="solid"/>
          </a:ln>
        </p:spPr>
      </p:sp>
      <p:sp>
        <p:nvSpPr>
          <p:cNvPr id="10" name="Text 7"/>
          <p:cNvSpPr txBox="1"/>
          <p:nvPr/>
        </p:nvSpPr>
        <p:spPr>
          <a:xfrm>
            <a:off x="8330184" y="1472184"/>
            <a:ext cx="1636776" cy="457200"/>
          </a:xfrm>
          <a:prstGeom prst="rect">
            <a:avLst/>
          </a:prstGeom>
          <a:noFill/>
          <a:ln/>
        </p:spPr>
        <p:txBody>
          <a:bodyPr wrap="square" lIns="0" tIns="0" rIns="0" bIns="0" rtlCol="0" anchor="ctr"/>
          <a:lstStyle/>
          <a:p>
            <a:pPr marL="0" indent="0" algn="ctr">
              <a:buNone/>
            </a:pPr>
            <a:r>
              <a:rPr lang="en-US" sz="2500" b="1" dirty="0">
                <a:solidFill>
                  <a:srgbClr val="16264A"/>
                </a:solidFill>
                <a:latin typeface="Cambria" pitchFamily="34" charset="0"/>
                <a:ea typeface="Cambria" pitchFamily="34" charset="-122"/>
                <a:cs typeface="Cambria" pitchFamily="34" charset="-120"/>
              </a:rPr>
              <a:t>57.04</a:t>
            </a:r>
            <a:endParaRPr lang="en-US" sz="2500" dirty="0"/>
          </a:p>
        </p:txBody>
      </p:sp>
      <p:sp>
        <p:nvSpPr>
          <p:cNvPr id="11" name="Text 8"/>
          <p:cNvSpPr txBox="1"/>
          <p:nvPr/>
        </p:nvSpPr>
        <p:spPr>
          <a:xfrm>
            <a:off x="8330184" y="1975104"/>
            <a:ext cx="1636776" cy="310896"/>
          </a:xfrm>
          <a:prstGeom prst="rect">
            <a:avLst/>
          </a:prstGeom>
          <a:noFill/>
          <a:ln/>
        </p:spPr>
        <p:txBody>
          <a:bodyPr wrap="square" lIns="0" tIns="0" rIns="0" bIns="0" rtlCol="0" anchor="ctr"/>
          <a:lstStyle/>
          <a:p>
            <a:pPr marL="0" indent="0" algn="ctr">
              <a:buNone/>
            </a:pPr>
            <a:r>
              <a:rPr lang="en-US" sz="1050" dirty="0">
                <a:solidFill>
                  <a:srgbClr val="667085"/>
                </a:solidFill>
                <a:latin typeface="Calibri" pitchFamily="34" charset="0"/>
                <a:ea typeface="Calibri" pitchFamily="34" charset="-122"/>
                <a:cs typeface="Calibri" pitchFamily="34" charset="-120"/>
              </a:rPr>
              <a:t>RMSE</a:t>
            </a:r>
            <a:endParaRPr lang="en-US" sz="1050" dirty="0"/>
          </a:p>
        </p:txBody>
      </p:sp>
      <p:sp>
        <p:nvSpPr>
          <p:cNvPr id="12" name="Shape 9"/>
          <p:cNvSpPr/>
          <p:nvPr/>
        </p:nvSpPr>
        <p:spPr>
          <a:xfrm>
            <a:off x="10076688" y="1371600"/>
            <a:ext cx="1627632" cy="1024128"/>
          </a:xfrm>
          <a:prstGeom prst="roundRect">
            <a:avLst>
              <a:gd name="adj" fmla="val 5357"/>
            </a:avLst>
          </a:prstGeom>
          <a:solidFill>
            <a:srgbClr val="F4F6FA"/>
          </a:solidFill>
          <a:ln w="12700">
            <a:solidFill>
              <a:srgbClr val="F4F6FA"/>
            </a:solidFill>
            <a:prstDash val="solid"/>
          </a:ln>
        </p:spPr>
      </p:sp>
      <p:sp>
        <p:nvSpPr>
          <p:cNvPr id="13" name="Text 10"/>
          <p:cNvSpPr txBox="1"/>
          <p:nvPr/>
        </p:nvSpPr>
        <p:spPr>
          <a:xfrm>
            <a:off x="10076688" y="1472184"/>
            <a:ext cx="1627632" cy="457200"/>
          </a:xfrm>
          <a:prstGeom prst="rect">
            <a:avLst/>
          </a:prstGeom>
          <a:noFill/>
          <a:ln/>
        </p:spPr>
        <p:txBody>
          <a:bodyPr wrap="square" lIns="0" tIns="0" rIns="0" bIns="0" rtlCol="0" anchor="ctr"/>
          <a:lstStyle/>
          <a:p>
            <a:pPr marL="0" indent="0" algn="ctr">
              <a:buNone/>
            </a:pPr>
            <a:r>
              <a:rPr lang="en-US" sz="2500" b="1" dirty="0">
                <a:solidFill>
                  <a:srgbClr val="2C7A5B"/>
                </a:solidFill>
                <a:latin typeface="Cambria" pitchFamily="34" charset="0"/>
                <a:ea typeface="Cambria" pitchFamily="34" charset="-122"/>
                <a:cs typeface="Cambria" pitchFamily="34" charset="-120"/>
              </a:rPr>
              <a:t>0.9116</a:t>
            </a:r>
            <a:endParaRPr lang="en-US" sz="2500" dirty="0"/>
          </a:p>
        </p:txBody>
      </p:sp>
      <p:sp>
        <p:nvSpPr>
          <p:cNvPr id="14" name="Text 11"/>
          <p:cNvSpPr txBox="1"/>
          <p:nvPr/>
        </p:nvSpPr>
        <p:spPr>
          <a:xfrm>
            <a:off x="10076688" y="1975104"/>
            <a:ext cx="1627632" cy="310896"/>
          </a:xfrm>
          <a:prstGeom prst="rect">
            <a:avLst/>
          </a:prstGeom>
          <a:noFill/>
          <a:ln/>
        </p:spPr>
        <p:txBody>
          <a:bodyPr wrap="square" lIns="0" tIns="0" rIns="0" bIns="0" rtlCol="0" anchor="ctr"/>
          <a:lstStyle/>
          <a:p>
            <a:pPr marL="0" indent="0" algn="ctr">
              <a:buNone/>
            </a:pPr>
            <a:r>
              <a:rPr lang="en-US" sz="1050" dirty="0">
                <a:solidFill>
                  <a:srgbClr val="667085"/>
                </a:solidFill>
                <a:latin typeface="Calibri" pitchFamily="34" charset="0"/>
                <a:ea typeface="Calibri" pitchFamily="34" charset="-122"/>
                <a:cs typeface="Calibri" pitchFamily="34" charset="-120"/>
              </a:rPr>
              <a:t>R squared</a:t>
            </a:r>
            <a:endParaRPr lang="en-US" sz="1050" dirty="0"/>
          </a:p>
        </p:txBody>
      </p:sp>
      <p:sp>
        <p:nvSpPr>
          <p:cNvPr id="15" name="Text 12"/>
          <p:cNvSpPr txBox="1"/>
          <p:nvPr/>
        </p:nvSpPr>
        <p:spPr>
          <a:xfrm>
            <a:off x="6583680" y="2606040"/>
            <a:ext cx="5120640" cy="274320"/>
          </a:xfrm>
          <a:prstGeom prst="rect">
            <a:avLst/>
          </a:prstGeom>
          <a:noFill/>
          <a:ln/>
        </p:spPr>
        <p:txBody>
          <a:bodyPr wrap="square" lIns="0" tIns="0" rIns="0" bIns="0" rtlCol="0" anchor="t"/>
          <a:lstStyle/>
          <a:p>
            <a:pPr marL="0" indent="0">
              <a:buNone/>
            </a:pPr>
            <a:r>
              <a:rPr lang="en-US" sz="1400" b="1" dirty="0">
                <a:solidFill>
                  <a:srgbClr val="16264A"/>
                </a:solidFill>
                <a:latin typeface="Cambria" pitchFamily="34" charset="0"/>
                <a:ea typeface="Cambria" pitchFamily="34" charset="-122"/>
                <a:cs typeface="Cambria" pitchFamily="34" charset="-120"/>
              </a:rPr>
              <a:t>Interpretation</a:t>
            </a:r>
            <a:endParaRPr lang="en-US" sz="1400" dirty="0"/>
          </a:p>
        </p:txBody>
      </p:sp>
      <p:sp>
        <p:nvSpPr>
          <p:cNvPr id="16" name="Text 13"/>
          <p:cNvSpPr txBox="1"/>
          <p:nvPr/>
        </p:nvSpPr>
        <p:spPr>
          <a:xfrm>
            <a:off x="6601968" y="2916936"/>
            <a:ext cx="5084064" cy="237744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The model explains about 91% of the variance in transaction-level sales on unseen data</a:t>
            </a:r>
            <a:endParaRPr lang="en-US" sz="1150" dirty="0"/>
          </a:p>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Average absolute error of roughly 33 currency units per transaction, against a capped mean sale of about 172</a:t>
            </a:r>
            <a:endParaRPr lang="en-US" sz="1150" dirty="0"/>
          </a:p>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RMSE well above MAE indicates a minority of larger errors, most likely on high-value transactions</a:t>
            </a:r>
            <a:endParaRPr lang="en-US" sz="1150" dirty="0"/>
          </a:p>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Because outliers were capped before training, performance on genuinely extreme transactions is untested</a:t>
            </a:r>
            <a:endParaRPr lang="en-US" sz="1150" dirty="0"/>
          </a:p>
        </p:txBody>
      </p:sp>
      <p:sp>
        <p:nvSpPr>
          <p:cNvPr id="17" name="Text 14"/>
          <p:cNvSpPr txBox="1"/>
          <p:nvPr/>
        </p:nvSpPr>
        <p:spPr>
          <a:xfrm>
            <a:off x="502920" y="5806440"/>
            <a:ext cx="11155680" cy="310896"/>
          </a:xfrm>
          <a:prstGeom prst="rect">
            <a:avLst/>
          </a:prstGeom>
          <a:noFill/>
          <a:ln/>
        </p:spPr>
        <p:txBody>
          <a:bodyPr wrap="square" lIns="0" tIns="0" rIns="0" bIns="0" rtlCol="0" anchor="ctr"/>
          <a:lstStyle/>
          <a:p>
            <a:pPr marL="0" indent="0">
              <a:buNone/>
            </a:pPr>
            <a:r>
              <a:rPr lang="en-US" sz="1050" i="1" dirty="0">
                <a:solidFill>
                  <a:srgbClr val="667085"/>
                </a:solidFill>
                <a:latin typeface="Calibri" pitchFamily="34" charset="0"/>
                <a:ea typeface="Calibri" pitchFamily="34" charset="-122"/>
                <a:cs typeface="Calibri" pitchFamily="34" charset="-120"/>
              </a:rPr>
              <a:t>Actual-versus-predicted plots are also saved for Linear Regression, Decision Tree and Random Forest in their respective output folders.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66928"/>
          </a:xfrm>
          <a:prstGeom prst="rect">
            <a:avLst/>
          </a:prstGeom>
          <a:noFill/>
          <a:ln/>
        </p:spPr>
        <p:txBody>
          <a:bodyPr wrap="square" lIns="0" tIns="0" rIns="0" bIns="0" rtlCol="0" anchor="ctr"/>
          <a:lstStyle/>
          <a:p>
            <a:pPr marL="0" indent="0">
              <a:buNone/>
            </a:pPr>
            <a:r>
              <a:rPr lang="en-US" sz="3000" b="1" dirty="0">
                <a:solidFill>
                  <a:srgbClr val="16264A"/>
                </a:solidFill>
                <a:latin typeface="Cambria" pitchFamily="34" charset="0"/>
                <a:ea typeface="Cambria" pitchFamily="34" charset="-122"/>
                <a:cs typeface="Cambria" pitchFamily="34" charset="-120"/>
              </a:rPr>
              <a:t>Results: Customer Segmentation (K-Means)</a:t>
            </a:r>
            <a:endParaRPr lang="en-US" sz="3000" dirty="0"/>
          </a:p>
        </p:txBody>
      </p:sp>
      <p:sp>
        <p:nvSpPr>
          <p:cNvPr id="3" name="Text 1"/>
          <p:cNvSpPr txBox="1"/>
          <p:nvPr/>
        </p:nvSpPr>
        <p:spPr>
          <a:xfrm>
            <a:off x="502920" y="896112"/>
            <a:ext cx="11155680" cy="329184"/>
          </a:xfrm>
          <a:prstGeom prst="rect">
            <a:avLst/>
          </a:prstGeom>
          <a:noFill/>
          <a:ln/>
        </p:spPr>
        <p:txBody>
          <a:bodyPr wrap="square" lIns="0" tIns="0" rIns="0" bIns="0" rtlCol="0" anchor="ctr"/>
          <a:lstStyle/>
          <a:p>
            <a:pPr marL="0" indent="0">
              <a:buNone/>
            </a:pPr>
            <a:r>
              <a:rPr lang="en-US" sz="1300" i="1" dirty="0">
                <a:solidFill>
                  <a:srgbClr val="667085"/>
                </a:solidFill>
                <a:latin typeface="Calibri" pitchFamily="34" charset="0"/>
                <a:ea typeface="Calibri" pitchFamily="34" charset="-122"/>
                <a:cs typeface="Calibri" pitchFamily="34" charset="-120"/>
              </a:rPr>
              <a:t>Unsupervised clustering on three engineered customer-level features</a:t>
            </a:r>
            <a:endParaRPr lang="en-US" sz="1300" dirty="0"/>
          </a:p>
        </p:txBody>
      </p:sp>
      <p:pic>
        <p:nvPicPr>
          <p:cNvPr id="4" name="Image 0" descr="/home/claude/work/build/img/Customer_Segmentation.png"/>
          <p:cNvPicPr>
            <a:picLocks noChangeAspect="1"/>
          </p:cNvPicPr>
          <p:nvPr/>
        </p:nvPicPr>
        <p:blipFill>
          <a:blip r:embed="rId3"/>
          <a:stretch>
            <a:fillRect/>
          </a:stretch>
        </p:blipFill>
        <p:spPr>
          <a:xfrm>
            <a:off x="502920" y="1371600"/>
            <a:ext cx="5669280" cy="3429000"/>
          </a:xfrm>
          <a:prstGeom prst="rect">
            <a:avLst/>
          </a:prstGeom>
        </p:spPr>
      </p:pic>
      <p:sp>
        <p:nvSpPr>
          <p:cNvPr id="5" name="Text 2"/>
          <p:cNvSpPr txBox="1"/>
          <p:nvPr/>
        </p:nvSpPr>
        <p:spPr>
          <a:xfrm>
            <a:off x="502920" y="4828032"/>
            <a:ext cx="5669280" cy="274320"/>
          </a:xfrm>
          <a:prstGeom prst="rect">
            <a:avLst/>
          </a:prstGeom>
          <a:noFill/>
          <a:ln/>
        </p:spPr>
        <p:txBody>
          <a:bodyPr wrap="square" lIns="0" tIns="0" rIns="0" bIns="0" rtlCol="0" anchor="ctr"/>
          <a:lstStyle/>
          <a:p>
            <a:pPr marL="0" indent="0" algn="ctr">
              <a:buNone/>
            </a:pPr>
            <a:r>
              <a:rPr lang="en-US" sz="1000" i="1" dirty="0">
                <a:solidFill>
                  <a:srgbClr val="667085"/>
                </a:solidFill>
                <a:latin typeface="Calibri" pitchFamily="34" charset="0"/>
                <a:ea typeface="Calibri" pitchFamily="34" charset="-122"/>
                <a:cs typeface="Calibri" pitchFamily="34" charset="-120"/>
              </a:rPr>
              <a:t>Figure 5: K-Means customer clusters (07_Customer_Segmentation)</a:t>
            </a:r>
            <a:endParaRPr lang="en-US" sz="1000" dirty="0"/>
          </a:p>
        </p:txBody>
      </p:sp>
      <p:sp>
        <p:nvSpPr>
          <p:cNvPr id="6" name="Text 3"/>
          <p:cNvSpPr txBox="1"/>
          <p:nvPr/>
        </p:nvSpPr>
        <p:spPr>
          <a:xfrm>
            <a:off x="6492240" y="1371600"/>
            <a:ext cx="5212080" cy="274320"/>
          </a:xfrm>
          <a:prstGeom prst="rect">
            <a:avLst/>
          </a:prstGeom>
          <a:noFill/>
          <a:ln/>
        </p:spPr>
        <p:txBody>
          <a:bodyPr wrap="square" lIns="0" tIns="0" rIns="0" bIns="0" rtlCol="0" anchor="t"/>
          <a:lstStyle/>
          <a:p>
            <a:pPr marL="0" indent="0">
              <a:buNone/>
            </a:pPr>
            <a:r>
              <a:rPr lang="en-US" sz="1400" b="1" dirty="0">
                <a:solidFill>
                  <a:srgbClr val="16264A"/>
                </a:solidFill>
                <a:latin typeface="Cambria" pitchFamily="34" charset="0"/>
                <a:ea typeface="Cambria" pitchFamily="34" charset="-122"/>
                <a:cs typeface="Cambria" pitchFamily="34" charset="-120"/>
              </a:rPr>
              <a:t>Method</a:t>
            </a:r>
            <a:endParaRPr lang="en-US" sz="1400" dirty="0"/>
          </a:p>
        </p:txBody>
      </p:sp>
      <p:sp>
        <p:nvSpPr>
          <p:cNvPr id="7" name="Text 4"/>
          <p:cNvSpPr txBox="1"/>
          <p:nvPr/>
        </p:nvSpPr>
        <p:spPr>
          <a:xfrm>
            <a:off x="6510528" y="1682496"/>
            <a:ext cx="5175504" cy="128016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Clustering features: Customer Order Count, Customer Total Sales, Customer Total Profit</a:t>
            </a:r>
            <a:endParaRPr lang="en-US" sz="1150" dirty="0"/>
          </a:p>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Silhouette scores evaluated for k = 2 to 6; k = 2 scored highest at 0.6666</a:t>
            </a:r>
            <a:endParaRPr lang="en-US" sz="1150" dirty="0"/>
          </a:p>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Scores decline steadily as k increases (0.5548 at k=3, down to 0.3532 at k=6)</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92240" y="2834640"/>
          <a:ext cx="5212080" cy="850392"/>
        </p:xfrm>
        <a:graphic>
          <a:graphicData uri="http://schemas.openxmlformats.org/drawingml/2006/table">
            <a:tbl>
              <a:tblPr/>
              <a:tblGrid>
                <a:gridCol w="13716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83464">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Cluster</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Customers</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Avg orders</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Avg sales</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Avg profit</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extLst>
                  <a:ext uri="{0D108BD9-81ED-4DB2-BD59-A6C34878D82A}">
                    <a16:rowId xmlns:a16="http://schemas.microsoft.com/office/drawing/2014/main" val="10000"/>
                  </a:ext>
                </a:extLst>
              </a:tr>
              <a:tr h="283464">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0 - High Value</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755</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26.48</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9,760.24</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1,041.56</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1"/>
                  </a:ext>
                </a:extLst>
              </a:tr>
              <a:tr h="283464">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1 - Low Value</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835</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6.90</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1,762.06</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169.56</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9" name="Text 5"/>
          <p:cNvSpPr txBox="1"/>
          <p:nvPr/>
        </p:nvSpPr>
        <p:spPr>
          <a:xfrm>
            <a:off x="6492240" y="3767328"/>
            <a:ext cx="5212080" cy="274320"/>
          </a:xfrm>
          <a:prstGeom prst="rect">
            <a:avLst/>
          </a:prstGeom>
          <a:noFill/>
          <a:ln/>
        </p:spPr>
        <p:txBody>
          <a:bodyPr wrap="square" lIns="0" tIns="0" rIns="0" bIns="0" rtlCol="0" anchor="ctr"/>
          <a:lstStyle/>
          <a:p>
            <a:pPr marL="0" indent="0" algn="ctr">
              <a:buNone/>
            </a:pPr>
            <a:r>
              <a:rPr lang="en-US" sz="1000" i="1" dirty="0">
                <a:solidFill>
                  <a:srgbClr val="667085"/>
                </a:solidFill>
                <a:latin typeface="Calibri" pitchFamily="34" charset="0"/>
                <a:ea typeface="Calibri" pitchFamily="34" charset="-122"/>
                <a:cs typeface="Calibri" pitchFamily="34" charset="-120"/>
              </a:rPr>
              <a:t>Table 3: Cluster profile (Customer_Segment_Summary.xlsx)</a:t>
            </a:r>
            <a:endParaRPr lang="en-US" sz="1000" dirty="0"/>
          </a:p>
        </p:txBody>
      </p:sp>
      <p:sp>
        <p:nvSpPr>
          <p:cNvPr id="10" name="Shape 6"/>
          <p:cNvSpPr/>
          <p:nvPr/>
        </p:nvSpPr>
        <p:spPr>
          <a:xfrm>
            <a:off x="6492240" y="4160520"/>
            <a:ext cx="5212080" cy="1965960"/>
          </a:xfrm>
          <a:prstGeom prst="roundRect">
            <a:avLst>
              <a:gd name="adj" fmla="val 2791"/>
            </a:avLst>
          </a:prstGeom>
          <a:solidFill>
            <a:srgbClr val="F4F6FA"/>
          </a:solidFill>
          <a:ln w="12700">
            <a:solidFill>
              <a:srgbClr val="F4F6FA"/>
            </a:solidFill>
            <a:prstDash val="solid"/>
          </a:ln>
        </p:spPr>
      </p:sp>
      <p:sp>
        <p:nvSpPr>
          <p:cNvPr id="11" name="Text 7"/>
          <p:cNvSpPr txBox="1"/>
          <p:nvPr/>
        </p:nvSpPr>
        <p:spPr>
          <a:xfrm>
            <a:off x="6656832" y="4242816"/>
            <a:ext cx="4892040" cy="256032"/>
          </a:xfrm>
          <a:prstGeom prst="rect">
            <a:avLst/>
          </a:prstGeom>
          <a:noFill/>
          <a:ln/>
        </p:spPr>
        <p:txBody>
          <a:bodyPr wrap="square" lIns="0" tIns="0" rIns="0" bIns="0" rtlCol="0" anchor="ctr"/>
          <a:lstStyle/>
          <a:p>
            <a:pPr marL="0" indent="0">
              <a:buNone/>
            </a:pPr>
            <a:r>
              <a:rPr lang="en-US" sz="1200" b="1" dirty="0">
                <a:solidFill>
                  <a:srgbClr val="16264A"/>
                </a:solidFill>
                <a:latin typeface="Cambria" pitchFamily="34" charset="0"/>
                <a:ea typeface="Cambria" pitchFamily="34" charset="-122"/>
                <a:cs typeface="Cambria" pitchFamily="34" charset="-120"/>
              </a:rPr>
              <a:t>Note on k = 2</a:t>
            </a:r>
            <a:endParaRPr lang="en-US" sz="1200" dirty="0"/>
          </a:p>
        </p:txBody>
      </p:sp>
      <p:sp>
        <p:nvSpPr>
          <p:cNvPr id="12" name="Text 8"/>
          <p:cNvSpPr txBox="1"/>
          <p:nvPr/>
        </p:nvSpPr>
        <p:spPr>
          <a:xfrm>
            <a:off x="6656832" y="4526280"/>
            <a:ext cx="4892040" cy="1463040"/>
          </a:xfrm>
          <a:prstGeom prst="rect">
            <a:avLst/>
          </a:prstGeom>
          <a:noFill/>
          <a:ln/>
        </p:spPr>
        <p:txBody>
          <a:bodyPr wrap="square" lIns="0" tIns="0" rIns="0" bIns="0" rtlCol="0" anchor="ctr"/>
          <a:lstStyle/>
          <a:p>
            <a:pPr marL="0" indent="0">
              <a:lnSpc>
                <a:spcPts val="1400"/>
              </a:lnSpc>
              <a:buNone/>
            </a:pPr>
            <a:r>
              <a:rPr lang="en-US" sz="1050" dirty="0">
                <a:solidFill>
                  <a:srgbClr val="1F2937"/>
                </a:solidFill>
                <a:latin typeface="Calibri" pitchFamily="34" charset="0"/>
                <a:ea typeface="Calibri" pitchFamily="34" charset="-122"/>
                <a:cs typeface="Calibri" pitchFamily="34" charset="-120"/>
              </a:rPr>
              <a:t>The silhouette score favours two clusters, but a two-way split is coarse for marketing use. The separation is large - the high-value cluster averages about 5.5 times the sales and 6.1 times the profit of the low-value cluster - which is why RFM was added as a second, finer segmentation.</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66928"/>
          </a:xfrm>
          <a:prstGeom prst="rect">
            <a:avLst/>
          </a:prstGeom>
          <a:noFill/>
          <a:ln/>
        </p:spPr>
        <p:txBody>
          <a:bodyPr wrap="square" lIns="0" tIns="0" rIns="0" bIns="0" rtlCol="0" anchor="ctr"/>
          <a:lstStyle/>
          <a:p>
            <a:pPr marL="0" indent="0">
              <a:buNone/>
            </a:pPr>
            <a:r>
              <a:rPr lang="en-US" sz="3000" b="1" dirty="0">
                <a:solidFill>
                  <a:srgbClr val="16264A"/>
                </a:solidFill>
                <a:latin typeface="Cambria" pitchFamily="34" charset="0"/>
                <a:ea typeface="Cambria" pitchFamily="34" charset="-122"/>
                <a:cs typeface="Cambria" pitchFamily="34" charset="-120"/>
              </a:rPr>
              <a:t>Results: RFM Customer Intelligence</a:t>
            </a:r>
            <a:endParaRPr lang="en-US" sz="3000" dirty="0"/>
          </a:p>
        </p:txBody>
      </p:sp>
      <p:sp>
        <p:nvSpPr>
          <p:cNvPr id="3" name="Text 1"/>
          <p:cNvSpPr txBox="1"/>
          <p:nvPr/>
        </p:nvSpPr>
        <p:spPr>
          <a:xfrm>
            <a:off x="502920" y="896112"/>
            <a:ext cx="11155680" cy="329184"/>
          </a:xfrm>
          <a:prstGeom prst="rect">
            <a:avLst/>
          </a:prstGeom>
          <a:noFill/>
          <a:ln/>
        </p:spPr>
        <p:txBody>
          <a:bodyPr wrap="square" lIns="0" tIns="0" rIns="0" bIns="0" rtlCol="0" anchor="ctr"/>
          <a:lstStyle/>
          <a:p>
            <a:pPr marL="0" indent="0">
              <a:buNone/>
            </a:pPr>
            <a:r>
              <a:rPr lang="en-US" sz="1300" i="1" dirty="0">
                <a:solidFill>
                  <a:srgbClr val="667085"/>
                </a:solidFill>
                <a:latin typeface="Calibri" pitchFamily="34" charset="0"/>
                <a:ea typeface="Calibri" pitchFamily="34" charset="-122"/>
                <a:cs typeface="Calibri" pitchFamily="34" charset="-120"/>
              </a:rPr>
              <a:t>rfm_analysis.py - quintile scoring of 1,590 customers</a:t>
            </a:r>
            <a:endParaRPr lang="en-US" sz="1300" dirty="0"/>
          </a:p>
        </p:txBody>
      </p:sp>
      <p:sp>
        <p:nvSpPr>
          <p:cNvPr id="4" name="Text 2"/>
          <p:cNvSpPr txBox="1"/>
          <p:nvPr/>
        </p:nvSpPr>
        <p:spPr>
          <a:xfrm>
            <a:off x="502920" y="1371600"/>
            <a:ext cx="5120640" cy="274320"/>
          </a:xfrm>
          <a:prstGeom prst="rect">
            <a:avLst/>
          </a:prstGeom>
          <a:noFill/>
          <a:ln/>
        </p:spPr>
        <p:txBody>
          <a:bodyPr wrap="square" lIns="0" tIns="0" rIns="0" bIns="0" rtlCol="0" anchor="t"/>
          <a:lstStyle/>
          <a:p>
            <a:pPr marL="0" indent="0">
              <a:buNone/>
            </a:pPr>
            <a:r>
              <a:rPr lang="en-US" sz="1400" b="1" dirty="0">
                <a:solidFill>
                  <a:srgbClr val="16264A"/>
                </a:solidFill>
                <a:latin typeface="Cambria" pitchFamily="34" charset="0"/>
                <a:ea typeface="Cambria" pitchFamily="34" charset="-122"/>
                <a:cs typeface="Cambria" pitchFamily="34" charset="-120"/>
              </a:rPr>
              <a:t>How the scores were built</a:t>
            </a:r>
            <a:endParaRPr lang="en-US" sz="1400" dirty="0"/>
          </a:p>
        </p:txBody>
      </p:sp>
      <p:sp>
        <p:nvSpPr>
          <p:cNvPr id="5" name="Text 3"/>
          <p:cNvSpPr txBox="1"/>
          <p:nvPr/>
        </p:nvSpPr>
        <p:spPr>
          <a:xfrm>
            <a:off x="521208" y="1682496"/>
            <a:ext cx="5084064" cy="283464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Analysis date set to the latest order date plus one day</a:t>
            </a:r>
            <a:endParaRPr lang="en-US" sz="1150" dirty="0"/>
          </a:p>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Recency: days since the customer's most recent order (lower is better)</a:t>
            </a:r>
            <a:endParaRPr lang="en-US" sz="1150" dirty="0"/>
          </a:p>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Frequency: count of distinct Order IDs</a:t>
            </a:r>
            <a:endParaRPr lang="en-US" sz="1150" dirty="0"/>
          </a:p>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Monetary: sum of Sales for the customer</a:t>
            </a:r>
            <a:endParaRPr lang="en-US" sz="1150" dirty="0"/>
          </a:p>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Each dimension ranked and cut into 5 quintiles scoring 1 to 5; Recency reversed so recent buyers score high</a:t>
            </a:r>
            <a:endParaRPr lang="en-US" sz="1150" dirty="0"/>
          </a:p>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RFM Score = R + F + M, giving a range of 3 to 15</a:t>
            </a:r>
            <a:endParaRPr lang="en-US" sz="1150" dirty="0"/>
          </a:p>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Value bands: 12 and above = High, 8 to 11 = Medium, below 8 = Low</a:t>
            </a:r>
            <a:endParaRPr lang="en-US" sz="1150" dirty="0"/>
          </a:p>
        </p:txBody>
      </p:sp>
      <p:sp>
        <p:nvSpPr>
          <p:cNvPr id="6" name="Shape 4"/>
          <p:cNvSpPr/>
          <p:nvPr/>
        </p:nvSpPr>
        <p:spPr>
          <a:xfrm>
            <a:off x="502920" y="4343400"/>
            <a:ext cx="1600200" cy="1024128"/>
          </a:xfrm>
          <a:prstGeom prst="roundRect">
            <a:avLst>
              <a:gd name="adj" fmla="val 5357"/>
            </a:avLst>
          </a:prstGeom>
          <a:solidFill>
            <a:srgbClr val="F4F6FA"/>
          </a:solidFill>
          <a:ln w="12700">
            <a:solidFill>
              <a:srgbClr val="F4F6FA"/>
            </a:solidFill>
            <a:prstDash val="solid"/>
          </a:ln>
        </p:spPr>
      </p:sp>
      <p:sp>
        <p:nvSpPr>
          <p:cNvPr id="7" name="Text 5"/>
          <p:cNvSpPr txBox="1"/>
          <p:nvPr/>
        </p:nvSpPr>
        <p:spPr>
          <a:xfrm>
            <a:off x="502920" y="4443984"/>
            <a:ext cx="1600200" cy="457200"/>
          </a:xfrm>
          <a:prstGeom prst="rect">
            <a:avLst/>
          </a:prstGeom>
          <a:noFill/>
          <a:ln/>
        </p:spPr>
        <p:txBody>
          <a:bodyPr wrap="square" lIns="0" tIns="0" rIns="0" bIns="0" rtlCol="0" anchor="ctr"/>
          <a:lstStyle/>
          <a:p>
            <a:pPr marL="0" indent="0" algn="ctr">
              <a:buNone/>
            </a:pPr>
            <a:r>
              <a:rPr lang="en-US" sz="2500" b="1" dirty="0">
                <a:solidFill>
                  <a:srgbClr val="16264A"/>
                </a:solidFill>
                <a:latin typeface="Cambria" pitchFamily="34" charset="0"/>
                <a:ea typeface="Cambria" pitchFamily="34" charset="-122"/>
                <a:cs typeface="Cambria" pitchFamily="34" charset="-120"/>
              </a:rPr>
              <a:t>1,590</a:t>
            </a:r>
            <a:endParaRPr lang="en-US" sz="2500" dirty="0"/>
          </a:p>
        </p:txBody>
      </p:sp>
      <p:sp>
        <p:nvSpPr>
          <p:cNvPr id="8" name="Text 6"/>
          <p:cNvSpPr txBox="1"/>
          <p:nvPr/>
        </p:nvSpPr>
        <p:spPr>
          <a:xfrm>
            <a:off x="502920" y="4946904"/>
            <a:ext cx="1600200" cy="310896"/>
          </a:xfrm>
          <a:prstGeom prst="rect">
            <a:avLst/>
          </a:prstGeom>
          <a:noFill/>
          <a:ln/>
        </p:spPr>
        <p:txBody>
          <a:bodyPr wrap="square" lIns="0" tIns="0" rIns="0" bIns="0" rtlCol="0" anchor="ctr"/>
          <a:lstStyle/>
          <a:p>
            <a:pPr marL="0" indent="0" algn="ctr">
              <a:buNone/>
            </a:pPr>
            <a:r>
              <a:rPr lang="en-US" sz="1050" dirty="0">
                <a:solidFill>
                  <a:srgbClr val="667085"/>
                </a:solidFill>
                <a:latin typeface="Calibri" pitchFamily="34" charset="0"/>
                <a:ea typeface="Calibri" pitchFamily="34" charset="-122"/>
                <a:cs typeface="Calibri" pitchFamily="34" charset="-120"/>
              </a:rPr>
              <a:t>Customers</a:t>
            </a:r>
            <a:endParaRPr lang="en-US" sz="1050" dirty="0"/>
          </a:p>
        </p:txBody>
      </p:sp>
      <p:sp>
        <p:nvSpPr>
          <p:cNvPr id="9" name="Shape 7"/>
          <p:cNvSpPr/>
          <p:nvPr/>
        </p:nvSpPr>
        <p:spPr>
          <a:xfrm>
            <a:off x="2286000" y="4343400"/>
            <a:ext cx="1600200" cy="1024128"/>
          </a:xfrm>
          <a:prstGeom prst="roundRect">
            <a:avLst>
              <a:gd name="adj" fmla="val 5357"/>
            </a:avLst>
          </a:prstGeom>
          <a:solidFill>
            <a:srgbClr val="F4F6FA"/>
          </a:solidFill>
          <a:ln w="12700">
            <a:solidFill>
              <a:srgbClr val="F4F6FA"/>
            </a:solidFill>
            <a:prstDash val="solid"/>
          </a:ln>
        </p:spPr>
      </p:sp>
      <p:sp>
        <p:nvSpPr>
          <p:cNvPr id="10" name="Text 8"/>
          <p:cNvSpPr txBox="1"/>
          <p:nvPr/>
        </p:nvSpPr>
        <p:spPr>
          <a:xfrm>
            <a:off x="2286000" y="4443984"/>
            <a:ext cx="1600200" cy="457200"/>
          </a:xfrm>
          <a:prstGeom prst="rect">
            <a:avLst/>
          </a:prstGeom>
          <a:noFill/>
          <a:ln/>
        </p:spPr>
        <p:txBody>
          <a:bodyPr wrap="square" lIns="0" tIns="0" rIns="0" bIns="0" rtlCol="0" anchor="ctr"/>
          <a:lstStyle/>
          <a:p>
            <a:pPr marL="0" indent="0" algn="ctr">
              <a:buNone/>
            </a:pPr>
            <a:r>
              <a:rPr lang="en-US" sz="2500" b="1" dirty="0">
                <a:solidFill>
                  <a:srgbClr val="16264A"/>
                </a:solidFill>
                <a:latin typeface="Cambria" pitchFamily="34" charset="0"/>
                <a:ea typeface="Cambria" pitchFamily="34" charset="-122"/>
                <a:cs typeface="Cambria" pitchFamily="34" charset="-120"/>
              </a:rPr>
              <a:t>85.4</a:t>
            </a:r>
            <a:endParaRPr lang="en-US" sz="2500" dirty="0"/>
          </a:p>
        </p:txBody>
      </p:sp>
      <p:sp>
        <p:nvSpPr>
          <p:cNvPr id="11" name="Text 9"/>
          <p:cNvSpPr txBox="1"/>
          <p:nvPr/>
        </p:nvSpPr>
        <p:spPr>
          <a:xfrm>
            <a:off x="2286000" y="4946904"/>
            <a:ext cx="1600200" cy="310896"/>
          </a:xfrm>
          <a:prstGeom prst="rect">
            <a:avLst/>
          </a:prstGeom>
          <a:noFill/>
          <a:ln/>
        </p:spPr>
        <p:txBody>
          <a:bodyPr wrap="square" lIns="0" tIns="0" rIns="0" bIns="0" rtlCol="0" anchor="ctr"/>
          <a:lstStyle/>
          <a:p>
            <a:pPr marL="0" indent="0" algn="ctr">
              <a:buNone/>
            </a:pPr>
            <a:r>
              <a:rPr lang="en-US" sz="1050" dirty="0">
                <a:solidFill>
                  <a:srgbClr val="667085"/>
                </a:solidFill>
                <a:latin typeface="Calibri" pitchFamily="34" charset="0"/>
                <a:ea typeface="Calibri" pitchFamily="34" charset="-122"/>
                <a:cs typeface="Calibri" pitchFamily="34" charset="-120"/>
              </a:rPr>
              <a:t>Avg recency (days)</a:t>
            </a:r>
            <a:endParaRPr lang="en-US" sz="1050" dirty="0"/>
          </a:p>
        </p:txBody>
      </p:sp>
      <p:sp>
        <p:nvSpPr>
          <p:cNvPr id="12" name="Shape 10"/>
          <p:cNvSpPr/>
          <p:nvPr/>
        </p:nvSpPr>
        <p:spPr>
          <a:xfrm>
            <a:off x="4069080" y="4343400"/>
            <a:ext cx="1554480" cy="1024128"/>
          </a:xfrm>
          <a:prstGeom prst="roundRect">
            <a:avLst>
              <a:gd name="adj" fmla="val 5357"/>
            </a:avLst>
          </a:prstGeom>
          <a:solidFill>
            <a:srgbClr val="F4F6FA"/>
          </a:solidFill>
          <a:ln w="12700">
            <a:solidFill>
              <a:srgbClr val="F4F6FA"/>
            </a:solidFill>
            <a:prstDash val="solid"/>
          </a:ln>
        </p:spPr>
      </p:sp>
      <p:sp>
        <p:nvSpPr>
          <p:cNvPr id="13" name="Text 11"/>
          <p:cNvSpPr txBox="1"/>
          <p:nvPr/>
        </p:nvSpPr>
        <p:spPr>
          <a:xfrm>
            <a:off x="4069080" y="4443984"/>
            <a:ext cx="1554480" cy="457200"/>
          </a:xfrm>
          <a:prstGeom prst="rect">
            <a:avLst/>
          </a:prstGeom>
          <a:noFill/>
          <a:ln/>
        </p:spPr>
        <p:txBody>
          <a:bodyPr wrap="square" lIns="0" tIns="0" rIns="0" bIns="0" rtlCol="0" anchor="ctr"/>
          <a:lstStyle/>
          <a:p>
            <a:pPr marL="0" indent="0" algn="ctr">
              <a:buNone/>
            </a:pPr>
            <a:r>
              <a:rPr lang="en-US" sz="2500" b="1" dirty="0">
                <a:solidFill>
                  <a:srgbClr val="16264A"/>
                </a:solidFill>
                <a:latin typeface="Cambria" pitchFamily="34" charset="0"/>
                <a:ea typeface="Cambria" pitchFamily="34" charset="-122"/>
                <a:cs typeface="Cambria" pitchFamily="34" charset="-120"/>
              </a:rPr>
              <a:t>16.2</a:t>
            </a:r>
            <a:endParaRPr lang="en-US" sz="2500" dirty="0"/>
          </a:p>
        </p:txBody>
      </p:sp>
      <p:sp>
        <p:nvSpPr>
          <p:cNvPr id="14" name="Text 12"/>
          <p:cNvSpPr txBox="1"/>
          <p:nvPr/>
        </p:nvSpPr>
        <p:spPr>
          <a:xfrm>
            <a:off x="4069080" y="4946904"/>
            <a:ext cx="1554480" cy="310896"/>
          </a:xfrm>
          <a:prstGeom prst="rect">
            <a:avLst/>
          </a:prstGeom>
          <a:noFill/>
          <a:ln/>
        </p:spPr>
        <p:txBody>
          <a:bodyPr wrap="square" lIns="0" tIns="0" rIns="0" bIns="0" rtlCol="0" anchor="ctr"/>
          <a:lstStyle/>
          <a:p>
            <a:pPr marL="0" indent="0" algn="ctr">
              <a:buNone/>
            </a:pPr>
            <a:r>
              <a:rPr lang="en-US" sz="1050" dirty="0">
                <a:solidFill>
                  <a:srgbClr val="667085"/>
                </a:solidFill>
                <a:latin typeface="Calibri" pitchFamily="34" charset="0"/>
                <a:ea typeface="Calibri" pitchFamily="34" charset="-122"/>
                <a:cs typeface="Calibri" pitchFamily="34" charset="-120"/>
              </a:rPr>
              <a:t>Avg frequency</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943600" y="1417320"/>
          <a:ext cx="5760720" cy="1133856"/>
        </p:xfrm>
        <a:graphic>
          <a:graphicData uri="http://schemas.openxmlformats.org/drawingml/2006/table">
            <a:tbl>
              <a:tblPr/>
              <a:tblGrid>
                <a:gridCol w="12344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tblGrid>
              <a:tr h="283464">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Value band</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Customers</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Share</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Total sales</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Total profit</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Avg RFM</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extLst>
                  <a:ext uri="{0D108BD9-81ED-4DB2-BD59-A6C34878D82A}">
                    <a16:rowId xmlns:a16="http://schemas.microsoft.com/office/drawing/2014/main" val="10000"/>
                  </a:ext>
                </a:extLst>
              </a:tr>
              <a:tr h="283464">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High Value</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515</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32.4%</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5,484,204</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578,661</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13.23</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1"/>
                  </a:ext>
                </a:extLst>
              </a:tr>
              <a:tr h="283464">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Medium Value</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461</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29.0%</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2,510,516</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269,763</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9.59</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2"/>
                  </a:ext>
                </a:extLst>
              </a:tr>
              <a:tr h="283464">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Low Value</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614</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38.6%</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845,582</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79,537</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5.01</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6" name="Text 13"/>
          <p:cNvSpPr txBox="1"/>
          <p:nvPr/>
        </p:nvSpPr>
        <p:spPr>
          <a:xfrm>
            <a:off x="5943600" y="2606040"/>
            <a:ext cx="5760720" cy="274320"/>
          </a:xfrm>
          <a:prstGeom prst="rect">
            <a:avLst/>
          </a:prstGeom>
          <a:noFill/>
          <a:ln/>
        </p:spPr>
        <p:txBody>
          <a:bodyPr wrap="square" lIns="0" tIns="0" rIns="0" bIns="0" rtlCol="0" anchor="ctr"/>
          <a:lstStyle/>
          <a:p>
            <a:pPr marL="0" indent="0" algn="ctr">
              <a:buNone/>
            </a:pPr>
            <a:r>
              <a:rPr lang="en-US" sz="1000" i="1" dirty="0">
                <a:solidFill>
                  <a:srgbClr val="667085"/>
                </a:solidFill>
                <a:latin typeface="Calibri" pitchFamily="34" charset="0"/>
                <a:ea typeface="Calibri" pitchFamily="34" charset="-122"/>
                <a:cs typeface="Calibri" pitchFamily="34" charset="-120"/>
              </a:rPr>
              <a:t>Table 4: Customer value distribution (RFM_Customer_Value.xlsx)</a:t>
            </a:r>
            <a:endParaRPr lang="en-US" sz="1000" dirty="0"/>
          </a:p>
        </p:txBody>
      </p:sp>
      <p:sp>
        <p:nvSpPr>
          <p:cNvPr id="17" name="Shape 14"/>
          <p:cNvSpPr/>
          <p:nvPr/>
        </p:nvSpPr>
        <p:spPr>
          <a:xfrm>
            <a:off x="5943600" y="3017520"/>
            <a:ext cx="5760720" cy="3108960"/>
          </a:xfrm>
          <a:prstGeom prst="roundRect">
            <a:avLst>
              <a:gd name="adj" fmla="val 1765"/>
            </a:avLst>
          </a:prstGeom>
          <a:solidFill>
            <a:srgbClr val="F4F6FA"/>
          </a:solidFill>
          <a:ln w="12700">
            <a:solidFill>
              <a:srgbClr val="F4F6FA"/>
            </a:solidFill>
            <a:prstDash val="solid"/>
          </a:ln>
        </p:spPr>
      </p:sp>
      <p:sp>
        <p:nvSpPr>
          <p:cNvPr id="18" name="Text 15"/>
          <p:cNvSpPr txBox="1"/>
          <p:nvPr/>
        </p:nvSpPr>
        <p:spPr>
          <a:xfrm>
            <a:off x="6108192" y="3108960"/>
            <a:ext cx="5440680" cy="274320"/>
          </a:xfrm>
          <a:prstGeom prst="rect">
            <a:avLst/>
          </a:prstGeom>
          <a:noFill/>
          <a:ln/>
        </p:spPr>
        <p:txBody>
          <a:bodyPr wrap="square" lIns="0" tIns="0" rIns="0" bIns="0" rtlCol="0" anchor="ctr"/>
          <a:lstStyle/>
          <a:p>
            <a:pPr marL="0" indent="0">
              <a:buNone/>
            </a:pPr>
            <a:r>
              <a:rPr lang="en-US" sz="1300" b="1" dirty="0">
                <a:solidFill>
                  <a:srgbClr val="16264A"/>
                </a:solidFill>
                <a:latin typeface="Cambria" pitchFamily="34" charset="0"/>
                <a:ea typeface="Cambria" pitchFamily="34" charset="-122"/>
                <a:cs typeface="Cambria" pitchFamily="34" charset="-120"/>
              </a:rPr>
              <a:t>Concentration finding</a:t>
            </a:r>
            <a:endParaRPr lang="en-US" sz="1300" dirty="0"/>
          </a:p>
        </p:txBody>
      </p:sp>
      <p:sp>
        <p:nvSpPr>
          <p:cNvPr id="19" name="Text 16"/>
          <p:cNvSpPr txBox="1"/>
          <p:nvPr/>
        </p:nvSpPr>
        <p:spPr>
          <a:xfrm>
            <a:off x="6108192" y="3401568"/>
            <a:ext cx="5440680" cy="256032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The 515 High Value customers (32.4% of the base) account for 5.48 M of 8.84 M in sales - about 62% of total capped revenue</a:t>
            </a:r>
            <a:endParaRPr lang="en-US" sz="1100" dirty="0"/>
          </a:p>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The 614 Low Value customers (38.6% of the base) contribute only 845,582, roughly 9.6% of sales</a:t>
            </a:r>
            <a:endParaRPr lang="en-US" sz="1100" dirty="0"/>
          </a:p>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High Value customers also carry the strongest profit contribution at 578,661</a:t>
            </a:r>
            <a:endParaRPr lang="en-US" sz="1100" dirty="0"/>
          </a:p>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This supports differentiated retention effort: the largest group by headcount is the smallest by value</a:t>
            </a:r>
            <a:endParaRPr lang="en-US" sz="1100" dirty="0"/>
          </a:p>
        </p:txBody>
      </p:sp>
      <p:sp>
        <p:nvSpPr>
          <p:cNvPr id="20" name="Text 17"/>
          <p:cNvSpPr txBox="1"/>
          <p:nvPr/>
        </p:nvSpPr>
        <p:spPr>
          <a:xfrm>
            <a:off x="502920" y="6309360"/>
            <a:ext cx="11155680" cy="310896"/>
          </a:xfrm>
          <a:prstGeom prst="rect">
            <a:avLst/>
          </a:prstGeom>
          <a:noFill/>
          <a:ln/>
        </p:spPr>
        <p:txBody>
          <a:bodyPr wrap="square" lIns="0" tIns="0" rIns="0" bIns="0" rtlCol="0" anchor="ctr"/>
          <a:lstStyle/>
          <a:p>
            <a:pPr marL="0" indent="0">
              <a:buNone/>
            </a:pPr>
            <a:r>
              <a:rPr lang="en-US" sz="1050" i="1" dirty="0">
                <a:solidFill>
                  <a:srgbClr val="667085"/>
                </a:solidFill>
                <a:latin typeface="Calibri" pitchFamily="34" charset="0"/>
                <a:ea typeface="Calibri" pitchFamily="34" charset="-122"/>
                <a:cs typeface="Calibri" pitchFamily="34" charset="-120"/>
              </a:rPr>
              <a:t>Average RFM score across the base is exactly 9.00, which is expected because quintile scoring is balanced by construction.</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66928"/>
          </a:xfrm>
          <a:prstGeom prst="rect">
            <a:avLst/>
          </a:prstGeom>
          <a:noFill/>
          <a:ln/>
        </p:spPr>
        <p:txBody>
          <a:bodyPr wrap="square" lIns="0" tIns="0" rIns="0" bIns="0" rtlCol="0" anchor="ctr"/>
          <a:lstStyle/>
          <a:p>
            <a:pPr marL="0" indent="0">
              <a:buNone/>
            </a:pPr>
            <a:r>
              <a:rPr lang="en-US" sz="3000" b="1" dirty="0">
                <a:solidFill>
                  <a:srgbClr val="16264A"/>
                </a:solidFill>
                <a:latin typeface="Cambria" pitchFamily="34" charset="0"/>
                <a:ea typeface="Cambria" pitchFamily="34" charset="-122"/>
                <a:cs typeface="Cambria" pitchFamily="34" charset="-120"/>
              </a:rPr>
              <a:t>Results: Customer Lifetime Value</a:t>
            </a:r>
            <a:endParaRPr lang="en-US" sz="3000" dirty="0"/>
          </a:p>
        </p:txBody>
      </p:sp>
      <p:sp>
        <p:nvSpPr>
          <p:cNvPr id="3" name="Text 1"/>
          <p:cNvSpPr txBox="1"/>
          <p:nvPr/>
        </p:nvSpPr>
        <p:spPr>
          <a:xfrm>
            <a:off x="502920" y="896112"/>
            <a:ext cx="11155680" cy="329184"/>
          </a:xfrm>
          <a:prstGeom prst="rect">
            <a:avLst/>
          </a:prstGeom>
          <a:noFill/>
          <a:ln/>
        </p:spPr>
        <p:txBody>
          <a:bodyPr wrap="square" lIns="0" tIns="0" rIns="0" bIns="0" rtlCol="0" anchor="ctr"/>
          <a:lstStyle/>
          <a:p>
            <a:pPr marL="0" indent="0">
              <a:buNone/>
            </a:pPr>
            <a:r>
              <a:rPr lang="en-US" sz="1300" i="1" dirty="0">
                <a:solidFill>
                  <a:srgbClr val="667085"/>
                </a:solidFill>
                <a:latin typeface="Calibri" pitchFamily="34" charset="0"/>
                <a:ea typeface="Calibri" pitchFamily="34" charset="-122"/>
                <a:cs typeface="Calibri" pitchFamily="34" charset="-120"/>
              </a:rPr>
              <a:t>clv_analysis.py - a historical behavioural estimate, not a predictive forecast</a:t>
            </a:r>
            <a:endParaRPr lang="en-US" sz="1300" dirty="0"/>
          </a:p>
        </p:txBody>
      </p:sp>
      <p:sp>
        <p:nvSpPr>
          <p:cNvPr id="4" name="Shape 2"/>
          <p:cNvSpPr/>
          <p:nvPr/>
        </p:nvSpPr>
        <p:spPr>
          <a:xfrm>
            <a:off x="502920" y="1371600"/>
            <a:ext cx="5577840" cy="1481328"/>
          </a:xfrm>
          <a:prstGeom prst="roundRect">
            <a:avLst>
              <a:gd name="adj" fmla="val 3704"/>
            </a:avLst>
          </a:prstGeom>
          <a:solidFill>
            <a:srgbClr val="EDF1F8"/>
          </a:solidFill>
          <a:ln w="12700">
            <a:solidFill>
              <a:srgbClr val="EDF1F8"/>
            </a:solidFill>
            <a:prstDash val="solid"/>
          </a:ln>
        </p:spPr>
      </p:sp>
      <p:sp>
        <p:nvSpPr>
          <p:cNvPr id="5" name="Text 3"/>
          <p:cNvSpPr txBox="1"/>
          <p:nvPr/>
        </p:nvSpPr>
        <p:spPr>
          <a:xfrm>
            <a:off x="667512" y="1463040"/>
            <a:ext cx="5212080" cy="256032"/>
          </a:xfrm>
          <a:prstGeom prst="rect">
            <a:avLst/>
          </a:prstGeom>
          <a:noFill/>
          <a:ln/>
        </p:spPr>
        <p:txBody>
          <a:bodyPr wrap="square" lIns="0" tIns="0" rIns="0" bIns="0" rtlCol="0" anchor="ctr"/>
          <a:lstStyle/>
          <a:p>
            <a:pPr marL="0" indent="0">
              <a:buNone/>
            </a:pPr>
            <a:r>
              <a:rPr lang="en-US" sz="1250" b="1" dirty="0">
                <a:solidFill>
                  <a:srgbClr val="16264A"/>
                </a:solidFill>
                <a:latin typeface="Cambria" pitchFamily="34" charset="0"/>
                <a:ea typeface="Cambria" pitchFamily="34" charset="-122"/>
                <a:cs typeface="Cambria" pitchFamily="34" charset="-120"/>
              </a:rPr>
              <a:t>Formula as implemented</a:t>
            </a:r>
            <a:endParaRPr lang="en-US" sz="1250" dirty="0"/>
          </a:p>
        </p:txBody>
      </p:sp>
      <p:sp>
        <p:nvSpPr>
          <p:cNvPr id="6" name="Text 4"/>
          <p:cNvSpPr txBox="1"/>
          <p:nvPr/>
        </p:nvSpPr>
        <p:spPr>
          <a:xfrm>
            <a:off x="667512" y="1737360"/>
            <a:ext cx="5212080" cy="292608"/>
          </a:xfrm>
          <a:prstGeom prst="rect">
            <a:avLst/>
          </a:prstGeom>
          <a:noFill/>
          <a:ln/>
        </p:spPr>
        <p:txBody>
          <a:bodyPr wrap="square" lIns="0" tIns="0" rIns="0" bIns="0" rtlCol="0" anchor="ctr"/>
          <a:lstStyle/>
          <a:p>
            <a:pPr marL="0" indent="0">
              <a:buNone/>
            </a:pPr>
            <a:r>
              <a:rPr lang="en-US" sz="1200" b="1" dirty="0">
                <a:solidFill>
                  <a:srgbClr val="233A6B"/>
                </a:solidFill>
                <a:latin typeface="Calibri" pitchFamily="34" charset="0"/>
                <a:ea typeface="Calibri" pitchFamily="34" charset="-122"/>
                <a:cs typeface="Calibri" pitchFamily="34" charset="-120"/>
              </a:rPr>
              <a:t>CLV  =  Average Order Value  x  Purchase Frequency  x  Estimated Lifespan</a:t>
            </a:r>
            <a:endParaRPr lang="en-US" sz="1200" dirty="0"/>
          </a:p>
        </p:txBody>
      </p:sp>
      <p:sp>
        <p:nvSpPr>
          <p:cNvPr id="7" name="Text 5"/>
          <p:cNvSpPr txBox="1"/>
          <p:nvPr/>
        </p:nvSpPr>
        <p:spPr>
          <a:xfrm>
            <a:off x="667512" y="2048256"/>
            <a:ext cx="5212080" cy="713232"/>
          </a:xfrm>
          <a:prstGeom prst="rect">
            <a:avLst/>
          </a:prstGeom>
          <a:noFill/>
          <a:ln/>
        </p:spPr>
        <p:txBody>
          <a:bodyPr wrap="square" lIns="0" tIns="0" rIns="0" bIns="0" rtlCol="0" anchor="ctr"/>
          <a:lstStyle/>
          <a:p>
            <a:pPr marL="0" indent="0">
              <a:lnSpc>
                <a:spcPts val="1300"/>
              </a:lnSpc>
              <a:buNone/>
            </a:pPr>
            <a:r>
              <a:rPr lang="en-US" sz="1000" dirty="0">
                <a:solidFill>
                  <a:srgbClr val="667085"/>
                </a:solidFill>
                <a:latin typeface="Calibri" pitchFamily="34" charset="0"/>
                <a:ea typeface="Calibri" pitchFamily="34" charset="-122"/>
                <a:cs typeface="Calibri" pitchFamily="34" charset="-120"/>
              </a:rPr>
              <a:t>Average Order Value = Total Sales / Order Count   |   Purchase Frequency = Order Count   |   Estimated Lifespan = max(Recency / 365, 1) years</a:t>
            </a:r>
            <a:endParaRPr lang="en-US" sz="1000" dirty="0"/>
          </a:p>
        </p:txBody>
      </p:sp>
      <p:sp>
        <p:nvSpPr>
          <p:cNvPr id="8" name="Shape 6"/>
          <p:cNvSpPr/>
          <p:nvPr/>
        </p:nvSpPr>
        <p:spPr>
          <a:xfrm>
            <a:off x="502920" y="3017520"/>
            <a:ext cx="2697480" cy="1024128"/>
          </a:xfrm>
          <a:prstGeom prst="roundRect">
            <a:avLst>
              <a:gd name="adj" fmla="val 5357"/>
            </a:avLst>
          </a:prstGeom>
          <a:solidFill>
            <a:srgbClr val="F4F6FA"/>
          </a:solidFill>
          <a:ln w="12700">
            <a:solidFill>
              <a:srgbClr val="F4F6FA"/>
            </a:solidFill>
            <a:prstDash val="solid"/>
          </a:ln>
        </p:spPr>
      </p:sp>
      <p:sp>
        <p:nvSpPr>
          <p:cNvPr id="9" name="Text 7"/>
          <p:cNvSpPr txBox="1"/>
          <p:nvPr/>
        </p:nvSpPr>
        <p:spPr>
          <a:xfrm>
            <a:off x="502920" y="3118104"/>
            <a:ext cx="2697480" cy="457200"/>
          </a:xfrm>
          <a:prstGeom prst="rect">
            <a:avLst/>
          </a:prstGeom>
          <a:noFill/>
          <a:ln/>
        </p:spPr>
        <p:txBody>
          <a:bodyPr wrap="square" lIns="0" tIns="0" rIns="0" bIns="0" rtlCol="0" anchor="ctr"/>
          <a:lstStyle/>
          <a:p>
            <a:pPr marL="0" indent="0" algn="ctr">
              <a:buNone/>
            </a:pPr>
            <a:r>
              <a:rPr lang="en-US" sz="2500" b="1" dirty="0">
                <a:solidFill>
                  <a:srgbClr val="16264A"/>
                </a:solidFill>
                <a:latin typeface="Cambria" pitchFamily="34" charset="0"/>
                <a:ea typeface="Cambria" pitchFamily="34" charset="-122"/>
                <a:cs typeface="Cambria" pitchFamily="34" charset="-120"/>
              </a:rPr>
              <a:t>8.87 M</a:t>
            </a:r>
            <a:endParaRPr lang="en-US" sz="2500" dirty="0"/>
          </a:p>
        </p:txBody>
      </p:sp>
      <p:sp>
        <p:nvSpPr>
          <p:cNvPr id="10" name="Text 8"/>
          <p:cNvSpPr txBox="1"/>
          <p:nvPr/>
        </p:nvSpPr>
        <p:spPr>
          <a:xfrm>
            <a:off x="502920" y="3621024"/>
            <a:ext cx="2697480" cy="310896"/>
          </a:xfrm>
          <a:prstGeom prst="rect">
            <a:avLst/>
          </a:prstGeom>
          <a:noFill/>
          <a:ln/>
        </p:spPr>
        <p:txBody>
          <a:bodyPr wrap="square" lIns="0" tIns="0" rIns="0" bIns="0" rtlCol="0" anchor="ctr"/>
          <a:lstStyle/>
          <a:p>
            <a:pPr marL="0" indent="0" algn="ctr">
              <a:buNone/>
            </a:pPr>
            <a:r>
              <a:rPr lang="en-US" sz="1050" dirty="0">
                <a:solidFill>
                  <a:srgbClr val="667085"/>
                </a:solidFill>
                <a:latin typeface="Calibri" pitchFamily="34" charset="0"/>
                <a:ea typeface="Calibri" pitchFamily="34" charset="-122"/>
                <a:cs typeface="Calibri" pitchFamily="34" charset="-120"/>
              </a:rPr>
              <a:t>Total CLV</a:t>
            </a:r>
            <a:endParaRPr lang="en-US" sz="1050" dirty="0"/>
          </a:p>
        </p:txBody>
      </p:sp>
      <p:sp>
        <p:nvSpPr>
          <p:cNvPr id="11" name="Shape 9"/>
          <p:cNvSpPr/>
          <p:nvPr/>
        </p:nvSpPr>
        <p:spPr>
          <a:xfrm>
            <a:off x="3383280" y="3017520"/>
            <a:ext cx="2697480" cy="1024128"/>
          </a:xfrm>
          <a:prstGeom prst="roundRect">
            <a:avLst>
              <a:gd name="adj" fmla="val 5357"/>
            </a:avLst>
          </a:prstGeom>
          <a:solidFill>
            <a:srgbClr val="F4F6FA"/>
          </a:solidFill>
          <a:ln w="12700">
            <a:solidFill>
              <a:srgbClr val="F4F6FA"/>
            </a:solidFill>
            <a:prstDash val="solid"/>
          </a:ln>
        </p:spPr>
      </p:sp>
      <p:sp>
        <p:nvSpPr>
          <p:cNvPr id="12" name="Text 10"/>
          <p:cNvSpPr txBox="1"/>
          <p:nvPr/>
        </p:nvSpPr>
        <p:spPr>
          <a:xfrm>
            <a:off x="3383280" y="3118104"/>
            <a:ext cx="2697480" cy="457200"/>
          </a:xfrm>
          <a:prstGeom prst="rect">
            <a:avLst/>
          </a:prstGeom>
          <a:noFill/>
          <a:ln/>
        </p:spPr>
        <p:txBody>
          <a:bodyPr wrap="square" lIns="0" tIns="0" rIns="0" bIns="0" rtlCol="0" anchor="ctr"/>
          <a:lstStyle/>
          <a:p>
            <a:pPr marL="0" indent="0" algn="ctr">
              <a:buNone/>
            </a:pPr>
            <a:r>
              <a:rPr lang="en-US" sz="2500" b="1" dirty="0">
                <a:solidFill>
                  <a:srgbClr val="16264A"/>
                </a:solidFill>
                <a:latin typeface="Cambria" pitchFamily="34" charset="0"/>
                <a:ea typeface="Cambria" pitchFamily="34" charset="-122"/>
                <a:cs typeface="Cambria" pitchFamily="34" charset="-120"/>
              </a:rPr>
              <a:t>5,580</a:t>
            </a:r>
            <a:endParaRPr lang="en-US" sz="2500" dirty="0"/>
          </a:p>
        </p:txBody>
      </p:sp>
      <p:sp>
        <p:nvSpPr>
          <p:cNvPr id="13" name="Text 11"/>
          <p:cNvSpPr txBox="1"/>
          <p:nvPr/>
        </p:nvSpPr>
        <p:spPr>
          <a:xfrm>
            <a:off x="3383280" y="3621024"/>
            <a:ext cx="2697480" cy="310896"/>
          </a:xfrm>
          <a:prstGeom prst="rect">
            <a:avLst/>
          </a:prstGeom>
          <a:noFill/>
          <a:ln/>
        </p:spPr>
        <p:txBody>
          <a:bodyPr wrap="square" lIns="0" tIns="0" rIns="0" bIns="0" rtlCol="0" anchor="ctr"/>
          <a:lstStyle/>
          <a:p>
            <a:pPr marL="0" indent="0" algn="ctr">
              <a:buNone/>
            </a:pPr>
            <a:r>
              <a:rPr lang="en-US" sz="1050" dirty="0">
                <a:solidFill>
                  <a:srgbClr val="667085"/>
                </a:solidFill>
                <a:latin typeface="Calibri" pitchFamily="34" charset="0"/>
                <a:ea typeface="Calibri" pitchFamily="34" charset="-122"/>
                <a:cs typeface="Calibri" pitchFamily="34" charset="-120"/>
              </a:rPr>
              <a:t>Average CLV</a:t>
            </a:r>
            <a:endParaRPr lang="en-US" sz="1050" dirty="0"/>
          </a:p>
        </p:txBody>
      </p:sp>
      <p:sp>
        <p:nvSpPr>
          <p:cNvPr id="14" name="Shape 12"/>
          <p:cNvSpPr/>
          <p:nvPr/>
        </p:nvSpPr>
        <p:spPr>
          <a:xfrm>
            <a:off x="502920" y="4206240"/>
            <a:ext cx="2697480" cy="1024128"/>
          </a:xfrm>
          <a:prstGeom prst="roundRect">
            <a:avLst>
              <a:gd name="adj" fmla="val 5357"/>
            </a:avLst>
          </a:prstGeom>
          <a:solidFill>
            <a:srgbClr val="F4F6FA"/>
          </a:solidFill>
          <a:ln w="12700">
            <a:solidFill>
              <a:srgbClr val="F4F6FA"/>
            </a:solidFill>
            <a:prstDash val="solid"/>
          </a:ln>
        </p:spPr>
      </p:sp>
      <p:sp>
        <p:nvSpPr>
          <p:cNvPr id="15" name="Text 13"/>
          <p:cNvSpPr txBox="1"/>
          <p:nvPr/>
        </p:nvSpPr>
        <p:spPr>
          <a:xfrm>
            <a:off x="502920" y="4306824"/>
            <a:ext cx="2697480" cy="457200"/>
          </a:xfrm>
          <a:prstGeom prst="rect">
            <a:avLst/>
          </a:prstGeom>
          <a:noFill/>
          <a:ln/>
        </p:spPr>
        <p:txBody>
          <a:bodyPr wrap="square" lIns="0" tIns="0" rIns="0" bIns="0" rtlCol="0" anchor="ctr"/>
          <a:lstStyle/>
          <a:p>
            <a:pPr marL="0" indent="0" algn="ctr">
              <a:buNone/>
            </a:pPr>
            <a:r>
              <a:rPr lang="en-US" sz="2500" b="1" dirty="0">
                <a:solidFill>
                  <a:srgbClr val="16264A"/>
                </a:solidFill>
                <a:latin typeface="Cambria" pitchFamily="34" charset="0"/>
                <a:ea typeface="Cambria" pitchFamily="34" charset="-122"/>
                <a:cs typeface="Cambria" pitchFamily="34" charset="-120"/>
              </a:rPr>
              <a:t>4,178</a:t>
            </a:r>
            <a:endParaRPr lang="en-US" sz="2500" dirty="0"/>
          </a:p>
        </p:txBody>
      </p:sp>
      <p:sp>
        <p:nvSpPr>
          <p:cNvPr id="16" name="Text 14"/>
          <p:cNvSpPr txBox="1"/>
          <p:nvPr/>
        </p:nvSpPr>
        <p:spPr>
          <a:xfrm>
            <a:off x="502920" y="4809744"/>
            <a:ext cx="2697480" cy="310896"/>
          </a:xfrm>
          <a:prstGeom prst="rect">
            <a:avLst/>
          </a:prstGeom>
          <a:noFill/>
          <a:ln/>
        </p:spPr>
        <p:txBody>
          <a:bodyPr wrap="square" lIns="0" tIns="0" rIns="0" bIns="0" rtlCol="0" anchor="ctr"/>
          <a:lstStyle/>
          <a:p>
            <a:pPr marL="0" indent="0" algn="ctr">
              <a:buNone/>
            </a:pPr>
            <a:r>
              <a:rPr lang="en-US" sz="1050" dirty="0">
                <a:solidFill>
                  <a:srgbClr val="667085"/>
                </a:solidFill>
                <a:latin typeface="Calibri" pitchFamily="34" charset="0"/>
                <a:ea typeface="Calibri" pitchFamily="34" charset="-122"/>
                <a:cs typeface="Calibri" pitchFamily="34" charset="-120"/>
              </a:rPr>
              <a:t>Median CLV</a:t>
            </a:r>
            <a:endParaRPr lang="en-US" sz="1050" dirty="0"/>
          </a:p>
        </p:txBody>
      </p:sp>
      <p:sp>
        <p:nvSpPr>
          <p:cNvPr id="17" name="Shape 15"/>
          <p:cNvSpPr/>
          <p:nvPr/>
        </p:nvSpPr>
        <p:spPr>
          <a:xfrm>
            <a:off x="3383280" y="4206240"/>
            <a:ext cx="2697480" cy="1024128"/>
          </a:xfrm>
          <a:prstGeom prst="roundRect">
            <a:avLst>
              <a:gd name="adj" fmla="val 5357"/>
            </a:avLst>
          </a:prstGeom>
          <a:solidFill>
            <a:srgbClr val="F4F6FA"/>
          </a:solidFill>
          <a:ln w="12700">
            <a:solidFill>
              <a:srgbClr val="F4F6FA"/>
            </a:solidFill>
            <a:prstDash val="solid"/>
          </a:ln>
        </p:spPr>
      </p:sp>
      <p:sp>
        <p:nvSpPr>
          <p:cNvPr id="18" name="Text 16"/>
          <p:cNvSpPr txBox="1"/>
          <p:nvPr/>
        </p:nvSpPr>
        <p:spPr>
          <a:xfrm>
            <a:off x="3383280" y="4306824"/>
            <a:ext cx="2697480" cy="457200"/>
          </a:xfrm>
          <a:prstGeom prst="rect">
            <a:avLst/>
          </a:prstGeom>
          <a:noFill/>
          <a:ln/>
        </p:spPr>
        <p:txBody>
          <a:bodyPr wrap="square" lIns="0" tIns="0" rIns="0" bIns="0" rtlCol="0" anchor="ctr"/>
          <a:lstStyle/>
          <a:p>
            <a:pPr marL="0" indent="0" algn="ctr">
              <a:buNone/>
            </a:pPr>
            <a:r>
              <a:rPr lang="en-US" sz="2500" b="1" dirty="0">
                <a:solidFill>
                  <a:srgbClr val="667085"/>
                </a:solidFill>
                <a:latin typeface="Cambria" pitchFamily="34" charset="0"/>
                <a:ea typeface="Cambria" pitchFamily="34" charset="-122"/>
                <a:cs typeface="Cambria" pitchFamily="34" charset="-120"/>
              </a:rPr>
              <a:t>7.17 - 18,405</a:t>
            </a:r>
            <a:endParaRPr lang="en-US" sz="2500" dirty="0"/>
          </a:p>
        </p:txBody>
      </p:sp>
      <p:sp>
        <p:nvSpPr>
          <p:cNvPr id="19" name="Text 17"/>
          <p:cNvSpPr txBox="1"/>
          <p:nvPr/>
        </p:nvSpPr>
        <p:spPr>
          <a:xfrm>
            <a:off x="3383280" y="4809744"/>
            <a:ext cx="2697480" cy="310896"/>
          </a:xfrm>
          <a:prstGeom prst="rect">
            <a:avLst/>
          </a:prstGeom>
          <a:noFill/>
          <a:ln/>
        </p:spPr>
        <p:txBody>
          <a:bodyPr wrap="square" lIns="0" tIns="0" rIns="0" bIns="0" rtlCol="0" anchor="ctr"/>
          <a:lstStyle/>
          <a:p>
            <a:pPr marL="0" indent="0" algn="ctr">
              <a:buNone/>
            </a:pPr>
            <a:r>
              <a:rPr lang="en-US" sz="1050" dirty="0">
                <a:solidFill>
                  <a:srgbClr val="667085"/>
                </a:solidFill>
                <a:latin typeface="Calibri" pitchFamily="34" charset="0"/>
                <a:ea typeface="Calibri" pitchFamily="34" charset="-122"/>
                <a:cs typeface="Calibri" pitchFamily="34" charset="-120"/>
              </a:rPr>
              <a:t>CLV range</a:t>
            </a:r>
            <a:endParaRPr lang="en-US" sz="10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355080" y="1417320"/>
          <a:ext cx="5349240" cy="1133856"/>
        </p:xfrm>
        <a:graphic>
          <a:graphicData uri="http://schemas.openxmlformats.org/drawingml/2006/table">
            <a:tbl>
              <a:tblPr/>
              <a:tblGrid>
                <a:gridCol w="11430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283464">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CLV band</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Customers</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Total CLV</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Average CLV</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Total profit</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extLst>
                  <a:ext uri="{0D108BD9-81ED-4DB2-BD59-A6C34878D82A}">
                    <a16:rowId xmlns:a16="http://schemas.microsoft.com/office/drawing/2014/main" val="10000"/>
                  </a:ext>
                </a:extLst>
              </a:tr>
              <a:tr h="283464">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High CLV</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525</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5,744,880</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10,942.63</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608,480</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1"/>
                  </a:ext>
                </a:extLst>
              </a:tr>
              <a:tr h="283464">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Medium CLV</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540</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2,570,534</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4,760.25</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276,406</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2"/>
                  </a:ext>
                </a:extLst>
              </a:tr>
              <a:tr h="283464">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Low CLV</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525</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556,882</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1,060.73</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43,075</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1" name="Text 18"/>
          <p:cNvSpPr txBox="1"/>
          <p:nvPr/>
        </p:nvSpPr>
        <p:spPr>
          <a:xfrm>
            <a:off x="6355080" y="2606040"/>
            <a:ext cx="5349240" cy="274320"/>
          </a:xfrm>
          <a:prstGeom prst="rect">
            <a:avLst/>
          </a:prstGeom>
          <a:noFill/>
          <a:ln/>
        </p:spPr>
        <p:txBody>
          <a:bodyPr wrap="square" lIns="0" tIns="0" rIns="0" bIns="0" rtlCol="0" anchor="ctr"/>
          <a:lstStyle/>
          <a:p>
            <a:pPr marL="0" indent="0" algn="ctr">
              <a:buNone/>
            </a:pPr>
            <a:r>
              <a:rPr lang="en-US" sz="1000" i="1" dirty="0">
                <a:solidFill>
                  <a:srgbClr val="667085"/>
                </a:solidFill>
                <a:latin typeface="Calibri" pitchFamily="34" charset="0"/>
                <a:ea typeface="Calibri" pitchFamily="34" charset="-122"/>
                <a:cs typeface="Calibri" pitchFamily="34" charset="-120"/>
              </a:rPr>
              <a:t>Table 5: CLV bands split at the 33rd and 67th percentiles (Customer_CLV.xlsx)</a:t>
            </a:r>
            <a:endParaRPr lang="en-US" sz="1000" dirty="0"/>
          </a:p>
        </p:txBody>
      </p:sp>
      <p:sp>
        <p:nvSpPr>
          <p:cNvPr id="22" name="Shape 19"/>
          <p:cNvSpPr/>
          <p:nvPr/>
        </p:nvSpPr>
        <p:spPr>
          <a:xfrm>
            <a:off x="6355080" y="3017520"/>
            <a:ext cx="5349240" cy="3108960"/>
          </a:xfrm>
          <a:prstGeom prst="roundRect">
            <a:avLst>
              <a:gd name="adj" fmla="val 1765"/>
            </a:avLst>
          </a:prstGeom>
          <a:solidFill>
            <a:srgbClr val="F4F6FA"/>
          </a:solidFill>
          <a:ln w="12700">
            <a:solidFill>
              <a:srgbClr val="F4F6FA"/>
            </a:solidFill>
            <a:prstDash val="solid"/>
          </a:ln>
        </p:spPr>
      </p:sp>
      <p:sp>
        <p:nvSpPr>
          <p:cNvPr id="23" name="Text 20"/>
          <p:cNvSpPr txBox="1"/>
          <p:nvPr/>
        </p:nvSpPr>
        <p:spPr>
          <a:xfrm>
            <a:off x="6519672" y="3108960"/>
            <a:ext cx="5029200" cy="274320"/>
          </a:xfrm>
          <a:prstGeom prst="rect">
            <a:avLst/>
          </a:prstGeom>
          <a:noFill/>
          <a:ln/>
        </p:spPr>
        <p:txBody>
          <a:bodyPr wrap="square" lIns="0" tIns="0" rIns="0" bIns="0" rtlCol="0" anchor="ctr"/>
          <a:lstStyle/>
          <a:p>
            <a:pPr marL="0" indent="0">
              <a:buNone/>
            </a:pPr>
            <a:r>
              <a:rPr lang="en-US" sz="1250" b="1" dirty="0">
                <a:solidFill>
                  <a:srgbClr val="B3453C"/>
                </a:solidFill>
                <a:latin typeface="Cambria" pitchFamily="34" charset="0"/>
                <a:ea typeface="Cambria" pitchFamily="34" charset="-122"/>
                <a:cs typeface="Cambria" pitchFamily="34" charset="-120"/>
              </a:rPr>
              <a:t>Limitations of this CLV estimate</a:t>
            </a:r>
            <a:endParaRPr lang="en-US" sz="1250" dirty="0"/>
          </a:p>
        </p:txBody>
      </p:sp>
      <p:sp>
        <p:nvSpPr>
          <p:cNvPr id="24" name="Text 21"/>
          <p:cNvSpPr txBox="1"/>
          <p:nvPr/>
        </p:nvSpPr>
        <p:spPr>
          <a:xfrm>
            <a:off x="6519672" y="3401568"/>
            <a:ext cx="5029200" cy="260604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050" dirty="0">
                <a:solidFill>
                  <a:srgbClr val="1F2937"/>
                </a:solidFill>
                <a:latin typeface="Calibri" pitchFamily="34" charset="0"/>
                <a:ea typeface="Calibri" pitchFamily="34" charset="-122"/>
                <a:cs typeface="Calibri" pitchFamily="34" charset="-120"/>
              </a:rPr>
              <a:t>It is descriptive, not predictive: it summarises past behaviour and does not forecast future revenue</a:t>
            </a:r>
            <a:endParaRPr lang="en-US" sz="1050" dirty="0"/>
          </a:p>
          <a:p>
            <a:pPr marL="342900" indent="-342900">
              <a:lnSpc>
                <a:spcPts val="1700"/>
              </a:lnSpc>
              <a:spcAft>
                <a:spcPts val="700"/>
              </a:spcAft>
              <a:buSzPct val="100000"/>
              <a:buChar char="•"/>
            </a:pPr>
            <a:r>
              <a:rPr lang="en-US" sz="1050" dirty="0">
                <a:solidFill>
                  <a:srgbClr val="1F2937"/>
                </a:solidFill>
                <a:latin typeface="Calibri" pitchFamily="34" charset="0"/>
                <a:ea typeface="Calibri" pitchFamily="34" charset="-122"/>
                <a:cs typeface="Calibri" pitchFamily="34" charset="-120"/>
              </a:rPr>
              <a:t>Lifespan is derived from Recency, so a customer who has not purchased recently receives a longer assumed lifespan - this inflates the CLV of lapsed customers</a:t>
            </a:r>
            <a:endParaRPr lang="en-US" sz="1050" dirty="0"/>
          </a:p>
          <a:p>
            <a:pPr marL="342900" indent="-342900">
              <a:lnSpc>
                <a:spcPts val="1700"/>
              </a:lnSpc>
              <a:spcAft>
                <a:spcPts val="700"/>
              </a:spcAft>
              <a:buSzPct val="100000"/>
              <a:buChar char="•"/>
            </a:pPr>
            <a:r>
              <a:rPr lang="en-US" sz="1050" dirty="0">
                <a:solidFill>
                  <a:srgbClr val="1F2937"/>
                </a:solidFill>
                <a:latin typeface="Calibri" pitchFamily="34" charset="0"/>
                <a:ea typeface="Calibri" pitchFamily="34" charset="-122"/>
                <a:cs typeface="Calibri" pitchFamily="34" charset="-120"/>
              </a:rPr>
              <a:t>No churn probability, discount rate or gross-margin adjustment is applied</a:t>
            </a:r>
            <a:endParaRPr lang="en-US" sz="1050" dirty="0"/>
          </a:p>
          <a:p>
            <a:pPr marL="342900" indent="-342900">
              <a:lnSpc>
                <a:spcPts val="1700"/>
              </a:lnSpc>
              <a:spcAft>
                <a:spcPts val="700"/>
              </a:spcAft>
              <a:buSzPct val="100000"/>
              <a:buChar char="•"/>
            </a:pPr>
            <a:r>
              <a:rPr lang="en-US" sz="1050" dirty="0">
                <a:solidFill>
                  <a:srgbClr val="1F2937"/>
                </a:solidFill>
                <a:latin typeface="Calibri" pitchFamily="34" charset="0"/>
                <a:ea typeface="Calibri" pitchFamily="34" charset="-122"/>
                <a:cs typeface="Calibri" pitchFamily="34" charset="-120"/>
              </a:rPr>
              <a:t>Because AOV x Frequency reduces to Total Sales, CLV is effectively Total Sales scaled by the lifespan factor</a:t>
            </a:r>
            <a:endParaRPr lang="en-US" sz="1050" dirty="0"/>
          </a:p>
          <a:p>
            <a:pPr marL="342900" indent="-342900">
              <a:lnSpc>
                <a:spcPts val="1700"/>
              </a:lnSpc>
              <a:spcAft>
                <a:spcPts val="700"/>
              </a:spcAft>
              <a:buSzPct val="100000"/>
              <a:buChar char="•"/>
            </a:pPr>
            <a:r>
              <a:rPr lang="en-US" sz="1050" dirty="0">
                <a:solidFill>
                  <a:srgbClr val="1F2937"/>
                </a:solidFill>
                <a:latin typeface="Calibri" pitchFamily="34" charset="0"/>
                <a:ea typeface="Calibri" pitchFamily="34" charset="-122"/>
                <a:cs typeface="Calibri" pitchFamily="34" charset="-120"/>
              </a:rPr>
              <a:t>Values are based on capped Sales, so they understate true monetary value</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66928"/>
          </a:xfrm>
          <a:prstGeom prst="rect">
            <a:avLst/>
          </a:prstGeom>
          <a:noFill/>
          <a:ln/>
        </p:spPr>
        <p:txBody>
          <a:bodyPr wrap="square" lIns="0" tIns="0" rIns="0" bIns="0" rtlCol="0" anchor="ctr"/>
          <a:lstStyle/>
          <a:p>
            <a:pPr marL="0" indent="0">
              <a:buNone/>
            </a:pPr>
            <a:r>
              <a:rPr lang="en-US" sz="3000" b="1" dirty="0">
                <a:solidFill>
                  <a:srgbClr val="16264A"/>
                </a:solidFill>
                <a:latin typeface="Cambria" pitchFamily="34" charset="0"/>
                <a:ea typeface="Cambria" pitchFamily="34" charset="-122"/>
                <a:cs typeface="Cambria" pitchFamily="34" charset="-120"/>
              </a:rPr>
              <a:t>Results: Discount Scenario Analysis</a:t>
            </a:r>
            <a:endParaRPr lang="en-US" sz="3000" dirty="0"/>
          </a:p>
        </p:txBody>
      </p:sp>
      <p:sp>
        <p:nvSpPr>
          <p:cNvPr id="3" name="Text 1"/>
          <p:cNvSpPr txBox="1"/>
          <p:nvPr/>
        </p:nvSpPr>
        <p:spPr>
          <a:xfrm>
            <a:off x="502920" y="896112"/>
            <a:ext cx="11155680" cy="329184"/>
          </a:xfrm>
          <a:prstGeom prst="rect">
            <a:avLst/>
          </a:prstGeom>
          <a:noFill/>
          <a:ln/>
        </p:spPr>
        <p:txBody>
          <a:bodyPr wrap="square" lIns="0" tIns="0" rIns="0" bIns="0" rtlCol="0" anchor="ctr"/>
          <a:lstStyle/>
          <a:p>
            <a:pPr marL="0" indent="0">
              <a:buNone/>
            </a:pPr>
            <a:r>
              <a:rPr lang="en-US" sz="1300" i="1" dirty="0">
                <a:solidFill>
                  <a:srgbClr val="667085"/>
                </a:solidFill>
                <a:latin typeface="Calibri" pitchFamily="34" charset="0"/>
                <a:ea typeface="Calibri" pitchFamily="34" charset="-122"/>
                <a:cs typeface="Calibri" pitchFamily="34" charset="-120"/>
              </a:rPr>
              <a:t>Saved XGBoost model replayed on a fixed random sample of 1,000 transactions (random_state = 42)</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6400800" cy="2551176"/>
        </p:xfrm>
        <a:graphic>
          <a:graphicData uri="http://schemas.openxmlformats.org/drawingml/2006/table">
            <a:tbl>
              <a:tblPr/>
              <a:tblGrid>
                <a:gridCol w="100584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283464">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Discount</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Avg predicted sales</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Total predicted sales</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Change vs 0%</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 change</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extLst>
                  <a:ext uri="{0D108BD9-81ED-4DB2-BD59-A6C34878D82A}">
                    <a16:rowId xmlns:a16="http://schemas.microsoft.com/office/drawing/2014/main" val="10000"/>
                  </a:ext>
                </a:extLst>
              </a:tr>
              <a:tr h="283464">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180.60</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180,596.05</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baseline</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1"/>
                  </a:ext>
                </a:extLst>
              </a:tr>
              <a:tr h="283464">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180.92</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180,919.17</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+323.13</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+0.18%</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2"/>
                  </a:ext>
                </a:extLst>
              </a:tr>
              <a:tr h="283464">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180.75</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180,748.80</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+152.75</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+0.08%</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3"/>
                  </a:ext>
                </a:extLst>
              </a:tr>
              <a:tr h="283464">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179.35</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179,353.25</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-1,242.80</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-0.69%</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4"/>
                  </a:ext>
                </a:extLst>
              </a:tr>
              <a:tr h="283464">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172.54</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172,540.25</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-8,055.80</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-4.46%</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5"/>
                  </a:ext>
                </a:extLst>
              </a:tr>
              <a:tr h="283464">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171.13</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171,126.73</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-9,469.31</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-5.24%</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6"/>
                  </a:ext>
                </a:extLst>
              </a:tr>
              <a:tr h="283464">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166.86</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166,855.66</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-13,740.39</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-7.61%</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7"/>
                  </a:ext>
                </a:extLst>
              </a:tr>
              <a:tr h="283464">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50%</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159.76</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159,763.63</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-20,832.42</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-11.54%</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2"/>
          <p:cNvSpPr txBox="1"/>
          <p:nvPr/>
        </p:nvSpPr>
        <p:spPr>
          <a:xfrm>
            <a:off x="502920" y="4160520"/>
            <a:ext cx="6400800" cy="274320"/>
          </a:xfrm>
          <a:prstGeom prst="rect">
            <a:avLst/>
          </a:prstGeom>
          <a:noFill/>
          <a:ln/>
        </p:spPr>
        <p:txBody>
          <a:bodyPr wrap="square" lIns="0" tIns="0" rIns="0" bIns="0" rtlCol="0" anchor="ctr"/>
          <a:lstStyle/>
          <a:p>
            <a:pPr marL="0" indent="0" algn="ctr">
              <a:buNone/>
            </a:pPr>
            <a:r>
              <a:rPr lang="en-US" sz="1000" i="1" dirty="0">
                <a:solidFill>
                  <a:srgbClr val="667085"/>
                </a:solidFill>
                <a:latin typeface="Calibri" pitchFamily="34" charset="0"/>
                <a:ea typeface="Calibri" pitchFamily="34" charset="-122"/>
                <a:cs typeface="Calibri" pitchFamily="34" charset="-120"/>
              </a:rPr>
              <a:t>Table 6: Discount scenarios (Discount_Scenario.xlsx). 25%, 35% and 45% levels were also run and are omitted here for space.</a:t>
            </a:r>
            <a:endParaRPr lang="en-US" sz="1000" dirty="0"/>
          </a:p>
        </p:txBody>
      </p:sp>
      <p:sp>
        <p:nvSpPr>
          <p:cNvPr id="6" name="Text 3"/>
          <p:cNvSpPr txBox="1"/>
          <p:nvPr/>
        </p:nvSpPr>
        <p:spPr>
          <a:xfrm>
            <a:off x="7178040" y="1371600"/>
            <a:ext cx="4526280" cy="274320"/>
          </a:xfrm>
          <a:prstGeom prst="rect">
            <a:avLst/>
          </a:prstGeom>
          <a:noFill/>
          <a:ln/>
        </p:spPr>
        <p:txBody>
          <a:bodyPr wrap="square" lIns="0" tIns="0" rIns="0" bIns="0" rtlCol="0" anchor="t"/>
          <a:lstStyle/>
          <a:p>
            <a:pPr marL="0" indent="0">
              <a:buNone/>
            </a:pPr>
            <a:r>
              <a:rPr lang="en-US" sz="1400" b="1" dirty="0">
                <a:solidFill>
                  <a:srgbClr val="16264A"/>
                </a:solidFill>
                <a:latin typeface="Cambria" pitchFamily="34" charset="0"/>
                <a:ea typeface="Cambria" pitchFamily="34" charset="-122"/>
                <a:cs typeface="Cambria" pitchFamily="34" charset="-120"/>
              </a:rPr>
              <a:t>Reading the results</a:t>
            </a:r>
            <a:endParaRPr lang="en-US" sz="1400" dirty="0"/>
          </a:p>
        </p:txBody>
      </p:sp>
      <p:sp>
        <p:nvSpPr>
          <p:cNvPr id="7" name="Text 4"/>
          <p:cNvSpPr txBox="1"/>
          <p:nvPr/>
        </p:nvSpPr>
        <p:spPr>
          <a:xfrm>
            <a:off x="7196328" y="1682496"/>
            <a:ext cx="4489704" cy="219456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Predicted sales are broadly flat up to a 10% discount, then decline steadily</a:t>
            </a:r>
            <a:endParaRPr lang="en-US" sz="1100" dirty="0"/>
          </a:p>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The steepest single drop occurs between 15% and 20%</a:t>
            </a:r>
            <a:endParaRPr lang="en-US" sz="1100" dirty="0"/>
          </a:p>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At 50% discount, predicted sales fall about 11.5% below the zero-discount baseline</a:t>
            </a:r>
            <a:endParaRPr lang="en-US" sz="1100" dirty="0"/>
          </a:p>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The pattern is consistent with the EDA finding that deep discounts coincide with weaker outcomes</a:t>
            </a:r>
            <a:endParaRPr lang="en-US" sz="1100" dirty="0"/>
          </a:p>
        </p:txBody>
      </p:sp>
      <p:sp>
        <p:nvSpPr>
          <p:cNvPr id="8" name="Shape 5"/>
          <p:cNvSpPr/>
          <p:nvPr/>
        </p:nvSpPr>
        <p:spPr>
          <a:xfrm>
            <a:off x="7178040" y="3794760"/>
            <a:ext cx="4526280" cy="2331720"/>
          </a:xfrm>
          <a:prstGeom prst="roundRect">
            <a:avLst>
              <a:gd name="adj" fmla="val 2353"/>
            </a:avLst>
          </a:prstGeom>
          <a:solidFill>
            <a:srgbClr val="EDF1F8"/>
          </a:solidFill>
          <a:ln w="12700">
            <a:solidFill>
              <a:srgbClr val="EDF1F8"/>
            </a:solidFill>
            <a:prstDash val="solid"/>
          </a:ln>
        </p:spPr>
      </p:sp>
      <p:sp>
        <p:nvSpPr>
          <p:cNvPr id="9" name="Text 6"/>
          <p:cNvSpPr txBox="1"/>
          <p:nvPr/>
        </p:nvSpPr>
        <p:spPr>
          <a:xfrm>
            <a:off x="7342632" y="3886200"/>
            <a:ext cx="4206240" cy="274320"/>
          </a:xfrm>
          <a:prstGeom prst="rect">
            <a:avLst/>
          </a:prstGeom>
          <a:noFill/>
          <a:ln/>
        </p:spPr>
        <p:txBody>
          <a:bodyPr wrap="square" lIns="0" tIns="0" rIns="0" bIns="0" rtlCol="0" anchor="ctr"/>
          <a:lstStyle/>
          <a:p>
            <a:pPr marL="0" indent="0">
              <a:buNone/>
            </a:pPr>
            <a:r>
              <a:rPr lang="en-US" sz="1200" b="1" dirty="0">
                <a:solidFill>
                  <a:srgbClr val="B3453C"/>
                </a:solidFill>
                <a:latin typeface="Cambria" pitchFamily="34" charset="0"/>
                <a:ea typeface="Cambria" pitchFamily="34" charset="-122"/>
                <a:cs typeface="Cambria" pitchFamily="34" charset="-120"/>
              </a:rPr>
              <a:t>How to interpret this correctly</a:t>
            </a:r>
            <a:endParaRPr lang="en-US" sz="1200" dirty="0"/>
          </a:p>
        </p:txBody>
      </p:sp>
      <p:sp>
        <p:nvSpPr>
          <p:cNvPr id="10" name="Text 7"/>
          <p:cNvSpPr txBox="1"/>
          <p:nvPr/>
        </p:nvSpPr>
        <p:spPr>
          <a:xfrm>
            <a:off x="7342632" y="4187952"/>
            <a:ext cx="4206240" cy="1828800"/>
          </a:xfrm>
          <a:prstGeom prst="rect">
            <a:avLst/>
          </a:prstGeom>
          <a:noFill/>
          <a:ln/>
        </p:spPr>
        <p:txBody>
          <a:bodyPr wrap="square" lIns="0" tIns="0" rIns="0" bIns="0" rtlCol="0" anchor="ctr"/>
          <a:lstStyle/>
          <a:p>
            <a:pPr marL="0" indent="0">
              <a:lnSpc>
                <a:spcPts val="1400"/>
              </a:lnSpc>
              <a:buNone/>
            </a:pPr>
            <a:r>
              <a:rPr lang="en-US" sz="1050" dirty="0">
                <a:solidFill>
                  <a:srgbClr val="1F2937"/>
                </a:solidFill>
                <a:latin typeface="Calibri" pitchFamily="34" charset="0"/>
                <a:ea typeface="Calibri" pitchFamily="34" charset="-122"/>
                <a:cs typeface="Calibri" pitchFamily="34" charset="-120"/>
              </a:rPr>
              <a:t>These are model outputs, not experimental results. The model learned associations in historical data where deeper discounts tended to appear on particular products and orders. Changing the Discount field shows what the model predicts for otherwise identical records - it does not establish that lowering discounts would cause sales to rise.</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66928"/>
          </a:xfrm>
          <a:prstGeom prst="rect">
            <a:avLst/>
          </a:prstGeom>
          <a:noFill/>
          <a:ln/>
        </p:spPr>
        <p:txBody>
          <a:bodyPr wrap="square" lIns="0" tIns="0" rIns="0" bIns="0" rtlCol="0" anchor="ctr"/>
          <a:lstStyle/>
          <a:p>
            <a:pPr marL="0" indent="0">
              <a:buNone/>
            </a:pPr>
            <a:r>
              <a:rPr lang="en-US" sz="3000" b="1" dirty="0">
                <a:solidFill>
                  <a:srgbClr val="16264A"/>
                </a:solidFill>
                <a:latin typeface="Cambria" pitchFamily="34" charset="0"/>
                <a:ea typeface="Cambria" pitchFamily="34" charset="-122"/>
                <a:cs typeface="Cambria" pitchFamily="34" charset="-120"/>
              </a:rPr>
              <a:t>Results: Quantity Scenario Analysis</a:t>
            </a:r>
            <a:endParaRPr lang="en-US" sz="3000" dirty="0"/>
          </a:p>
        </p:txBody>
      </p:sp>
      <p:sp>
        <p:nvSpPr>
          <p:cNvPr id="3" name="Text 1"/>
          <p:cNvSpPr txBox="1"/>
          <p:nvPr/>
        </p:nvSpPr>
        <p:spPr>
          <a:xfrm>
            <a:off x="502920" y="896112"/>
            <a:ext cx="11155680" cy="329184"/>
          </a:xfrm>
          <a:prstGeom prst="rect">
            <a:avLst/>
          </a:prstGeom>
          <a:noFill/>
          <a:ln/>
        </p:spPr>
        <p:txBody>
          <a:bodyPr wrap="square" lIns="0" tIns="0" rIns="0" bIns="0" rtlCol="0" anchor="ctr"/>
          <a:lstStyle/>
          <a:p>
            <a:pPr marL="0" indent="0">
              <a:buNone/>
            </a:pPr>
            <a:r>
              <a:rPr lang="en-US" sz="1300" i="1" dirty="0">
                <a:solidFill>
                  <a:srgbClr val="667085"/>
                </a:solidFill>
                <a:latin typeface="Calibri" pitchFamily="34" charset="0"/>
                <a:ea typeface="Calibri" pitchFamily="34" charset="-122"/>
                <a:cs typeface="Calibri" pitchFamily="34" charset="-120"/>
              </a:rPr>
              <a:t>Same 1,000-row sample and same saved model; baseline is the model's prediction on unmodified rows</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6400800" cy="2834640"/>
        </p:xfrm>
        <a:graphic>
          <a:graphicData uri="http://schemas.openxmlformats.org/drawingml/2006/table">
            <a:tbl>
              <a:tblPr/>
              <a:tblGrid>
                <a:gridCol w="100584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283464">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Quantity</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Avg predicted sales</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Total predicted sales</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Change vs baseline</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 change</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6264A"/>
                    </a:solidFill>
                  </a:tcPr>
                </a:tc>
                <a:extLst>
                  <a:ext uri="{0D108BD9-81ED-4DB2-BD59-A6C34878D82A}">
                    <a16:rowId xmlns:a16="http://schemas.microsoft.com/office/drawing/2014/main" val="10000"/>
                  </a:ext>
                </a:extLst>
              </a:tr>
              <a:tr h="283464">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152.64</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152,644.53</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-22,720.84</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-12.96%</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1"/>
                  </a:ext>
                </a:extLst>
              </a:tr>
              <a:tr h="283464">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165.06</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165,062.94</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-10,302.44</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-5.87%</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2"/>
                  </a:ext>
                </a:extLst>
              </a:tr>
              <a:tr h="283464">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175.04</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175,036.08</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-329.30</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-0.19%</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3"/>
                  </a:ext>
                </a:extLst>
              </a:tr>
              <a:tr h="283464">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185.24</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185,236.00</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+9,870.62</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+5.63%</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4"/>
                  </a:ext>
                </a:extLst>
              </a:tr>
              <a:tr h="283464">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192.41</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192,406.42</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+17,041.05</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+9.72%</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5"/>
                  </a:ext>
                </a:extLst>
              </a:tr>
              <a:tr h="283464">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197.82</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197,822.50</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+22,457.12</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+12.81%</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6"/>
                  </a:ext>
                </a:extLst>
              </a:tr>
              <a:tr h="283464">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208.06</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208,056.84</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+32,691.47</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+18.64%</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7"/>
                  </a:ext>
                </a:extLst>
              </a:tr>
              <a:tr h="283464">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221.86</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221,856.38</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+46,491.00</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+26.51%</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8"/>
                  </a:ext>
                </a:extLst>
              </a:tr>
              <a:tr h="283464">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221.86</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221,856.38</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+46,491.00</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tc>
                  <a:txBody>
                    <a:bodyPr/>
                    <a:lstStyle/>
                    <a:p>
                      <a:pPr marL="0" indent="0" algn="ctr">
                        <a:buNone/>
                      </a:pPr>
                      <a:r>
                        <a:rPr lang="en-US" sz="1000" dirty="0">
                          <a:solidFill>
                            <a:srgbClr val="1F2937"/>
                          </a:solidFill>
                          <a:latin typeface="Calibri" pitchFamily="34" charset="0"/>
                          <a:ea typeface="Calibri" pitchFamily="34" charset="-122"/>
                          <a:cs typeface="Calibri" pitchFamily="34" charset="-120"/>
                        </a:rPr>
                        <a:t>+26.51%</a:t>
                      </a:r>
                      <a:endParaRPr lang="en-US" sz="1000" dirty="0">
                        <a:latin typeface="Calibri" charset="0"/>
                        <a:ea typeface="Calibri" charset="0"/>
                        <a:cs typeface="Calibri" charset="0"/>
                      </a:endParaRPr>
                    </a:p>
                  </a:txBody>
                  <a:tcPr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5" name="Text 2"/>
          <p:cNvSpPr txBox="1"/>
          <p:nvPr/>
        </p:nvSpPr>
        <p:spPr>
          <a:xfrm>
            <a:off x="502920" y="4434840"/>
            <a:ext cx="6400800" cy="274320"/>
          </a:xfrm>
          <a:prstGeom prst="rect">
            <a:avLst/>
          </a:prstGeom>
          <a:noFill/>
          <a:ln/>
        </p:spPr>
        <p:txBody>
          <a:bodyPr wrap="square" lIns="0" tIns="0" rIns="0" bIns="0" rtlCol="0" anchor="ctr"/>
          <a:lstStyle/>
          <a:p>
            <a:pPr marL="0" indent="0" algn="ctr">
              <a:buNone/>
            </a:pPr>
            <a:r>
              <a:rPr lang="en-US" sz="1000" i="1" dirty="0">
                <a:solidFill>
                  <a:srgbClr val="667085"/>
                </a:solidFill>
                <a:latin typeface="Calibri" pitchFamily="34" charset="0"/>
                <a:ea typeface="Calibri" pitchFamily="34" charset="-122"/>
                <a:cs typeface="Calibri" pitchFamily="34" charset="-120"/>
              </a:rPr>
              <a:t>Table 7: Quantity scenarios (Quantity_Scenario.xlsx)</a:t>
            </a:r>
            <a:endParaRPr lang="en-US" sz="1000" dirty="0"/>
          </a:p>
        </p:txBody>
      </p:sp>
      <p:sp>
        <p:nvSpPr>
          <p:cNvPr id="6" name="Text 3"/>
          <p:cNvSpPr txBox="1"/>
          <p:nvPr/>
        </p:nvSpPr>
        <p:spPr>
          <a:xfrm>
            <a:off x="7178040" y="1371600"/>
            <a:ext cx="4526280" cy="274320"/>
          </a:xfrm>
          <a:prstGeom prst="rect">
            <a:avLst/>
          </a:prstGeom>
          <a:noFill/>
          <a:ln/>
        </p:spPr>
        <p:txBody>
          <a:bodyPr wrap="square" lIns="0" tIns="0" rIns="0" bIns="0" rtlCol="0" anchor="t"/>
          <a:lstStyle/>
          <a:p>
            <a:pPr marL="0" indent="0">
              <a:buNone/>
            </a:pPr>
            <a:r>
              <a:rPr lang="en-US" sz="1400" b="1" dirty="0">
                <a:solidFill>
                  <a:srgbClr val="16264A"/>
                </a:solidFill>
                <a:latin typeface="Cambria" pitchFamily="34" charset="0"/>
                <a:ea typeface="Cambria" pitchFamily="34" charset="-122"/>
                <a:cs typeface="Cambria" pitchFamily="34" charset="-120"/>
              </a:rPr>
              <a:t>Observations</a:t>
            </a:r>
            <a:endParaRPr lang="en-US" sz="1400" dirty="0"/>
          </a:p>
        </p:txBody>
      </p:sp>
      <p:sp>
        <p:nvSpPr>
          <p:cNvPr id="7" name="Text 4"/>
          <p:cNvSpPr txBox="1"/>
          <p:nvPr/>
        </p:nvSpPr>
        <p:spPr>
          <a:xfrm>
            <a:off x="7196328" y="1682496"/>
            <a:ext cx="4489704" cy="146304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Predicted sales rise monotonically with quantity, as expected for a revenue-like target</a:t>
            </a:r>
            <a:endParaRPr lang="en-US" sz="1100" dirty="0"/>
          </a:p>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The crossover point sits near quantity 3, close to the sample's typical basket size</a:t>
            </a:r>
            <a:endParaRPr lang="en-US" sz="1100" dirty="0"/>
          </a:p>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Predictions at quantity 10 and quantity 12 are identical to the last decimal</a:t>
            </a:r>
            <a:endParaRPr lang="en-US" sz="1100" dirty="0"/>
          </a:p>
        </p:txBody>
      </p:sp>
      <p:sp>
        <p:nvSpPr>
          <p:cNvPr id="8" name="Shape 5"/>
          <p:cNvSpPr/>
          <p:nvPr/>
        </p:nvSpPr>
        <p:spPr>
          <a:xfrm>
            <a:off x="7178040" y="3063240"/>
            <a:ext cx="4526280" cy="3063240"/>
          </a:xfrm>
          <a:prstGeom prst="roundRect">
            <a:avLst>
              <a:gd name="adj" fmla="val 1791"/>
            </a:avLst>
          </a:prstGeom>
          <a:solidFill>
            <a:srgbClr val="EDF1F8"/>
          </a:solidFill>
          <a:ln w="12700">
            <a:solidFill>
              <a:srgbClr val="EDF1F8"/>
            </a:solidFill>
            <a:prstDash val="solid"/>
          </a:ln>
        </p:spPr>
      </p:sp>
      <p:sp>
        <p:nvSpPr>
          <p:cNvPr id="9" name="Text 6"/>
          <p:cNvSpPr txBox="1"/>
          <p:nvPr/>
        </p:nvSpPr>
        <p:spPr>
          <a:xfrm>
            <a:off x="7342632" y="3154680"/>
            <a:ext cx="4206240" cy="274320"/>
          </a:xfrm>
          <a:prstGeom prst="rect">
            <a:avLst/>
          </a:prstGeom>
          <a:noFill/>
          <a:ln/>
        </p:spPr>
        <p:txBody>
          <a:bodyPr wrap="square" lIns="0" tIns="0" rIns="0" bIns="0" rtlCol="0" anchor="ctr"/>
          <a:lstStyle/>
          <a:p>
            <a:pPr marL="0" indent="0">
              <a:buNone/>
            </a:pPr>
            <a:r>
              <a:rPr lang="en-US" sz="1200" b="1" dirty="0">
                <a:solidFill>
                  <a:srgbClr val="B3453C"/>
                </a:solidFill>
                <a:latin typeface="Cambria" pitchFamily="34" charset="0"/>
                <a:ea typeface="Cambria" pitchFamily="34" charset="-122"/>
                <a:cs typeface="Cambria" pitchFamily="34" charset="-120"/>
              </a:rPr>
              <a:t>Why 10 and 12 match</a:t>
            </a:r>
            <a:endParaRPr lang="en-US" sz="1200" dirty="0"/>
          </a:p>
        </p:txBody>
      </p:sp>
      <p:sp>
        <p:nvSpPr>
          <p:cNvPr id="10" name="Text 7"/>
          <p:cNvSpPr txBox="1"/>
          <p:nvPr/>
        </p:nvSpPr>
        <p:spPr>
          <a:xfrm>
            <a:off x="7342632" y="3456432"/>
            <a:ext cx="4206240" cy="2423160"/>
          </a:xfrm>
          <a:prstGeom prst="rect">
            <a:avLst/>
          </a:prstGeom>
          <a:noFill/>
          <a:ln/>
        </p:spPr>
        <p:txBody>
          <a:bodyPr wrap="square" lIns="0" tIns="0" rIns="0" bIns="0" rtlCol="0" anchor="ctr"/>
          <a:lstStyle/>
          <a:p>
            <a:pPr marL="0" indent="0">
              <a:lnSpc>
                <a:spcPts val="1400"/>
              </a:lnSpc>
              <a:buNone/>
            </a:pPr>
            <a:r>
              <a:rPr lang="en-US" sz="1050" dirty="0">
                <a:solidFill>
                  <a:srgbClr val="1F2937"/>
                </a:solidFill>
                <a:latin typeface="Calibri" pitchFamily="34" charset="0"/>
                <a:ea typeface="Calibri" pitchFamily="34" charset="-122"/>
                <a:cs typeface="Calibri" pitchFamily="34" charset="-120"/>
              </a:rPr>
              <a:t>Both values fall in the same 'High Quantity' bucket and, more importantly, the gradient-boosted trees split on Quantity only at thresholds observed during training. Quantity was IQR-capped during preprocessing, so the model has no split points beyond that cap and returns a constant prediction above it. This is a saturation artefact of the model, not evidence that sales plateau at ten units.</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66928"/>
          </a:xfrm>
          <a:prstGeom prst="rect">
            <a:avLst/>
          </a:prstGeom>
          <a:noFill/>
          <a:ln/>
        </p:spPr>
        <p:txBody>
          <a:bodyPr wrap="square" lIns="0" tIns="0" rIns="0" bIns="0" rtlCol="0" anchor="ctr"/>
          <a:lstStyle/>
          <a:p>
            <a:pPr marL="0" indent="0">
              <a:buNone/>
            </a:pPr>
            <a:r>
              <a:rPr lang="en-US" sz="3000" b="1" dirty="0">
                <a:solidFill>
                  <a:srgbClr val="16264A"/>
                </a:solidFill>
                <a:latin typeface="Cambria" pitchFamily="34" charset="0"/>
                <a:ea typeface="Cambria" pitchFamily="34" charset="-122"/>
                <a:cs typeface="Cambria" pitchFamily="34" charset="-120"/>
              </a:rPr>
              <a:t>Power BI Dashboard: Structure</a:t>
            </a:r>
            <a:endParaRPr lang="en-US" sz="3000" dirty="0"/>
          </a:p>
        </p:txBody>
      </p:sp>
      <p:sp>
        <p:nvSpPr>
          <p:cNvPr id="3" name="Text 1"/>
          <p:cNvSpPr txBox="1"/>
          <p:nvPr/>
        </p:nvSpPr>
        <p:spPr>
          <a:xfrm>
            <a:off x="502920" y="896112"/>
            <a:ext cx="11155680" cy="329184"/>
          </a:xfrm>
          <a:prstGeom prst="rect">
            <a:avLst/>
          </a:prstGeom>
          <a:noFill/>
          <a:ln/>
        </p:spPr>
        <p:txBody>
          <a:bodyPr wrap="square" lIns="0" tIns="0" rIns="0" bIns="0" rtlCol="0" anchor="ctr"/>
          <a:lstStyle/>
          <a:p>
            <a:pPr marL="0" indent="0">
              <a:buNone/>
            </a:pPr>
            <a:r>
              <a:rPr lang="en-US" sz="1300" i="1" dirty="0">
                <a:solidFill>
                  <a:srgbClr val="667085"/>
                </a:solidFill>
                <a:latin typeface="Calibri" pitchFamily="34" charset="0"/>
                <a:ea typeface="Calibri" pitchFamily="34" charset="-122"/>
                <a:cs typeface="Calibri" pitchFamily="34" charset="-120"/>
              </a:rPr>
              <a:t>Six report pages at 1920 x 1080; structure extracted from the .pbix report definition</a:t>
            </a:r>
            <a:endParaRPr lang="en-US" sz="1300" dirty="0"/>
          </a:p>
        </p:txBody>
      </p:sp>
      <p:sp>
        <p:nvSpPr>
          <p:cNvPr id="4" name="Shape 2"/>
          <p:cNvSpPr/>
          <p:nvPr/>
        </p:nvSpPr>
        <p:spPr>
          <a:xfrm>
            <a:off x="502920" y="1371600"/>
            <a:ext cx="5541264" cy="1097280"/>
          </a:xfrm>
          <a:prstGeom prst="roundRect">
            <a:avLst>
              <a:gd name="adj" fmla="val 5000"/>
            </a:avLst>
          </a:prstGeom>
          <a:solidFill>
            <a:srgbClr val="F4F6FA"/>
          </a:solidFill>
          <a:ln w="12700">
            <a:solidFill>
              <a:srgbClr val="F4F6FA"/>
            </a:solidFill>
            <a:prstDash val="solid"/>
          </a:ln>
        </p:spPr>
      </p:sp>
      <p:sp>
        <p:nvSpPr>
          <p:cNvPr id="5" name="Shape 3"/>
          <p:cNvSpPr/>
          <p:nvPr/>
        </p:nvSpPr>
        <p:spPr>
          <a:xfrm>
            <a:off x="649224" y="1719072"/>
            <a:ext cx="402336" cy="402336"/>
          </a:xfrm>
          <a:prstGeom prst="ellipse">
            <a:avLst/>
          </a:prstGeom>
          <a:solidFill>
            <a:srgbClr val="16264A"/>
          </a:solidFill>
          <a:ln w="12700">
            <a:solidFill>
              <a:srgbClr val="16264A"/>
            </a:solidFill>
            <a:prstDash val="solid"/>
          </a:ln>
        </p:spPr>
      </p:sp>
      <p:sp>
        <p:nvSpPr>
          <p:cNvPr id="6" name="Text 4"/>
          <p:cNvSpPr txBox="1"/>
          <p:nvPr/>
        </p:nvSpPr>
        <p:spPr>
          <a:xfrm>
            <a:off x="649224" y="1719072"/>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179576" y="1481328"/>
            <a:ext cx="3200400" cy="274320"/>
          </a:xfrm>
          <a:prstGeom prst="rect">
            <a:avLst/>
          </a:prstGeom>
          <a:noFill/>
          <a:ln/>
        </p:spPr>
        <p:txBody>
          <a:bodyPr wrap="square" lIns="0" tIns="0" rIns="0" bIns="0" rtlCol="0" anchor="ctr"/>
          <a:lstStyle/>
          <a:p>
            <a:pPr marL="0" indent="0">
              <a:buNone/>
            </a:pPr>
            <a:r>
              <a:rPr lang="en-US" sz="1250" b="1" dirty="0">
                <a:solidFill>
                  <a:srgbClr val="16264A"/>
                </a:solidFill>
                <a:latin typeface="Cambria" pitchFamily="34" charset="0"/>
                <a:ea typeface="Cambria" pitchFamily="34" charset="-122"/>
                <a:cs typeface="Cambria" pitchFamily="34" charset="-120"/>
              </a:rPr>
              <a:t>Overview</a:t>
            </a:r>
            <a:endParaRPr lang="en-US" sz="1250" dirty="0"/>
          </a:p>
        </p:txBody>
      </p:sp>
      <p:sp>
        <p:nvSpPr>
          <p:cNvPr id="8" name="Text 6"/>
          <p:cNvSpPr txBox="1"/>
          <p:nvPr/>
        </p:nvSpPr>
        <p:spPr>
          <a:xfrm>
            <a:off x="4434840" y="1499616"/>
            <a:ext cx="1463040" cy="237744"/>
          </a:xfrm>
          <a:prstGeom prst="rect">
            <a:avLst/>
          </a:prstGeom>
          <a:noFill/>
          <a:ln/>
        </p:spPr>
        <p:txBody>
          <a:bodyPr wrap="square" lIns="0" tIns="0" rIns="0" bIns="0" rtlCol="0" anchor="ctr"/>
          <a:lstStyle/>
          <a:p>
            <a:pPr marL="0" indent="0" algn="r">
              <a:buNone/>
            </a:pPr>
            <a:r>
              <a:rPr lang="en-US" sz="950" b="1" dirty="0">
                <a:solidFill>
                  <a:srgbClr val="E8A33D"/>
                </a:solidFill>
                <a:latin typeface="Calibri" pitchFamily="34" charset="0"/>
                <a:ea typeface="Calibri" pitchFamily="34" charset="-122"/>
                <a:cs typeface="Calibri" pitchFamily="34" charset="-120"/>
              </a:rPr>
              <a:t>10 visuals</a:t>
            </a:r>
            <a:endParaRPr lang="en-US" sz="950" dirty="0"/>
          </a:p>
        </p:txBody>
      </p:sp>
      <p:sp>
        <p:nvSpPr>
          <p:cNvPr id="9" name="Text 7"/>
          <p:cNvSpPr txBox="1"/>
          <p:nvPr/>
        </p:nvSpPr>
        <p:spPr>
          <a:xfrm>
            <a:off x="1179576" y="1773936"/>
            <a:ext cx="4718304" cy="603504"/>
          </a:xfrm>
          <a:prstGeom prst="rect">
            <a:avLst/>
          </a:prstGeom>
          <a:noFill/>
          <a:ln/>
        </p:spPr>
        <p:txBody>
          <a:bodyPr wrap="square" lIns="0" tIns="0" rIns="0" bIns="0" rtlCol="0" anchor="ctr"/>
          <a:lstStyle/>
          <a:p>
            <a:pPr marL="0" indent="0">
              <a:lnSpc>
                <a:spcPts val="1200"/>
              </a:lnSpc>
              <a:buNone/>
            </a:pPr>
            <a:r>
              <a:rPr lang="en-US" sz="950" dirty="0">
                <a:solidFill>
                  <a:srgbClr val="1F2937"/>
                </a:solidFill>
                <a:latin typeface="Calibri" pitchFamily="34" charset="0"/>
                <a:ea typeface="Calibri" pitchFamily="34" charset="-122"/>
                <a:cs typeface="Calibri" pitchFamily="34" charset="-120"/>
              </a:rPr>
              <a:t>4 KPI cards, sales trend line, sales by region and category, three slicers</a:t>
            </a:r>
            <a:endParaRPr lang="en-US" sz="950" dirty="0"/>
          </a:p>
        </p:txBody>
      </p:sp>
      <p:sp>
        <p:nvSpPr>
          <p:cNvPr id="10" name="Shape 8"/>
          <p:cNvSpPr/>
          <p:nvPr/>
        </p:nvSpPr>
        <p:spPr>
          <a:xfrm>
            <a:off x="6281928" y="1371600"/>
            <a:ext cx="5541264" cy="1097280"/>
          </a:xfrm>
          <a:prstGeom prst="roundRect">
            <a:avLst>
              <a:gd name="adj" fmla="val 5000"/>
            </a:avLst>
          </a:prstGeom>
          <a:solidFill>
            <a:srgbClr val="F4F6FA"/>
          </a:solidFill>
          <a:ln w="12700">
            <a:solidFill>
              <a:srgbClr val="F4F6FA"/>
            </a:solidFill>
            <a:prstDash val="solid"/>
          </a:ln>
        </p:spPr>
      </p:sp>
      <p:sp>
        <p:nvSpPr>
          <p:cNvPr id="11" name="Shape 9"/>
          <p:cNvSpPr/>
          <p:nvPr/>
        </p:nvSpPr>
        <p:spPr>
          <a:xfrm>
            <a:off x="6428232" y="1719072"/>
            <a:ext cx="402336" cy="402336"/>
          </a:xfrm>
          <a:prstGeom prst="ellipse">
            <a:avLst/>
          </a:prstGeom>
          <a:solidFill>
            <a:srgbClr val="16264A"/>
          </a:solidFill>
          <a:ln w="12700">
            <a:solidFill>
              <a:srgbClr val="16264A"/>
            </a:solidFill>
            <a:prstDash val="solid"/>
          </a:ln>
        </p:spPr>
      </p:sp>
      <p:sp>
        <p:nvSpPr>
          <p:cNvPr id="12" name="Text 10"/>
          <p:cNvSpPr txBox="1"/>
          <p:nvPr/>
        </p:nvSpPr>
        <p:spPr>
          <a:xfrm>
            <a:off x="6428232" y="1719072"/>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6958584" y="1481328"/>
            <a:ext cx="3200400" cy="274320"/>
          </a:xfrm>
          <a:prstGeom prst="rect">
            <a:avLst/>
          </a:prstGeom>
          <a:noFill/>
          <a:ln/>
        </p:spPr>
        <p:txBody>
          <a:bodyPr wrap="square" lIns="0" tIns="0" rIns="0" bIns="0" rtlCol="0" anchor="ctr"/>
          <a:lstStyle/>
          <a:p>
            <a:pPr marL="0" indent="0">
              <a:buNone/>
            </a:pPr>
            <a:r>
              <a:rPr lang="en-US" sz="1250" b="1" dirty="0">
                <a:solidFill>
                  <a:srgbClr val="16264A"/>
                </a:solidFill>
                <a:latin typeface="Cambria" pitchFamily="34" charset="0"/>
                <a:ea typeface="Cambria" pitchFamily="34" charset="-122"/>
                <a:cs typeface="Cambria" pitchFamily="34" charset="-120"/>
              </a:rPr>
              <a:t>Product &amp; Profit Analysis</a:t>
            </a:r>
            <a:endParaRPr lang="en-US" sz="1250" dirty="0"/>
          </a:p>
        </p:txBody>
      </p:sp>
      <p:sp>
        <p:nvSpPr>
          <p:cNvPr id="14" name="Text 12"/>
          <p:cNvSpPr txBox="1"/>
          <p:nvPr/>
        </p:nvSpPr>
        <p:spPr>
          <a:xfrm>
            <a:off x="10213848" y="1499616"/>
            <a:ext cx="1463040" cy="237744"/>
          </a:xfrm>
          <a:prstGeom prst="rect">
            <a:avLst/>
          </a:prstGeom>
          <a:noFill/>
          <a:ln/>
        </p:spPr>
        <p:txBody>
          <a:bodyPr wrap="square" lIns="0" tIns="0" rIns="0" bIns="0" rtlCol="0" anchor="ctr"/>
          <a:lstStyle/>
          <a:p>
            <a:pPr marL="0" indent="0" algn="r">
              <a:buNone/>
            </a:pPr>
            <a:r>
              <a:rPr lang="en-US" sz="950" b="1" dirty="0">
                <a:solidFill>
                  <a:srgbClr val="E8A33D"/>
                </a:solidFill>
                <a:latin typeface="Calibri" pitchFamily="34" charset="0"/>
                <a:ea typeface="Calibri" pitchFamily="34" charset="-122"/>
                <a:cs typeface="Calibri" pitchFamily="34" charset="-120"/>
              </a:rPr>
              <a:t>5 visuals</a:t>
            </a:r>
            <a:endParaRPr lang="en-US" sz="950" dirty="0"/>
          </a:p>
        </p:txBody>
      </p:sp>
      <p:sp>
        <p:nvSpPr>
          <p:cNvPr id="15" name="Text 13"/>
          <p:cNvSpPr txBox="1"/>
          <p:nvPr/>
        </p:nvSpPr>
        <p:spPr>
          <a:xfrm>
            <a:off x="6958584" y="1773936"/>
            <a:ext cx="4718304" cy="603504"/>
          </a:xfrm>
          <a:prstGeom prst="rect">
            <a:avLst/>
          </a:prstGeom>
          <a:noFill/>
          <a:ln/>
        </p:spPr>
        <p:txBody>
          <a:bodyPr wrap="square" lIns="0" tIns="0" rIns="0" bIns="0" rtlCol="0" anchor="ctr"/>
          <a:lstStyle/>
          <a:p>
            <a:pPr marL="0" indent="0">
              <a:lnSpc>
                <a:spcPts val="1200"/>
              </a:lnSpc>
              <a:buNone/>
            </a:pPr>
            <a:r>
              <a:rPr lang="en-US" sz="950" dirty="0">
                <a:solidFill>
                  <a:srgbClr val="1F2937"/>
                </a:solidFill>
                <a:latin typeface="Calibri" pitchFamily="34" charset="0"/>
                <a:ea typeface="Calibri" pitchFamily="34" charset="-122"/>
                <a:cs typeface="Calibri" pitchFamily="34" charset="-120"/>
              </a:rPr>
              <a:t>Profit by category, sub-category and region; sales by sub-category and ship mode</a:t>
            </a:r>
            <a:endParaRPr lang="en-US" sz="950" dirty="0"/>
          </a:p>
        </p:txBody>
      </p:sp>
      <p:sp>
        <p:nvSpPr>
          <p:cNvPr id="16" name="Shape 14"/>
          <p:cNvSpPr/>
          <p:nvPr/>
        </p:nvSpPr>
        <p:spPr>
          <a:xfrm>
            <a:off x="502920" y="2578608"/>
            <a:ext cx="5541264" cy="1097280"/>
          </a:xfrm>
          <a:prstGeom prst="roundRect">
            <a:avLst>
              <a:gd name="adj" fmla="val 5000"/>
            </a:avLst>
          </a:prstGeom>
          <a:solidFill>
            <a:srgbClr val="F4F6FA"/>
          </a:solidFill>
          <a:ln w="12700">
            <a:solidFill>
              <a:srgbClr val="F4F6FA"/>
            </a:solidFill>
            <a:prstDash val="solid"/>
          </a:ln>
        </p:spPr>
      </p:sp>
      <p:sp>
        <p:nvSpPr>
          <p:cNvPr id="17" name="Shape 15"/>
          <p:cNvSpPr/>
          <p:nvPr/>
        </p:nvSpPr>
        <p:spPr>
          <a:xfrm>
            <a:off x="649224" y="2926080"/>
            <a:ext cx="402336" cy="402336"/>
          </a:xfrm>
          <a:prstGeom prst="ellipse">
            <a:avLst/>
          </a:prstGeom>
          <a:solidFill>
            <a:srgbClr val="16264A"/>
          </a:solidFill>
          <a:ln w="12700">
            <a:solidFill>
              <a:srgbClr val="16264A"/>
            </a:solidFill>
            <a:prstDash val="solid"/>
          </a:ln>
        </p:spPr>
      </p:sp>
      <p:sp>
        <p:nvSpPr>
          <p:cNvPr id="18" name="Text 16"/>
          <p:cNvSpPr txBox="1"/>
          <p:nvPr/>
        </p:nvSpPr>
        <p:spPr>
          <a:xfrm>
            <a:off x="649224" y="2926080"/>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179576" y="2688336"/>
            <a:ext cx="3200400" cy="274320"/>
          </a:xfrm>
          <a:prstGeom prst="rect">
            <a:avLst/>
          </a:prstGeom>
          <a:noFill/>
          <a:ln/>
        </p:spPr>
        <p:txBody>
          <a:bodyPr wrap="square" lIns="0" tIns="0" rIns="0" bIns="0" rtlCol="0" anchor="ctr"/>
          <a:lstStyle/>
          <a:p>
            <a:pPr marL="0" indent="0">
              <a:buNone/>
            </a:pPr>
            <a:r>
              <a:rPr lang="en-US" sz="1250" b="1" dirty="0">
                <a:solidFill>
                  <a:srgbClr val="16264A"/>
                </a:solidFill>
                <a:latin typeface="Cambria" pitchFamily="34" charset="0"/>
                <a:ea typeface="Cambria" pitchFamily="34" charset="-122"/>
                <a:cs typeface="Cambria" pitchFamily="34" charset="-120"/>
              </a:rPr>
              <a:t>Customer Intelligence</a:t>
            </a:r>
            <a:endParaRPr lang="en-US" sz="1250" dirty="0"/>
          </a:p>
        </p:txBody>
      </p:sp>
      <p:sp>
        <p:nvSpPr>
          <p:cNvPr id="20" name="Text 18"/>
          <p:cNvSpPr txBox="1"/>
          <p:nvPr/>
        </p:nvSpPr>
        <p:spPr>
          <a:xfrm>
            <a:off x="4434840" y="2706624"/>
            <a:ext cx="1463040" cy="237744"/>
          </a:xfrm>
          <a:prstGeom prst="rect">
            <a:avLst/>
          </a:prstGeom>
          <a:noFill/>
          <a:ln/>
        </p:spPr>
        <p:txBody>
          <a:bodyPr wrap="square" lIns="0" tIns="0" rIns="0" bIns="0" rtlCol="0" anchor="ctr"/>
          <a:lstStyle/>
          <a:p>
            <a:pPr marL="0" indent="0" algn="r">
              <a:buNone/>
            </a:pPr>
            <a:r>
              <a:rPr lang="en-US" sz="950" b="1" dirty="0">
                <a:solidFill>
                  <a:srgbClr val="E8A33D"/>
                </a:solidFill>
                <a:latin typeface="Calibri" pitchFamily="34" charset="0"/>
                <a:ea typeface="Calibri" pitchFamily="34" charset="-122"/>
                <a:cs typeface="Calibri" pitchFamily="34" charset="-120"/>
              </a:rPr>
              <a:t>6 visuals</a:t>
            </a:r>
            <a:endParaRPr lang="en-US" sz="950" dirty="0"/>
          </a:p>
        </p:txBody>
      </p:sp>
      <p:sp>
        <p:nvSpPr>
          <p:cNvPr id="21" name="Text 19"/>
          <p:cNvSpPr txBox="1"/>
          <p:nvPr/>
        </p:nvSpPr>
        <p:spPr>
          <a:xfrm>
            <a:off x="1179576" y="2980944"/>
            <a:ext cx="4718304" cy="603504"/>
          </a:xfrm>
          <a:prstGeom prst="rect">
            <a:avLst/>
          </a:prstGeom>
          <a:noFill/>
          <a:ln/>
        </p:spPr>
        <p:txBody>
          <a:bodyPr wrap="square" lIns="0" tIns="0" rIns="0" bIns="0" rtlCol="0" anchor="ctr"/>
          <a:lstStyle/>
          <a:p>
            <a:pPr marL="0" indent="0">
              <a:lnSpc>
                <a:spcPts val="1200"/>
              </a:lnSpc>
              <a:buNone/>
            </a:pPr>
            <a:r>
              <a:rPr lang="en-US" sz="950" dirty="0">
                <a:solidFill>
                  <a:srgbClr val="1F2937"/>
                </a:solidFill>
                <a:latin typeface="Calibri" pitchFamily="34" charset="0"/>
                <a:ea typeface="Calibri" pitchFamily="34" charset="-122"/>
                <a:cs typeface="Calibri" pitchFamily="34" charset="-120"/>
              </a:rPr>
              <a:t>RFM table, value donut, monetary by value band, 2 cards, value slicer</a:t>
            </a:r>
            <a:endParaRPr lang="en-US" sz="950" dirty="0"/>
          </a:p>
        </p:txBody>
      </p:sp>
      <p:sp>
        <p:nvSpPr>
          <p:cNvPr id="22" name="Shape 20"/>
          <p:cNvSpPr/>
          <p:nvPr/>
        </p:nvSpPr>
        <p:spPr>
          <a:xfrm>
            <a:off x="6281928" y="2578608"/>
            <a:ext cx="5541264" cy="1097280"/>
          </a:xfrm>
          <a:prstGeom prst="roundRect">
            <a:avLst>
              <a:gd name="adj" fmla="val 5000"/>
            </a:avLst>
          </a:prstGeom>
          <a:solidFill>
            <a:srgbClr val="F4F6FA"/>
          </a:solidFill>
          <a:ln w="12700">
            <a:solidFill>
              <a:srgbClr val="F4F6FA"/>
            </a:solidFill>
            <a:prstDash val="solid"/>
          </a:ln>
        </p:spPr>
      </p:sp>
      <p:sp>
        <p:nvSpPr>
          <p:cNvPr id="23" name="Shape 21"/>
          <p:cNvSpPr/>
          <p:nvPr/>
        </p:nvSpPr>
        <p:spPr>
          <a:xfrm>
            <a:off x="6428232" y="2926080"/>
            <a:ext cx="402336" cy="402336"/>
          </a:xfrm>
          <a:prstGeom prst="ellipse">
            <a:avLst/>
          </a:prstGeom>
          <a:solidFill>
            <a:srgbClr val="16264A"/>
          </a:solidFill>
          <a:ln w="12700">
            <a:solidFill>
              <a:srgbClr val="16264A"/>
            </a:solidFill>
            <a:prstDash val="solid"/>
          </a:ln>
        </p:spPr>
      </p:sp>
      <p:sp>
        <p:nvSpPr>
          <p:cNvPr id="24" name="Text 22"/>
          <p:cNvSpPr txBox="1"/>
          <p:nvPr/>
        </p:nvSpPr>
        <p:spPr>
          <a:xfrm>
            <a:off x="6428232" y="2926080"/>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6958584" y="2688336"/>
            <a:ext cx="3200400" cy="274320"/>
          </a:xfrm>
          <a:prstGeom prst="rect">
            <a:avLst/>
          </a:prstGeom>
          <a:noFill/>
          <a:ln/>
        </p:spPr>
        <p:txBody>
          <a:bodyPr wrap="square" lIns="0" tIns="0" rIns="0" bIns="0" rtlCol="0" anchor="ctr"/>
          <a:lstStyle/>
          <a:p>
            <a:pPr marL="0" indent="0">
              <a:buNone/>
            </a:pPr>
            <a:r>
              <a:rPr lang="en-US" sz="1250" b="1" dirty="0">
                <a:solidFill>
                  <a:srgbClr val="16264A"/>
                </a:solidFill>
                <a:latin typeface="Cambria" pitchFamily="34" charset="0"/>
                <a:ea typeface="Cambria" pitchFamily="34" charset="-122"/>
                <a:cs typeface="Cambria" pitchFamily="34" charset="-120"/>
              </a:rPr>
              <a:t>Customer CLV</a:t>
            </a:r>
            <a:endParaRPr lang="en-US" sz="1250" dirty="0"/>
          </a:p>
        </p:txBody>
      </p:sp>
      <p:sp>
        <p:nvSpPr>
          <p:cNvPr id="26" name="Text 24"/>
          <p:cNvSpPr txBox="1"/>
          <p:nvPr/>
        </p:nvSpPr>
        <p:spPr>
          <a:xfrm>
            <a:off x="10213848" y="2706624"/>
            <a:ext cx="1463040" cy="237744"/>
          </a:xfrm>
          <a:prstGeom prst="rect">
            <a:avLst/>
          </a:prstGeom>
          <a:noFill/>
          <a:ln/>
        </p:spPr>
        <p:txBody>
          <a:bodyPr wrap="square" lIns="0" tIns="0" rIns="0" bIns="0" rtlCol="0" anchor="ctr"/>
          <a:lstStyle/>
          <a:p>
            <a:pPr marL="0" indent="0" algn="r">
              <a:buNone/>
            </a:pPr>
            <a:r>
              <a:rPr lang="en-US" sz="950" b="1" dirty="0">
                <a:solidFill>
                  <a:srgbClr val="E8A33D"/>
                </a:solidFill>
                <a:latin typeface="Calibri" pitchFamily="34" charset="0"/>
                <a:ea typeface="Calibri" pitchFamily="34" charset="-122"/>
                <a:cs typeface="Calibri" pitchFamily="34" charset="-120"/>
              </a:rPr>
              <a:t>5 visuals</a:t>
            </a:r>
            <a:endParaRPr lang="en-US" sz="950" dirty="0"/>
          </a:p>
        </p:txBody>
      </p:sp>
      <p:sp>
        <p:nvSpPr>
          <p:cNvPr id="27" name="Text 25"/>
          <p:cNvSpPr txBox="1"/>
          <p:nvPr/>
        </p:nvSpPr>
        <p:spPr>
          <a:xfrm>
            <a:off x="6958584" y="2980944"/>
            <a:ext cx="4718304" cy="603504"/>
          </a:xfrm>
          <a:prstGeom prst="rect">
            <a:avLst/>
          </a:prstGeom>
          <a:noFill/>
          <a:ln/>
        </p:spPr>
        <p:txBody>
          <a:bodyPr wrap="square" lIns="0" tIns="0" rIns="0" bIns="0" rtlCol="0" anchor="ctr"/>
          <a:lstStyle/>
          <a:p>
            <a:pPr marL="0" indent="0">
              <a:lnSpc>
                <a:spcPts val="1200"/>
              </a:lnSpc>
              <a:buNone/>
            </a:pPr>
            <a:r>
              <a:rPr lang="en-US" sz="950" dirty="0">
                <a:solidFill>
                  <a:srgbClr val="1F2937"/>
                </a:solidFill>
                <a:latin typeface="Calibri" pitchFamily="34" charset="0"/>
                <a:ea typeface="Calibri" pitchFamily="34" charset="-122"/>
                <a:cs typeface="Calibri" pitchFamily="34" charset="-120"/>
              </a:rPr>
              <a:t>CLV table, total CLV by band, Total CLV and Average CLV cards, band slicer</a:t>
            </a:r>
            <a:endParaRPr lang="en-US" sz="950" dirty="0"/>
          </a:p>
        </p:txBody>
      </p:sp>
      <p:sp>
        <p:nvSpPr>
          <p:cNvPr id="28" name="Shape 26"/>
          <p:cNvSpPr/>
          <p:nvPr/>
        </p:nvSpPr>
        <p:spPr>
          <a:xfrm>
            <a:off x="502920" y="3785616"/>
            <a:ext cx="5541264" cy="1097280"/>
          </a:xfrm>
          <a:prstGeom prst="roundRect">
            <a:avLst>
              <a:gd name="adj" fmla="val 5000"/>
            </a:avLst>
          </a:prstGeom>
          <a:solidFill>
            <a:srgbClr val="F4F6FA"/>
          </a:solidFill>
          <a:ln w="12700">
            <a:solidFill>
              <a:srgbClr val="F4F6FA"/>
            </a:solidFill>
            <a:prstDash val="solid"/>
          </a:ln>
        </p:spPr>
      </p:sp>
      <p:sp>
        <p:nvSpPr>
          <p:cNvPr id="29" name="Shape 27"/>
          <p:cNvSpPr/>
          <p:nvPr/>
        </p:nvSpPr>
        <p:spPr>
          <a:xfrm>
            <a:off x="649224" y="4133088"/>
            <a:ext cx="402336" cy="402336"/>
          </a:xfrm>
          <a:prstGeom prst="ellipse">
            <a:avLst/>
          </a:prstGeom>
          <a:solidFill>
            <a:srgbClr val="16264A"/>
          </a:solidFill>
          <a:ln w="12700">
            <a:solidFill>
              <a:srgbClr val="16264A"/>
            </a:solidFill>
            <a:prstDash val="solid"/>
          </a:ln>
        </p:spPr>
      </p:sp>
      <p:sp>
        <p:nvSpPr>
          <p:cNvPr id="30" name="Text 28"/>
          <p:cNvSpPr txBox="1"/>
          <p:nvPr/>
        </p:nvSpPr>
        <p:spPr>
          <a:xfrm>
            <a:off x="649224" y="4133088"/>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9"/>
          <p:cNvSpPr txBox="1"/>
          <p:nvPr/>
        </p:nvSpPr>
        <p:spPr>
          <a:xfrm>
            <a:off x="1179576" y="3895344"/>
            <a:ext cx="3200400" cy="274320"/>
          </a:xfrm>
          <a:prstGeom prst="rect">
            <a:avLst/>
          </a:prstGeom>
          <a:noFill/>
          <a:ln/>
        </p:spPr>
        <p:txBody>
          <a:bodyPr wrap="square" lIns="0" tIns="0" rIns="0" bIns="0" rtlCol="0" anchor="ctr"/>
          <a:lstStyle/>
          <a:p>
            <a:pPr marL="0" indent="0">
              <a:buNone/>
            </a:pPr>
            <a:r>
              <a:rPr lang="en-US" sz="1250" b="1" dirty="0">
                <a:solidFill>
                  <a:srgbClr val="16264A"/>
                </a:solidFill>
                <a:latin typeface="Cambria" pitchFamily="34" charset="0"/>
                <a:ea typeface="Cambria" pitchFamily="34" charset="-122"/>
                <a:cs typeface="Cambria" pitchFamily="34" charset="-120"/>
              </a:rPr>
              <a:t>Scenario Analysis</a:t>
            </a:r>
            <a:endParaRPr lang="en-US" sz="1250" dirty="0"/>
          </a:p>
        </p:txBody>
      </p:sp>
      <p:sp>
        <p:nvSpPr>
          <p:cNvPr id="32" name="Text 30"/>
          <p:cNvSpPr txBox="1"/>
          <p:nvPr/>
        </p:nvSpPr>
        <p:spPr>
          <a:xfrm>
            <a:off x="4434840" y="3913632"/>
            <a:ext cx="1463040" cy="237744"/>
          </a:xfrm>
          <a:prstGeom prst="rect">
            <a:avLst/>
          </a:prstGeom>
          <a:noFill/>
          <a:ln/>
        </p:spPr>
        <p:txBody>
          <a:bodyPr wrap="square" lIns="0" tIns="0" rIns="0" bIns="0" rtlCol="0" anchor="ctr"/>
          <a:lstStyle/>
          <a:p>
            <a:pPr marL="0" indent="0" algn="r">
              <a:buNone/>
            </a:pPr>
            <a:r>
              <a:rPr lang="en-US" sz="950" b="1" dirty="0">
                <a:solidFill>
                  <a:srgbClr val="E8A33D"/>
                </a:solidFill>
                <a:latin typeface="Calibri" pitchFamily="34" charset="0"/>
                <a:ea typeface="Calibri" pitchFamily="34" charset="-122"/>
                <a:cs typeface="Calibri" pitchFamily="34" charset="-120"/>
              </a:rPr>
              <a:t>6 visuals</a:t>
            </a:r>
            <a:endParaRPr lang="en-US" sz="950" dirty="0"/>
          </a:p>
        </p:txBody>
      </p:sp>
      <p:sp>
        <p:nvSpPr>
          <p:cNvPr id="33" name="Text 31"/>
          <p:cNvSpPr txBox="1"/>
          <p:nvPr/>
        </p:nvSpPr>
        <p:spPr>
          <a:xfrm>
            <a:off x="1179576" y="4187952"/>
            <a:ext cx="4718304" cy="603504"/>
          </a:xfrm>
          <a:prstGeom prst="rect">
            <a:avLst/>
          </a:prstGeom>
          <a:noFill/>
          <a:ln/>
        </p:spPr>
        <p:txBody>
          <a:bodyPr wrap="square" lIns="0" tIns="0" rIns="0" bIns="0" rtlCol="0" anchor="ctr"/>
          <a:lstStyle/>
          <a:p>
            <a:pPr marL="0" indent="0">
              <a:lnSpc>
                <a:spcPts val="1200"/>
              </a:lnSpc>
              <a:buNone/>
            </a:pPr>
            <a:r>
              <a:rPr lang="en-US" sz="950" dirty="0">
                <a:solidFill>
                  <a:srgbClr val="1F2937"/>
                </a:solidFill>
                <a:latin typeface="Calibri" pitchFamily="34" charset="0"/>
                <a:ea typeface="Calibri" pitchFamily="34" charset="-122"/>
                <a:cs typeface="Calibri" pitchFamily="34" charset="-120"/>
              </a:rPr>
              <a:t>Discount and quantity comparison tables, two impact line charts, two slicers</a:t>
            </a:r>
            <a:endParaRPr lang="en-US" sz="950" dirty="0"/>
          </a:p>
        </p:txBody>
      </p:sp>
      <p:sp>
        <p:nvSpPr>
          <p:cNvPr id="34" name="Shape 32"/>
          <p:cNvSpPr/>
          <p:nvPr/>
        </p:nvSpPr>
        <p:spPr>
          <a:xfrm>
            <a:off x="6281928" y="3785616"/>
            <a:ext cx="5541264" cy="1097280"/>
          </a:xfrm>
          <a:prstGeom prst="roundRect">
            <a:avLst>
              <a:gd name="adj" fmla="val 5000"/>
            </a:avLst>
          </a:prstGeom>
          <a:solidFill>
            <a:srgbClr val="F4F6FA"/>
          </a:solidFill>
          <a:ln w="12700">
            <a:solidFill>
              <a:srgbClr val="F4F6FA"/>
            </a:solidFill>
            <a:prstDash val="solid"/>
          </a:ln>
        </p:spPr>
      </p:sp>
      <p:sp>
        <p:nvSpPr>
          <p:cNvPr id="35" name="Shape 33"/>
          <p:cNvSpPr/>
          <p:nvPr/>
        </p:nvSpPr>
        <p:spPr>
          <a:xfrm>
            <a:off x="6428232" y="4133088"/>
            <a:ext cx="402336" cy="402336"/>
          </a:xfrm>
          <a:prstGeom prst="ellipse">
            <a:avLst/>
          </a:prstGeom>
          <a:solidFill>
            <a:srgbClr val="16264A"/>
          </a:solidFill>
          <a:ln w="12700">
            <a:solidFill>
              <a:srgbClr val="16264A"/>
            </a:solidFill>
            <a:prstDash val="solid"/>
          </a:ln>
        </p:spPr>
      </p:sp>
      <p:sp>
        <p:nvSpPr>
          <p:cNvPr id="36" name="Text 34"/>
          <p:cNvSpPr txBox="1"/>
          <p:nvPr/>
        </p:nvSpPr>
        <p:spPr>
          <a:xfrm>
            <a:off x="6428232" y="4133088"/>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7" name="Text 35"/>
          <p:cNvSpPr txBox="1"/>
          <p:nvPr/>
        </p:nvSpPr>
        <p:spPr>
          <a:xfrm>
            <a:off x="6958584" y="3895344"/>
            <a:ext cx="3200400" cy="274320"/>
          </a:xfrm>
          <a:prstGeom prst="rect">
            <a:avLst/>
          </a:prstGeom>
          <a:noFill/>
          <a:ln/>
        </p:spPr>
        <p:txBody>
          <a:bodyPr wrap="square" lIns="0" tIns="0" rIns="0" bIns="0" rtlCol="0" anchor="ctr"/>
          <a:lstStyle/>
          <a:p>
            <a:pPr marL="0" indent="0">
              <a:buNone/>
            </a:pPr>
            <a:r>
              <a:rPr lang="en-US" sz="1250" b="1" dirty="0">
                <a:solidFill>
                  <a:srgbClr val="16264A"/>
                </a:solidFill>
                <a:latin typeface="Cambria" pitchFamily="34" charset="0"/>
                <a:ea typeface="Cambria" pitchFamily="34" charset="-122"/>
                <a:cs typeface="Cambria" pitchFamily="34" charset="-120"/>
              </a:rPr>
              <a:t>Business Insights</a:t>
            </a:r>
            <a:endParaRPr lang="en-US" sz="1250" dirty="0"/>
          </a:p>
        </p:txBody>
      </p:sp>
      <p:sp>
        <p:nvSpPr>
          <p:cNvPr id="38" name="Text 36"/>
          <p:cNvSpPr txBox="1"/>
          <p:nvPr/>
        </p:nvSpPr>
        <p:spPr>
          <a:xfrm>
            <a:off x="10213848" y="3913632"/>
            <a:ext cx="1463040" cy="237744"/>
          </a:xfrm>
          <a:prstGeom prst="rect">
            <a:avLst/>
          </a:prstGeom>
          <a:noFill/>
          <a:ln/>
        </p:spPr>
        <p:txBody>
          <a:bodyPr wrap="square" lIns="0" tIns="0" rIns="0" bIns="0" rtlCol="0" anchor="ctr"/>
          <a:lstStyle/>
          <a:p>
            <a:pPr marL="0" indent="0" algn="r">
              <a:buNone/>
            </a:pPr>
            <a:r>
              <a:rPr lang="en-US" sz="950" b="1" dirty="0">
                <a:solidFill>
                  <a:srgbClr val="E8A33D"/>
                </a:solidFill>
                <a:latin typeface="Calibri" pitchFamily="34" charset="0"/>
                <a:ea typeface="Calibri" pitchFamily="34" charset="-122"/>
                <a:cs typeface="Calibri" pitchFamily="34" charset="-120"/>
              </a:rPr>
              <a:t>1 visual</a:t>
            </a:r>
            <a:endParaRPr lang="en-US" sz="950" dirty="0"/>
          </a:p>
        </p:txBody>
      </p:sp>
      <p:sp>
        <p:nvSpPr>
          <p:cNvPr id="39" name="Text 37"/>
          <p:cNvSpPr txBox="1"/>
          <p:nvPr/>
        </p:nvSpPr>
        <p:spPr>
          <a:xfrm>
            <a:off x="6958584" y="4187952"/>
            <a:ext cx="4718304" cy="603504"/>
          </a:xfrm>
          <a:prstGeom prst="rect">
            <a:avLst/>
          </a:prstGeom>
          <a:noFill/>
          <a:ln/>
        </p:spPr>
        <p:txBody>
          <a:bodyPr wrap="square" lIns="0" tIns="0" rIns="0" bIns="0" rtlCol="0" anchor="ctr"/>
          <a:lstStyle/>
          <a:p>
            <a:pPr marL="0" indent="0">
              <a:lnSpc>
                <a:spcPts val="1200"/>
              </a:lnSpc>
              <a:buNone/>
            </a:pPr>
            <a:r>
              <a:rPr lang="en-US" sz="950" dirty="0">
                <a:solidFill>
                  <a:srgbClr val="1F2937"/>
                </a:solidFill>
                <a:latin typeface="Calibri" pitchFamily="34" charset="0"/>
                <a:ea typeface="Calibri" pitchFamily="34" charset="-122"/>
                <a:cs typeface="Calibri" pitchFamily="34" charset="-120"/>
              </a:rPr>
              <a:t>Written summary of findings across the six themes</a:t>
            </a:r>
            <a:endParaRPr lang="en-US" sz="950" dirty="0"/>
          </a:p>
        </p:txBody>
      </p:sp>
      <p:sp>
        <p:nvSpPr>
          <p:cNvPr id="40" name="Text 38"/>
          <p:cNvSpPr txBox="1"/>
          <p:nvPr/>
        </p:nvSpPr>
        <p:spPr>
          <a:xfrm>
            <a:off x="502920" y="5074920"/>
            <a:ext cx="11155680" cy="310896"/>
          </a:xfrm>
          <a:prstGeom prst="rect">
            <a:avLst/>
          </a:prstGeom>
          <a:noFill/>
          <a:ln/>
        </p:spPr>
        <p:txBody>
          <a:bodyPr wrap="square" lIns="0" tIns="0" rIns="0" bIns="0" rtlCol="0" anchor="ctr"/>
          <a:lstStyle/>
          <a:p>
            <a:pPr marL="0" indent="0">
              <a:buNone/>
            </a:pPr>
            <a:r>
              <a:rPr lang="en-US" sz="1050" i="1" dirty="0">
                <a:solidFill>
                  <a:srgbClr val="667085"/>
                </a:solidFill>
                <a:latin typeface="Calibri" pitchFamily="34" charset="0"/>
                <a:ea typeface="Calibri" pitchFamily="34" charset="-122"/>
                <a:cs typeface="Calibri" pitchFamily="34" charset="-120"/>
              </a:rPr>
              <a:t>Live screenshots should be captured from Power BI Desktop and inserted before submission. The page names, visual counts, chart types, bound fields and slicers described here were read directly from the .pbix file.</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66928"/>
          </a:xfrm>
          <a:prstGeom prst="rect">
            <a:avLst/>
          </a:prstGeom>
          <a:noFill/>
          <a:ln/>
        </p:spPr>
        <p:txBody>
          <a:bodyPr wrap="square" lIns="0" tIns="0" rIns="0" bIns="0" rtlCol="0" anchor="ctr"/>
          <a:lstStyle/>
          <a:p>
            <a:pPr marL="0" indent="0">
              <a:buNone/>
            </a:pPr>
            <a:r>
              <a:rPr lang="en-US" sz="3000" b="1" dirty="0">
                <a:solidFill>
                  <a:srgbClr val="16264A"/>
                </a:solidFill>
                <a:latin typeface="Cambria" pitchFamily="34" charset="0"/>
                <a:ea typeface="Cambria" pitchFamily="34" charset="-122"/>
                <a:cs typeface="Cambria" pitchFamily="34" charset="-120"/>
              </a:rPr>
              <a:t>Power BI: Overview and Product Analysis Pages</a:t>
            </a:r>
            <a:endParaRPr lang="en-US" sz="3000" dirty="0"/>
          </a:p>
        </p:txBody>
      </p:sp>
      <p:sp>
        <p:nvSpPr>
          <p:cNvPr id="3" name="Text 1"/>
          <p:cNvSpPr txBox="1"/>
          <p:nvPr/>
        </p:nvSpPr>
        <p:spPr>
          <a:xfrm>
            <a:off x="502920" y="896112"/>
            <a:ext cx="11155680" cy="329184"/>
          </a:xfrm>
          <a:prstGeom prst="rect">
            <a:avLst/>
          </a:prstGeom>
          <a:noFill/>
          <a:ln/>
        </p:spPr>
        <p:txBody>
          <a:bodyPr wrap="square" lIns="0" tIns="0" rIns="0" bIns="0" rtlCol="0" anchor="ctr"/>
          <a:lstStyle/>
          <a:p>
            <a:pPr marL="0" indent="0">
              <a:buNone/>
            </a:pPr>
            <a:r>
              <a:rPr lang="en-US" sz="1300" i="1" dirty="0">
                <a:solidFill>
                  <a:srgbClr val="667085"/>
                </a:solidFill>
                <a:latin typeface="Calibri" pitchFamily="34" charset="0"/>
                <a:ea typeface="Calibri" pitchFamily="34" charset="-122"/>
                <a:cs typeface="Calibri" pitchFamily="34" charset="-120"/>
              </a:rPr>
              <a:t>KPI cards are driven by DAX measures over the MySQL sales_data table</a:t>
            </a:r>
            <a:endParaRPr lang="en-US" sz="1300" dirty="0"/>
          </a:p>
        </p:txBody>
      </p:sp>
      <p:sp>
        <p:nvSpPr>
          <p:cNvPr id="4" name="Shape 2"/>
          <p:cNvSpPr/>
          <p:nvPr/>
        </p:nvSpPr>
        <p:spPr>
          <a:xfrm>
            <a:off x="502920" y="1371600"/>
            <a:ext cx="5577840" cy="4754880"/>
          </a:xfrm>
          <a:prstGeom prst="roundRect">
            <a:avLst>
              <a:gd name="adj" fmla="val 1154"/>
            </a:avLst>
          </a:prstGeom>
          <a:solidFill>
            <a:srgbClr val="F4F6FA"/>
          </a:solidFill>
          <a:ln w="12700">
            <a:solidFill>
              <a:srgbClr val="F4F6FA"/>
            </a:solidFill>
            <a:prstDash val="solid"/>
          </a:ln>
        </p:spPr>
      </p:sp>
      <p:sp>
        <p:nvSpPr>
          <p:cNvPr id="5" name="Text 3"/>
          <p:cNvSpPr txBox="1"/>
          <p:nvPr/>
        </p:nvSpPr>
        <p:spPr>
          <a:xfrm>
            <a:off x="667512" y="1463040"/>
            <a:ext cx="5212080" cy="292608"/>
          </a:xfrm>
          <a:prstGeom prst="rect">
            <a:avLst/>
          </a:prstGeom>
          <a:noFill/>
          <a:ln/>
        </p:spPr>
        <p:txBody>
          <a:bodyPr wrap="square" lIns="0" tIns="0" rIns="0" bIns="0" rtlCol="0" anchor="ctr"/>
          <a:lstStyle/>
          <a:p>
            <a:pPr marL="0" indent="0">
              <a:buNone/>
            </a:pPr>
            <a:r>
              <a:rPr lang="en-US" sz="1400" b="1" dirty="0">
                <a:solidFill>
                  <a:srgbClr val="16264A"/>
                </a:solidFill>
                <a:latin typeface="Cambria" pitchFamily="34" charset="0"/>
                <a:ea typeface="Cambria" pitchFamily="34" charset="-122"/>
                <a:cs typeface="Cambria" pitchFamily="34" charset="-120"/>
              </a:rPr>
              <a:t>Page 1 - Overview</a:t>
            </a:r>
            <a:endParaRPr lang="en-US" sz="1400" dirty="0"/>
          </a:p>
        </p:txBody>
      </p:sp>
      <p:sp>
        <p:nvSpPr>
          <p:cNvPr id="6" name="Text 4"/>
          <p:cNvSpPr txBox="1"/>
          <p:nvPr/>
        </p:nvSpPr>
        <p:spPr>
          <a:xfrm>
            <a:off x="667512" y="1773936"/>
            <a:ext cx="5212080" cy="256032"/>
          </a:xfrm>
          <a:prstGeom prst="rect">
            <a:avLst/>
          </a:prstGeom>
          <a:noFill/>
          <a:ln/>
        </p:spPr>
        <p:txBody>
          <a:bodyPr wrap="square" lIns="0" tIns="0" rIns="0" bIns="0" rtlCol="0" anchor="ctr"/>
          <a:lstStyle/>
          <a:p>
            <a:pPr marL="0" indent="0">
              <a:buNone/>
            </a:pPr>
            <a:r>
              <a:rPr lang="en-US" sz="1050" i="1" dirty="0">
                <a:solidFill>
                  <a:srgbClr val="667085"/>
                </a:solidFill>
                <a:latin typeface="Calibri" pitchFamily="34" charset="0"/>
                <a:ea typeface="Calibri" pitchFamily="34" charset="-122"/>
                <a:cs typeface="Calibri" pitchFamily="34" charset="-120"/>
              </a:rPr>
              <a:t>Purpose: single-screen summary of overall business performance.</a:t>
            </a:r>
            <a:endParaRPr lang="en-US" sz="1050" dirty="0"/>
          </a:p>
        </p:txBody>
      </p:sp>
      <p:sp>
        <p:nvSpPr>
          <p:cNvPr id="7" name="Shape 5"/>
          <p:cNvSpPr/>
          <p:nvPr/>
        </p:nvSpPr>
        <p:spPr>
          <a:xfrm>
            <a:off x="667512" y="2084832"/>
            <a:ext cx="1225296" cy="384048"/>
          </a:xfrm>
          <a:prstGeom prst="roundRect">
            <a:avLst>
              <a:gd name="adj" fmla="val 19048"/>
            </a:avLst>
          </a:prstGeom>
          <a:solidFill>
            <a:srgbClr val="233A6B"/>
          </a:solidFill>
          <a:ln w="12700">
            <a:solidFill>
              <a:srgbClr val="233A6B"/>
            </a:solidFill>
            <a:prstDash val="solid"/>
          </a:ln>
        </p:spPr>
      </p:sp>
      <p:sp>
        <p:nvSpPr>
          <p:cNvPr id="8" name="Text 6"/>
          <p:cNvSpPr txBox="1"/>
          <p:nvPr/>
        </p:nvSpPr>
        <p:spPr>
          <a:xfrm>
            <a:off x="667512" y="2084832"/>
            <a:ext cx="1225296" cy="38404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Total Sales</a:t>
            </a:r>
            <a:endParaRPr lang="en-US" sz="950" dirty="0"/>
          </a:p>
        </p:txBody>
      </p:sp>
      <p:sp>
        <p:nvSpPr>
          <p:cNvPr id="9" name="Shape 7"/>
          <p:cNvSpPr/>
          <p:nvPr/>
        </p:nvSpPr>
        <p:spPr>
          <a:xfrm>
            <a:off x="1984248" y="2084832"/>
            <a:ext cx="1225296" cy="384048"/>
          </a:xfrm>
          <a:prstGeom prst="roundRect">
            <a:avLst>
              <a:gd name="adj" fmla="val 19048"/>
            </a:avLst>
          </a:prstGeom>
          <a:solidFill>
            <a:srgbClr val="233A6B"/>
          </a:solidFill>
          <a:ln w="12700">
            <a:solidFill>
              <a:srgbClr val="233A6B"/>
            </a:solidFill>
            <a:prstDash val="solid"/>
          </a:ln>
        </p:spPr>
      </p:sp>
      <p:sp>
        <p:nvSpPr>
          <p:cNvPr id="10" name="Text 8"/>
          <p:cNvSpPr txBox="1"/>
          <p:nvPr/>
        </p:nvSpPr>
        <p:spPr>
          <a:xfrm>
            <a:off x="1984248" y="2084832"/>
            <a:ext cx="1225296" cy="38404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Total Profit</a:t>
            </a:r>
            <a:endParaRPr lang="en-US" sz="950" dirty="0"/>
          </a:p>
        </p:txBody>
      </p:sp>
      <p:sp>
        <p:nvSpPr>
          <p:cNvPr id="11" name="Shape 9"/>
          <p:cNvSpPr/>
          <p:nvPr/>
        </p:nvSpPr>
        <p:spPr>
          <a:xfrm>
            <a:off x="3300984" y="2084832"/>
            <a:ext cx="1225296" cy="384048"/>
          </a:xfrm>
          <a:prstGeom prst="roundRect">
            <a:avLst>
              <a:gd name="adj" fmla="val 19048"/>
            </a:avLst>
          </a:prstGeom>
          <a:solidFill>
            <a:srgbClr val="233A6B"/>
          </a:solidFill>
          <a:ln w="12700">
            <a:solidFill>
              <a:srgbClr val="233A6B"/>
            </a:solidFill>
            <a:prstDash val="solid"/>
          </a:ln>
        </p:spPr>
      </p:sp>
      <p:sp>
        <p:nvSpPr>
          <p:cNvPr id="12" name="Text 10"/>
          <p:cNvSpPr txBox="1"/>
          <p:nvPr/>
        </p:nvSpPr>
        <p:spPr>
          <a:xfrm>
            <a:off x="3300984" y="2084832"/>
            <a:ext cx="1225296" cy="38404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Total Quantity</a:t>
            </a:r>
            <a:endParaRPr lang="en-US" sz="950" dirty="0"/>
          </a:p>
        </p:txBody>
      </p:sp>
      <p:sp>
        <p:nvSpPr>
          <p:cNvPr id="13" name="Shape 11"/>
          <p:cNvSpPr/>
          <p:nvPr/>
        </p:nvSpPr>
        <p:spPr>
          <a:xfrm>
            <a:off x="4617720" y="2084832"/>
            <a:ext cx="1225296" cy="384048"/>
          </a:xfrm>
          <a:prstGeom prst="roundRect">
            <a:avLst>
              <a:gd name="adj" fmla="val 19048"/>
            </a:avLst>
          </a:prstGeom>
          <a:solidFill>
            <a:srgbClr val="233A6B"/>
          </a:solidFill>
          <a:ln w="12700">
            <a:solidFill>
              <a:srgbClr val="233A6B"/>
            </a:solidFill>
            <a:prstDash val="solid"/>
          </a:ln>
        </p:spPr>
      </p:sp>
      <p:sp>
        <p:nvSpPr>
          <p:cNvPr id="14" name="Text 12"/>
          <p:cNvSpPr txBox="1"/>
          <p:nvPr/>
        </p:nvSpPr>
        <p:spPr>
          <a:xfrm>
            <a:off x="4617720" y="2084832"/>
            <a:ext cx="1225296" cy="38404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Total Orders</a:t>
            </a:r>
            <a:endParaRPr lang="en-US" sz="950" dirty="0"/>
          </a:p>
        </p:txBody>
      </p:sp>
      <p:sp>
        <p:nvSpPr>
          <p:cNvPr id="15" name="Text 13"/>
          <p:cNvSpPr txBox="1"/>
          <p:nvPr/>
        </p:nvSpPr>
        <p:spPr>
          <a:xfrm>
            <a:off x="667512" y="2651760"/>
            <a:ext cx="5212080" cy="219456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Sales Trend Over Time - line chart, Total Sales by order_date</a:t>
            </a:r>
            <a:endParaRPr lang="en-US" sz="1100" dirty="0"/>
          </a:p>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Sales by Region - clustered bar chart, Total Sales by region</a:t>
            </a:r>
            <a:endParaRPr lang="en-US" sz="1100" dirty="0"/>
          </a:p>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Sales by Category - clustered column chart, Total Sales by category</a:t>
            </a:r>
            <a:endParaRPr lang="en-US" sz="1100" dirty="0"/>
          </a:p>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Slicers: Filter by Category, Filter by Market, Filter by Order Year</a:t>
            </a:r>
            <a:endParaRPr lang="en-US" sz="1100" dirty="0"/>
          </a:p>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Business use: month-by-month performance monitoring and drill-down by market or year</a:t>
            </a:r>
            <a:endParaRPr lang="en-US" sz="1100" dirty="0"/>
          </a:p>
        </p:txBody>
      </p:sp>
      <p:sp>
        <p:nvSpPr>
          <p:cNvPr id="16" name="Text 14"/>
          <p:cNvSpPr txBox="1"/>
          <p:nvPr/>
        </p:nvSpPr>
        <p:spPr>
          <a:xfrm>
            <a:off x="667512" y="5760720"/>
            <a:ext cx="5212080" cy="274320"/>
          </a:xfrm>
          <a:prstGeom prst="rect">
            <a:avLst/>
          </a:prstGeom>
          <a:noFill/>
          <a:ln/>
        </p:spPr>
        <p:txBody>
          <a:bodyPr wrap="square" lIns="0" tIns="0" rIns="0" bIns="0" rtlCol="0" anchor="ctr"/>
          <a:lstStyle/>
          <a:p>
            <a:pPr marL="0" indent="0" algn="ctr">
              <a:buNone/>
            </a:pPr>
            <a:r>
              <a:rPr lang="en-US" sz="1000" i="1" dirty="0">
                <a:solidFill>
                  <a:srgbClr val="667085"/>
                </a:solidFill>
                <a:latin typeface="Calibri" pitchFamily="34" charset="0"/>
                <a:ea typeface="Calibri" pitchFamily="34" charset="-122"/>
                <a:cs typeface="Calibri" pitchFamily="34" charset="-120"/>
              </a:rPr>
              <a:t>Source table: retail_analytics sales_data (MySQL import)</a:t>
            </a:r>
            <a:endParaRPr lang="en-US" sz="1000" dirty="0"/>
          </a:p>
        </p:txBody>
      </p:sp>
      <p:sp>
        <p:nvSpPr>
          <p:cNvPr id="17" name="Shape 15"/>
          <p:cNvSpPr/>
          <p:nvPr/>
        </p:nvSpPr>
        <p:spPr>
          <a:xfrm>
            <a:off x="6355080" y="1371600"/>
            <a:ext cx="5349240" cy="4754880"/>
          </a:xfrm>
          <a:prstGeom prst="roundRect">
            <a:avLst>
              <a:gd name="adj" fmla="val 1154"/>
            </a:avLst>
          </a:prstGeom>
          <a:solidFill>
            <a:srgbClr val="F4F6FA"/>
          </a:solidFill>
          <a:ln w="12700">
            <a:solidFill>
              <a:srgbClr val="F4F6FA"/>
            </a:solidFill>
            <a:prstDash val="solid"/>
          </a:ln>
        </p:spPr>
      </p:sp>
      <p:sp>
        <p:nvSpPr>
          <p:cNvPr id="18" name="Text 16"/>
          <p:cNvSpPr txBox="1"/>
          <p:nvPr/>
        </p:nvSpPr>
        <p:spPr>
          <a:xfrm>
            <a:off x="6519672" y="1463040"/>
            <a:ext cx="5029200" cy="292608"/>
          </a:xfrm>
          <a:prstGeom prst="rect">
            <a:avLst/>
          </a:prstGeom>
          <a:noFill/>
          <a:ln/>
        </p:spPr>
        <p:txBody>
          <a:bodyPr wrap="square" lIns="0" tIns="0" rIns="0" bIns="0" rtlCol="0" anchor="ctr"/>
          <a:lstStyle/>
          <a:p>
            <a:pPr marL="0" indent="0">
              <a:buNone/>
            </a:pPr>
            <a:r>
              <a:rPr lang="en-US" sz="1400" b="1" dirty="0">
                <a:solidFill>
                  <a:srgbClr val="16264A"/>
                </a:solidFill>
                <a:latin typeface="Cambria" pitchFamily="34" charset="0"/>
                <a:ea typeface="Cambria" pitchFamily="34" charset="-122"/>
                <a:cs typeface="Cambria" pitchFamily="34" charset="-120"/>
              </a:rPr>
              <a:t>Page 2 - Product &amp; Profit Analysis</a:t>
            </a:r>
            <a:endParaRPr lang="en-US" sz="1400" dirty="0"/>
          </a:p>
        </p:txBody>
      </p:sp>
      <p:sp>
        <p:nvSpPr>
          <p:cNvPr id="19" name="Text 17"/>
          <p:cNvSpPr txBox="1"/>
          <p:nvPr/>
        </p:nvSpPr>
        <p:spPr>
          <a:xfrm>
            <a:off x="6519672" y="1773936"/>
            <a:ext cx="5029200" cy="256032"/>
          </a:xfrm>
          <a:prstGeom prst="rect">
            <a:avLst/>
          </a:prstGeom>
          <a:noFill/>
          <a:ln/>
        </p:spPr>
        <p:txBody>
          <a:bodyPr wrap="square" lIns="0" tIns="0" rIns="0" bIns="0" rtlCol="0" anchor="ctr"/>
          <a:lstStyle/>
          <a:p>
            <a:pPr marL="0" indent="0">
              <a:buNone/>
            </a:pPr>
            <a:r>
              <a:rPr lang="en-US" sz="1050" i="1" dirty="0">
                <a:solidFill>
                  <a:srgbClr val="667085"/>
                </a:solidFill>
                <a:latin typeface="Calibri" pitchFamily="34" charset="0"/>
                <a:ea typeface="Calibri" pitchFamily="34" charset="-122"/>
                <a:cs typeface="Calibri" pitchFamily="34" charset="-120"/>
              </a:rPr>
              <a:t>Purpose: separate revenue performance from profitability.</a:t>
            </a:r>
            <a:endParaRPr lang="en-US" sz="1050" dirty="0"/>
          </a:p>
        </p:txBody>
      </p:sp>
      <p:sp>
        <p:nvSpPr>
          <p:cNvPr id="20" name="Text 18"/>
          <p:cNvSpPr txBox="1"/>
          <p:nvPr/>
        </p:nvSpPr>
        <p:spPr>
          <a:xfrm>
            <a:off x="6519672" y="2103120"/>
            <a:ext cx="5029200" cy="283464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Profit by Category - clustered column chart</a:t>
            </a:r>
            <a:endParaRPr lang="en-US" sz="1100" dirty="0"/>
          </a:p>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Profit by Sub-Category - clustered bar chart, ranks all 17 sub-categories</a:t>
            </a:r>
            <a:endParaRPr lang="en-US" sz="1100" dirty="0"/>
          </a:p>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Profit by Region - clustered bar chart</a:t>
            </a:r>
            <a:endParaRPr lang="en-US" sz="1100" dirty="0"/>
          </a:p>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Sales by Sub-Category - clustered bar chart, paired with the profit view</a:t>
            </a:r>
            <a:endParaRPr lang="en-US" sz="1100" dirty="0"/>
          </a:p>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Sales by Ship Mode - clustered column chart</a:t>
            </a:r>
            <a:endParaRPr lang="en-US" sz="1100" dirty="0"/>
          </a:p>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Business use: identifying products and regions where high sales do not translate into profit, for example Chairs and Southeast Asia</a:t>
            </a:r>
            <a:endParaRPr lang="en-US" sz="1100" dirty="0"/>
          </a:p>
        </p:txBody>
      </p:sp>
      <p:sp>
        <p:nvSpPr>
          <p:cNvPr id="21" name="Text 19"/>
          <p:cNvSpPr txBox="1"/>
          <p:nvPr/>
        </p:nvSpPr>
        <p:spPr>
          <a:xfrm>
            <a:off x="6519672" y="5760720"/>
            <a:ext cx="5029200" cy="274320"/>
          </a:xfrm>
          <a:prstGeom prst="rect">
            <a:avLst/>
          </a:prstGeom>
          <a:noFill/>
          <a:ln/>
        </p:spPr>
        <p:txBody>
          <a:bodyPr wrap="square" lIns="0" tIns="0" rIns="0" bIns="0" rtlCol="0" anchor="ctr"/>
          <a:lstStyle/>
          <a:p>
            <a:pPr marL="0" indent="0" algn="ctr">
              <a:buNone/>
            </a:pPr>
            <a:r>
              <a:rPr lang="en-US" sz="1000" i="1" dirty="0">
                <a:solidFill>
                  <a:srgbClr val="667085"/>
                </a:solidFill>
                <a:latin typeface="Calibri" pitchFamily="34" charset="0"/>
                <a:ea typeface="Calibri" pitchFamily="34" charset="-122"/>
                <a:cs typeface="Calibri" pitchFamily="34" charset="-120"/>
              </a:rPr>
              <a:t>This page carries no slicers; it is read alongside the Overview filters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66928"/>
          </a:xfrm>
          <a:prstGeom prst="rect">
            <a:avLst/>
          </a:prstGeom>
          <a:noFill/>
          <a:ln/>
        </p:spPr>
        <p:txBody>
          <a:bodyPr wrap="square" lIns="0" tIns="0" rIns="0" bIns="0" rtlCol="0" anchor="ctr"/>
          <a:lstStyle/>
          <a:p>
            <a:pPr marL="0" indent="0">
              <a:buNone/>
            </a:pPr>
            <a:r>
              <a:rPr lang="en-US" sz="3000" b="1" dirty="0">
                <a:solidFill>
                  <a:srgbClr val="16264A"/>
                </a:solidFill>
                <a:latin typeface="Cambria" pitchFamily="34" charset="0"/>
                <a:ea typeface="Cambria" pitchFamily="34" charset="-122"/>
                <a:cs typeface="Cambria" pitchFamily="34" charset="-120"/>
              </a:rPr>
              <a:t>Power BI: Customer and Scenario Pages</a:t>
            </a:r>
            <a:endParaRPr lang="en-US" sz="3000" dirty="0"/>
          </a:p>
        </p:txBody>
      </p:sp>
      <p:sp>
        <p:nvSpPr>
          <p:cNvPr id="3" name="Text 1"/>
          <p:cNvSpPr txBox="1"/>
          <p:nvPr/>
        </p:nvSpPr>
        <p:spPr>
          <a:xfrm>
            <a:off x="502920" y="896112"/>
            <a:ext cx="11155680" cy="329184"/>
          </a:xfrm>
          <a:prstGeom prst="rect">
            <a:avLst/>
          </a:prstGeom>
          <a:noFill/>
          <a:ln/>
        </p:spPr>
        <p:txBody>
          <a:bodyPr wrap="square" lIns="0" tIns="0" rIns="0" bIns="0" rtlCol="0" anchor="ctr"/>
          <a:lstStyle/>
          <a:p>
            <a:pPr marL="0" indent="0">
              <a:buNone/>
            </a:pPr>
            <a:r>
              <a:rPr lang="en-US" sz="1300" i="1" dirty="0">
                <a:solidFill>
                  <a:srgbClr val="667085"/>
                </a:solidFill>
                <a:latin typeface="Calibri" pitchFamily="34" charset="0"/>
                <a:ea typeface="Calibri" pitchFamily="34" charset="-122"/>
                <a:cs typeface="Calibri" pitchFamily="34" charset="-120"/>
              </a:rPr>
              <a:t>These pages are bound to the Excel outputs of the Python pipeline</a:t>
            </a:r>
            <a:endParaRPr lang="en-US" sz="1300" dirty="0"/>
          </a:p>
        </p:txBody>
      </p:sp>
      <p:sp>
        <p:nvSpPr>
          <p:cNvPr id="4" name="Shape 2"/>
          <p:cNvSpPr/>
          <p:nvPr/>
        </p:nvSpPr>
        <p:spPr>
          <a:xfrm>
            <a:off x="502920" y="1371600"/>
            <a:ext cx="3575304" cy="3794760"/>
          </a:xfrm>
          <a:prstGeom prst="roundRect">
            <a:avLst>
              <a:gd name="adj" fmla="val 1535"/>
            </a:avLst>
          </a:prstGeom>
          <a:solidFill>
            <a:srgbClr val="F4F6FA"/>
          </a:solidFill>
          <a:ln w="12700">
            <a:solidFill>
              <a:srgbClr val="F4F6FA"/>
            </a:solidFill>
            <a:prstDash val="solid"/>
          </a:ln>
        </p:spPr>
      </p:sp>
      <p:sp>
        <p:nvSpPr>
          <p:cNvPr id="5" name="Text 3"/>
          <p:cNvSpPr txBox="1"/>
          <p:nvPr/>
        </p:nvSpPr>
        <p:spPr>
          <a:xfrm>
            <a:off x="649224" y="1463040"/>
            <a:ext cx="3291840" cy="512064"/>
          </a:xfrm>
          <a:prstGeom prst="rect">
            <a:avLst/>
          </a:prstGeom>
          <a:noFill/>
          <a:ln/>
        </p:spPr>
        <p:txBody>
          <a:bodyPr wrap="square" lIns="0" tIns="0" rIns="0" bIns="0" rtlCol="0" anchor="ctr"/>
          <a:lstStyle/>
          <a:p>
            <a:pPr marL="0" indent="0">
              <a:lnSpc>
                <a:spcPts val="1500"/>
              </a:lnSpc>
              <a:buNone/>
            </a:pPr>
            <a:r>
              <a:rPr lang="en-US" sz="1250" b="1" dirty="0">
                <a:solidFill>
                  <a:srgbClr val="16264A"/>
                </a:solidFill>
                <a:latin typeface="Cambria" pitchFamily="34" charset="0"/>
                <a:ea typeface="Cambria" pitchFamily="34" charset="-122"/>
                <a:cs typeface="Cambria" pitchFamily="34" charset="-120"/>
              </a:rPr>
              <a:t>Page 3 - Customer Intelligence</a:t>
            </a:r>
            <a:endParaRPr lang="en-US" sz="1250" dirty="0"/>
          </a:p>
        </p:txBody>
      </p:sp>
      <p:sp>
        <p:nvSpPr>
          <p:cNvPr id="6" name="Text 4"/>
          <p:cNvSpPr txBox="1"/>
          <p:nvPr/>
        </p:nvSpPr>
        <p:spPr>
          <a:xfrm>
            <a:off x="649224" y="1993392"/>
            <a:ext cx="3291840" cy="365760"/>
          </a:xfrm>
          <a:prstGeom prst="rect">
            <a:avLst/>
          </a:prstGeom>
          <a:noFill/>
          <a:ln/>
        </p:spPr>
        <p:txBody>
          <a:bodyPr wrap="square" lIns="0" tIns="0" rIns="0" bIns="0" rtlCol="0" anchor="ctr"/>
          <a:lstStyle/>
          <a:p>
            <a:pPr marL="0" indent="0">
              <a:lnSpc>
                <a:spcPts val="1100"/>
              </a:lnSpc>
              <a:buNone/>
            </a:pPr>
            <a:r>
              <a:rPr lang="en-US" sz="900" i="1" dirty="0">
                <a:solidFill>
                  <a:srgbClr val="E8A33D"/>
                </a:solidFill>
                <a:latin typeface="Calibri" pitchFamily="34" charset="0"/>
                <a:ea typeface="Calibri" pitchFamily="34" charset="-122"/>
                <a:cs typeface="Calibri" pitchFamily="34" charset="-120"/>
              </a:rPr>
              <a:t>Source: RFM_Customer_Data</a:t>
            </a:r>
            <a:endParaRPr lang="en-US" sz="900" dirty="0"/>
          </a:p>
        </p:txBody>
      </p:sp>
      <p:sp>
        <p:nvSpPr>
          <p:cNvPr id="7" name="Text 5"/>
          <p:cNvSpPr txBox="1"/>
          <p:nvPr/>
        </p:nvSpPr>
        <p:spPr>
          <a:xfrm>
            <a:off x="649224" y="2377440"/>
            <a:ext cx="3291840" cy="187452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000" dirty="0">
                <a:solidFill>
                  <a:srgbClr val="1F2937"/>
                </a:solidFill>
                <a:latin typeface="Calibri" pitchFamily="34" charset="0"/>
                <a:ea typeface="Calibri" pitchFamily="34" charset="-122"/>
                <a:cs typeface="Calibri" pitchFamily="34" charset="-120"/>
              </a:rPr>
              <a:t>Cards: Total Customers, Average RFM Score</a:t>
            </a:r>
            <a:endParaRPr lang="en-US" sz="1000" dirty="0"/>
          </a:p>
          <a:p>
            <a:pPr marL="342900" indent="-342900">
              <a:lnSpc>
                <a:spcPts val="1700"/>
              </a:lnSpc>
              <a:spcAft>
                <a:spcPts val="700"/>
              </a:spcAft>
              <a:buSzPct val="100000"/>
              <a:buChar char="•"/>
            </a:pPr>
            <a:r>
              <a:rPr lang="en-US" sz="1000" dirty="0">
                <a:solidFill>
                  <a:srgbClr val="1F2937"/>
                </a:solidFill>
                <a:latin typeface="Calibri" pitchFamily="34" charset="0"/>
                <a:ea typeface="Calibri" pitchFamily="34" charset="-122"/>
                <a:cs typeface="Calibri" pitchFamily="34" charset="-120"/>
              </a:rPr>
              <a:t>Donut: customer count by Customer_Value band</a:t>
            </a:r>
            <a:endParaRPr lang="en-US" sz="1000" dirty="0"/>
          </a:p>
          <a:p>
            <a:pPr marL="342900" indent="-342900">
              <a:lnSpc>
                <a:spcPts val="1700"/>
              </a:lnSpc>
              <a:spcAft>
                <a:spcPts val="700"/>
              </a:spcAft>
              <a:buSzPct val="100000"/>
              <a:buChar char="•"/>
            </a:pPr>
            <a:r>
              <a:rPr lang="en-US" sz="1000" dirty="0">
                <a:solidFill>
                  <a:srgbClr val="1F2937"/>
                </a:solidFill>
                <a:latin typeface="Calibri" pitchFamily="34" charset="0"/>
                <a:ea typeface="Calibri" pitchFamily="34" charset="-122"/>
                <a:cs typeface="Calibri" pitchFamily="34" charset="-120"/>
              </a:rPr>
              <a:t>Bar: total Monetary by Customer_Value</a:t>
            </a:r>
            <a:endParaRPr lang="en-US" sz="1000" dirty="0"/>
          </a:p>
          <a:p>
            <a:pPr marL="342900" indent="-342900">
              <a:lnSpc>
                <a:spcPts val="1700"/>
              </a:lnSpc>
              <a:spcAft>
                <a:spcPts val="700"/>
              </a:spcAft>
              <a:buSzPct val="100000"/>
              <a:buChar char="•"/>
            </a:pPr>
            <a:r>
              <a:rPr lang="en-US" sz="1000" dirty="0">
                <a:solidFill>
                  <a:srgbClr val="1F2937"/>
                </a:solidFill>
                <a:latin typeface="Calibri" pitchFamily="34" charset="0"/>
                <a:ea typeface="Calibri" pitchFamily="34" charset="-122"/>
                <a:cs typeface="Calibri" pitchFamily="34" charset="-120"/>
              </a:rPr>
              <a:t>Table: Customer ID, Recency, Frequency, Monetary, RFM_Score, Customer_Value</a:t>
            </a:r>
            <a:endParaRPr lang="en-US" sz="1000" dirty="0"/>
          </a:p>
          <a:p>
            <a:pPr marL="342900" indent="-342900">
              <a:lnSpc>
                <a:spcPts val="1700"/>
              </a:lnSpc>
              <a:spcAft>
                <a:spcPts val="700"/>
              </a:spcAft>
              <a:buSzPct val="100000"/>
              <a:buChar char="•"/>
            </a:pPr>
            <a:r>
              <a:rPr lang="en-US" sz="1000" dirty="0">
                <a:solidFill>
                  <a:srgbClr val="1F2937"/>
                </a:solidFill>
                <a:latin typeface="Calibri" pitchFamily="34" charset="0"/>
                <a:ea typeface="Calibri" pitchFamily="34" charset="-122"/>
                <a:cs typeface="Calibri" pitchFamily="34" charset="-120"/>
              </a:rPr>
              <a:t>Slicer: Customer_Value</a:t>
            </a:r>
            <a:endParaRPr lang="en-US" sz="1000" dirty="0"/>
          </a:p>
        </p:txBody>
      </p:sp>
      <p:sp>
        <p:nvSpPr>
          <p:cNvPr id="8" name="Text 6"/>
          <p:cNvSpPr txBox="1"/>
          <p:nvPr/>
        </p:nvSpPr>
        <p:spPr>
          <a:xfrm>
            <a:off x="649224" y="4315968"/>
            <a:ext cx="3291840" cy="749808"/>
          </a:xfrm>
          <a:prstGeom prst="rect">
            <a:avLst/>
          </a:prstGeom>
          <a:noFill/>
          <a:ln/>
        </p:spPr>
        <p:txBody>
          <a:bodyPr wrap="square" lIns="0" tIns="0" rIns="0" bIns="0" rtlCol="0" anchor="t"/>
          <a:lstStyle/>
          <a:p>
            <a:pPr marL="0" indent="0">
              <a:lnSpc>
                <a:spcPts val="1200"/>
              </a:lnSpc>
              <a:buNone/>
            </a:pPr>
            <a:r>
              <a:rPr lang="en-US" sz="950" i="1" dirty="0">
                <a:solidFill>
                  <a:srgbClr val="233A6B"/>
                </a:solidFill>
                <a:latin typeface="Calibri" pitchFamily="34" charset="0"/>
                <a:ea typeface="Calibri" pitchFamily="34" charset="-122"/>
                <a:cs typeface="Calibri" pitchFamily="34" charset="-120"/>
              </a:rPr>
              <a:t>Business use: identifying which customers to prioritise for retention and which are drifting toward lapse.</a:t>
            </a:r>
            <a:endParaRPr lang="en-US" sz="950" dirty="0"/>
          </a:p>
        </p:txBody>
      </p:sp>
      <p:sp>
        <p:nvSpPr>
          <p:cNvPr id="9" name="Shape 7"/>
          <p:cNvSpPr/>
          <p:nvPr/>
        </p:nvSpPr>
        <p:spPr>
          <a:xfrm>
            <a:off x="4315968" y="1371600"/>
            <a:ext cx="3575304" cy="3794760"/>
          </a:xfrm>
          <a:prstGeom prst="roundRect">
            <a:avLst>
              <a:gd name="adj" fmla="val 1535"/>
            </a:avLst>
          </a:prstGeom>
          <a:solidFill>
            <a:srgbClr val="F4F6FA"/>
          </a:solidFill>
          <a:ln w="12700">
            <a:solidFill>
              <a:srgbClr val="F4F6FA"/>
            </a:solidFill>
            <a:prstDash val="solid"/>
          </a:ln>
        </p:spPr>
      </p:sp>
      <p:sp>
        <p:nvSpPr>
          <p:cNvPr id="10" name="Text 8"/>
          <p:cNvSpPr txBox="1"/>
          <p:nvPr/>
        </p:nvSpPr>
        <p:spPr>
          <a:xfrm>
            <a:off x="4462272" y="1463040"/>
            <a:ext cx="3291840" cy="512064"/>
          </a:xfrm>
          <a:prstGeom prst="rect">
            <a:avLst/>
          </a:prstGeom>
          <a:noFill/>
          <a:ln/>
        </p:spPr>
        <p:txBody>
          <a:bodyPr wrap="square" lIns="0" tIns="0" rIns="0" bIns="0" rtlCol="0" anchor="ctr"/>
          <a:lstStyle/>
          <a:p>
            <a:pPr marL="0" indent="0">
              <a:lnSpc>
                <a:spcPts val="1500"/>
              </a:lnSpc>
              <a:buNone/>
            </a:pPr>
            <a:r>
              <a:rPr lang="en-US" sz="1250" b="1" dirty="0">
                <a:solidFill>
                  <a:srgbClr val="16264A"/>
                </a:solidFill>
                <a:latin typeface="Cambria" pitchFamily="34" charset="0"/>
                <a:ea typeface="Cambria" pitchFamily="34" charset="-122"/>
                <a:cs typeface="Cambria" pitchFamily="34" charset="-120"/>
              </a:rPr>
              <a:t>Page 4 - Customer CLV</a:t>
            </a:r>
            <a:endParaRPr lang="en-US" sz="1250" dirty="0"/>
          </a:p>
        </p:txBody>
      </p:sp>
      <p:sp>
        <p:nvSpPr>
          <p:cNvPr id="11" name="Text 9"/>
          <p:cNvSpPr txBox="1"/>
          <p:nvPr/>
        </p:nvSpPr>
        <p:spPr>
          <a:xfrm>
            <a:off x="4462272" y="1993392"/>
            <a:ext cx="3291840" cy="365760"/>
          </a:xfrm>
          <a:prstGeom prst="rect">
            <a:avLst/>
          </a:prstGeom>
          <a:noFill/>
          <a:ln/>
        </p:spPr>
        <p:txBody>
          <a:bodyPr wrap="square" lIns="0" tIns="0" rIns="0" bIns="0" rtlCol="0" anchor="ctr"/>
          <a:lstStyle/>
          <a:p>
            <a:pPr marL="0" indent="0">
              <a:lnSpc>
                <a:spcPts val="1100"/>
              </a:lnSpc>
              <a:buNone/>
            </a:pPr>
            <a:r>
              <a:rPr lang="en-US" sz="900" i="1" dirty="0">
                <a:solidFill>
                  <a:srgbClr val="E8A33D"/>
                </a:solidFill>
                <a:latin typeface="Calibri" pitchFamily="34" charset="0"/>
                <a:ea typeface="Calibri" pitchFamily="34" charset="-122"/>
                <a:cs typeface="Calibri" pitchFamily="34" charset="-120"/>
              </a:rPr>
              <a:t>Source: Customer_CLV_Data</a:t>
            </a:r>
            <a:endParaRPr lang="en-US" sz="900" dirty="0"/>
          </a:p>
        </p:txBody>
      </p:sp>
      <p:sp>
        <p:nvSpPr>
          <p:cNvPr id="12" name="Text 10"/>
          <p:cNvSpPr txBox="1"/>
          <p:nvPr/>
        </p:nvSpPr>
        <p:spPr>
          <a:xfrm>
            <a:off x="4462272" y="2377440"/>
            <a:ext cx="3291840" cy="187452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000" dirty="0">
                <a:solidFill>
                  <a:srgbClr val="1F2937"/>
                </a:solidFill>
                <a:latin typeface="Calibri" pitchFamily="34" charset="0"/>
                <a:ea typeface="Calibri" pitchFamily="34" charset="-122"/>
                <a:cs typeface="Calibri" pitchFamily="34" charset="-120"/>
              </a:rPr>
              <a:t>Cards: Total CLV, Average CLV</a:t>
            </a:r>
            <a:endParaRPr lang="en-US" sz="1000" dirty="0"/>
          </a:p>
          <a:p>
            <a:pPr marL="342900" indent="-342900">
              <a:lnSpc>
                <a:spcPts val="1700"/>
              </a:lnSpc>
              <a:spcAft>
                <a:spcPts val="700"/>
              </a:spcAft>
              <a:buSzPct val="100000"/>
              <a:buChar char="•"/>
            </a:pPr>
            <a:r>
              <a:rPr lang="en-US" sz="1000" dirty="0">
                <a:solidFill>
                  <a:srgbClr val="1F2937"/>
                </a:solidFill>
                <a:latin typeface="Calibri" pitchFamily="34" charset="0"/>
                <a:ea typeface="Calibri" pitchFamily="34" charset="-122"/>
                <a:cs typeface="Calibri" pitchFamily="34" charset="-120"/>
              </a:rPr>
              <a:t>Column: total CLV by CLV_Category</a:t>
            </a:r>
            <a:endParaRPr lang="en-US" sz="1000" dirty="0"/>
          </a:p>
          <a:p>
            <a:pPr marL="342900" indent="-342900">
              <a:lnSpc>
                <a:spcPts val="1700"/>
              </a:lnSpc>
              <a:spcAft>
                <a:spcPts val="700"/>
              </a:spcAft>
              <a:buSzPct val="100000"/>
              <a:buChar char="•"/>
            </a:pPr>
            <a:r>
              <a:rPr lang="en-US" sz="1000" dirty="0">
                <a:solidFill>
                  <a:srgbClr val="1F2937"/>
                </a:solidFill>
                <a:latin typeface="Calibri" pitchFamily="34" charset="0"/>
                <a:ea typeface="Calibri" pitchFamily="34" charset="-122"/>
                <a:cs typeface="Calibri" pitchFamily="34" charset="-120"/>
              </a:rPr>
              <a:t>Table: Customer ID, Total_Sales, Order_Count, CLV, CLV_Category</a:t>
            </a:r>
            <a:endParaRPr lang="en-US" sz="1000" dirty="0"/>
          </a:p>
          <a:p>
            <a:pPr marL="342900" indent="-342900">
              <a:lnSpc>
                <a:spcPts val="1700"/>
              </a:lnSpc>
              <a:spcAft>
                <a:spcPts val="700"/>
              </a:spcAft>
              <a:buSzPct val="100000"/>
              <a:buChar char="•"/>
            </a:pPr>
            <a:r>
              <a:rPr lang="en-US" sz="1000" dirty="0">
                <a:solidFill>
                  <a:srgbClr val="1F2937"/>
                </a:solidFill>
                <a:latin typeface="Calibri" pitchFamily="34" charset="0"/>
                <a:ea typeface="Calibri" pitchFamily="34" charset="-122"/>
                <a:cs typeface="Calibri" pitchFamily="34" charset="-120"/>
              </a:rPr>
              <a:t>Slicer: CLV_Category</a:t>
            </a:r>
            <a:endParaRPr lang="en-US" sz="1000" dirty="0"/>
          </a:p>
        </p:txBody>
      </p:sp>
      <p:sp>
        <p:nvSpPr>
          <p:cNvPr id="13" name="Text 11"/>
          <p:cNvSpPr txBox="1"/>
          <p:nvPr/>
        </p:nvSpPr>
        <p:spPr>
          <a:xfrm>
            <a:off x="4462272" y="4315968"/>
            <a:ext cx="3291840" cy="749808"/>
          </a:xfrm>
          <a:prstGeom prst="rect">
            <a:avLst/>
          </a:prstGeom>
          <a:noFill/>
          <a:ln/>
        </p:spPr>
        <p:txBody>
          <a:bodyPr wrap="square" lIns="0" tIns="0" rIns="0" bIns="0" rtlCol="0" anchor="t"/>
          <a:lstStyle/>
          <a:p>
            <a:pPr marL="0" indent="0">
              <a:lnSpc>
                <a:spcPts val="1200"/>
              </a:lnSpc>
              <a:buNone/>
            </a:pPr>
            <a:r>
              <a:rPr lang="en-US" sz="950" i="1" dirty="0">
                <a:solidFill>
                  <a:srgbClr val="233A6B"/>
                </a:solidFill>
                <a:latin typeface="Calibri" pitchFamily="34" charset="0"/>
                <a:ea typeface="Calibri" pitchFamily="34" charset="-122"/>
                <a:cs typeface="Calibri" pitchFamily="34" charset="-120"/>
              </a:rPr>
              <a:t>Business use: ranking customers by estimated historical value to guide loyalty and account-management effort.</a:t>
            </a:r>
            <a:endParaRPr lang="en-US" sz="950" dirty="0"/>
          </a:p>
        </p:txBody>
      </p:sp>
      <p:sp>
        <p:nvSpPr>
          <p:cNvPr id="14" name="Shape 12"/>
          <p:cNvSpPr/>
          <p:nvPr/>
        </p:nvSpPr>
        <p:spPr>
          <a:xfrm>
            <a:off x="8129016" y="1371600"/>
            <a:ext cx="3575304" cy="3794760"/>
          </a:xfrm>
          <a:prstGeom prst="roundRect">
            <a:avLst>
              <a:gd name="adj" fmla="val 1535"/>
            </a:avLst>
          </a:prstGeom>
          <a:solidFill>
            <a:srgbClr val="F4F6FA"/>
          </a:solidFill>
          <a:ln w="12700">
            <a:solidFill>
              <a:srgbClr val="F4F6FA"/>
            </a:solidFill>
            <a:prstDash val="solid"/>
          </a:ln>
        </p:spPr>
      </p:sp>
      <p:sp>
        <p:nvSpPr>
          <p:cNvPr id="15" name="Text 13"/>
          <p:cNvSpPr txBox="1"/>
          <p:nvPr/>
        </p:nvSpPr>
        <p:spPr>
          <a:xfrm>
            <a:off x="8275320" y="1463040"/>
            <a:ext cx="3291840" cy="512064"/>
          </a:xfrm>
          <a:prstGeom prst="rect">
            <a:avLst/>
          </a:prstGeom>
          <a:noFill/>
          <a:ln/>
        </p:spPr>
        <p:txBody>
          <a:bodyPr wrap="square" lIns="0" tIns="0" rIns="0" bIns="0" rtlCol="0" anchor="ctr"/>
          <a:lstStyle/>
          <a:p>
            <a:pPr marL="0" indent="0">
              <a:lnSpc>
                <a:spcPts val="1500"/>
              </a:lnSpc>
              <a:buNone/>
            </a:pPr>
            <a:r>
              <a:rPr lang="en-US" sz="1250" b="1" dirty="0">
                <a:solidFill>
                  <a:srgbClr val="16264A"/>
                </a:solidFill>
                <a:latin typeface="Cambria" pitchFamily="34" charset="0"/>
                <a:ea typeface="Cambria" pitchFamily="34" charset="-122"/>
                <a:cs typeface="Cambria" pitchFamily="34" charset="-120"/>
              </a:rPr>
              <a:t>Page 5 - Scenario Analysis</a:t>
            </a:r>
            <a:endParaRPr lang="en-US" sz="1250" dirty="0"/>
          </a:p>
        </p:txBody>
      </p:sp>
      <p:sp>
        <p:nvSpPr>
          <p:cNvPr id="16" name="Text 14"/>
          <p:cNvSpPr txBox="1"/>
          <p:nvPr/>
        </p:nvSpPr>
        <p:spPr>
          <a:xfrm>
            <a:off x="8275320" y="1993392"/>
            <a:ext cx="3291840" cy="365760"/>
          </a:xfrm>
          <a:prstGeom prst="rect">
            <a:avLst/>
          </a:prstGeom>
          <a:noFill/>
          <a:ln/>
        </p:spPr>
        <p:txBody>
          <a:bodyPr wrap="square" lIns="0" tIns="0" rIns="0" bIns="0" rtlCol="0" anchor="ctr"/>
          <a:lstStyle/>
          <a:p>
            <a:pPr marL="0" indent="0">
              <a:lnSpc>
                <a:spcPts val="1100"/>
              </a:lnSpc>
              <a:buNone/>
            </a:pPr>
            <a:r>
              <a:rPr lang="en-US" sz="900" i="1" dirty="0">
                <a:solidFill>
                  <a:srgbClr val="E8A33D"/>
                </a:solidFill>
                <a:latin typeface="Calibri" pitchFamily="34" charset="0"/>
                <a:ea typeface="Calibri" pitchFamily="34" charset="-122"/>
                <a:cs typeface="Calibri" pitchFamily="34" charset="-120"/>
              </a:rPr>
              <a:t>Source: Discount_Scenarios, Quantity_Scenarios</a:t>
            </a:r>
            <a:endParaRPr lang="en-US" sz="900" dirty="0"/>
          </a:p>
        </p:txBody>
      </p:sp>
      <p:sp>
        <p:nvSpPr>
          <p:cNvPr id="17" name="Text 15"/>
          <p:cNvSpPr txBox="1"/>
          <p:nvPr/>
        </p:nvSpPr>
        <p:spPr>
          <a:xfrm>
            <a:off x="8275320" y="2377440"/>
            <a:ext cx="3291840" cy="187452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000" dirty="0">
                <a:solidFill>
                  <a:srgbClr val="1F2937"/>
                </a:solidFill>
                <a:latin typeface="Calibri" pitchFamily="34" charset="0"/>
                <a:ea typeface="Calibri" pitchFamily="34" charset="-122"/>
                <a:cs typeface="Calibri" pitchFamily="34" charset="-120"/>
              </a:rPr>
              <a:t>Table: Discount Scenario Comparison (all five columns)</a:t>
            </a:r>
            <a:endParaRPr lang="en-US" sz="1000" dirty="0"/>
          </a:p>
          <a:p>
            <a:pPr marL="342900" indent="-342900">
              <a:lnSpc>
                <a:spcPts val="1700"/>
              </a:lnSpc>
              <a:spcAft>
                <a:spcPts val="700"/>
              </a:spcAft>
              <a:buSzPct val="100000"/>
              <a:buChar char="•"/>
            </a:pPr>
            <a:r>
              <a:rPr lang="en-US" sz="1000" dirty="0">
                <a:solidFill>
                  <a:srgbClr val="1F2937"/>
                </a:solidFill>
                <a:latin typeface="Calibri" pitchFamily="34" charset="0"/>
                <a:ea typeface="Calibri" pitchFamily="34" charset="-122"/>
                <a:cs typeface="Calibri" pitchFamily="34" charset="-120"/>
              </a:rPr>
              <a:t>Table: Quantity Scenario Comparison</a:t>
            </a:r>
            <a:endParaRPr lang="en-US" sz="1000" dirty="0"/>
          </a:p>
          <a:p>
            <a:pPr marL="342900" indent="-342900">
              <a:lnSpc>
                <a:spcPts val="1700"/>
              </a:lnSpc>
              <a:spcAft>
                <a:spcPts val="700"/>
              </a:spcAft>
              <a:buSzPct val="100000"/>
              <a:buChar char="•"/>
            </a:pPr>
            <a:r>
              <a:rPr lang="en-US" sz="1000" dirty="0">
                <a:solidFill>
                  <a:srgbClr val="1F2937"/>
                </a:solidFill>
                <a:latin typeface="Calibri" pitchFamily="34" charset="0"/>
                <a:ea typeface="Calibri" pitchFamily="34" charset="-122"/>
                <a:cs typeface="Calibri" pitchFamily="34" charset="-120"/>
              </a:rPr>
              <a:t>Line: Impact of Discount on Predicted Sales</a:t>
            </a:r>
            <a:endParaRPr lang="en-US" sz="1000" dirty="0"/>
          </a:p>
          <a:p>
            <a:pPr marL="342900" indent="-342900">
              <a:lnSpc>
                <a:spcPts val="1700"/>
              </a:lnSpc>
              <a:spcAft>
                <a:spcPts val="700"/>
              </a:spcAft>
              <a:buSzPct val="100000"/>
              <a:buChar char="•"/>
            </a:pPr>
            <a:r>
              <a:rPr lang="en-US" sz="1000" dirty="0">
                <a:solidFill>
                  <a:srgbClr val="1F2937"/>
                </a:solidFill>
                <a:latin typeface="Calibri" pitchFamily="34" charset="0"/>
                <a:ea typeface="Calibri" pitchFamily="34" charset="-122"/>
                <a:cs typeface="Calibri" pitchFamily="34" charset="-120"/>
              </a:rPr>
              <a:t>Line: Impact of Quantity on Predicted Sales</a:t>
            </a:r>
            <a:endParaRPr lang="en-US" sz="1000" dirty="0"/>
          </a:p>
          <a:p>
            <a:pPr marL="342900" indent="-342900">
              <a:lnSpc>
                <a:spcPts val="1700"/>
              </a:lnSpc>
              <a:spcAft>
                <a:spcPts val="700"/>
              </a:spcAft>
              <a:buSzPct val="100000"/>
              <a:buChar char="•"/>
            </a:pPr>
            <a:r>
              <a:rPr lang="en-US" sz="1000" dirty="0">
                <a:solidFill>
                  <a:srgbClr val="1F2937"/>
                </a:solidFill>
                <a:latin typeface="Calibri" pitchFamily="34" charset="0"/>
                <a:ea typeface="Calibri" pitchFamily="34" charset="-122"/>
                <a:cs typeface="Calibri" pitchFamily="34" charset="-120"/>
              </a:rPr>
              <a:t>Slicers: Select Discount, Select Quantity</a:t>
            </a:r>
            <a:endParaRPr lang="en-US" sz="1000" dirty="0"/>
          </a:p>
        </p:txBody>
      </p:sp>
      <p:sp>
        <p:nvSpPr>
          <p:cNvPr id="18" name="Text 16"/>
          <p:cNvSpPr txBox="1"/>
          <p:nvPr/>
        </p:nvSpPr>
        <p:spPr>
          <a:xfrm>
            <a:off x="8275320" y="4315968"/>
            <a:ext cx="3291840" cy="749808"/>
          </a:xfrm>
          <a:prstGeom prst="rect">
            <a:avLst/>
          </a:prstGeom>
          <a:noFill/>
          <a:ln/>
        </p:spPr>
        <p:txBody>
          <a:bodyPr wrap="square" lIns="0" tIns="0" rIns="0" bIns="0" rtlCol="0" anchor="t"/>
          <a:lstStyle/>
          <a:p>
            <a:pPr marL="0" indent="0">
              <a:lnSpc>
                <a:spcPts val="1200"/>
              </a:lnSpc>
              <a:buNone/>
            </a:pPr>
            <a:r>
              <a:rPr lang="en-US" sz="950" i="1" dirty="0">
                <a:solidFill>
                  <a:srgbClr val="233A6B"/>
                </a:solidFill>
                <a:latin typeface="Calibri" pitchFamily="34" charset="0"/>
                <a:ea typeface="Calibri" pitchFamily="34" charset="-122"/>
                <a:cs typeface="Calibri" pitchFamily="34" charset="-120"/>
              </a:rPr>
              <a:t>Business use: examining how the model's predicted sales respond to different pricing and basket-size assumptions.</a:t>
            </a:r>
            <a:endParaRPr lang="en-US" sz="950" dirty="0"/>
          </a:p>
        </p:txBody>
      </p:sp>
      <p:sp>
        <p:nvSpPr>
          <p:cNvPr id="19" name="Shape 17"/>
          <p:cNvSpPr/>
          <p:nvPr/>
        </p:nvSpPr>
        <p:spPr>
          <a:xfrm>
            <a:off x="502920" y="5349240"/>
            <a:ext cx="11201400" cy="777240"/>
          </a:xfrm>
          <a:prstGeom prst="roundRect">
            <a:avLst>
              <a:gd name="adj" fmla="val 7059"/>
            </a:avLst>
          </a:prstGeom>
          <a:solidFill>
            <a:srgbClr val="EDF1F8"/>
          </a:solidFill>
          <a:ln w="12700">
            <a:solidFill>
              <a:srgbClr val="EDF1F8"/>
            </a:solidFill>
            <a:prstDash val="solid"/>
          </a:ln>
        </p:spPr>
      </p:sp>
      <p:sp>
        <p:nvSpPr>
          <p:cNvPr id="20" name="Text 18"/>
          <p:cNvSpPr txBox="1"/>
          <p:nvPr/>
        </p:nvSpPr>
        <p:spPr>
          <a:xfrm>
            <a:off x="685800" y="5468112"/>
            <a:ext cx="10835640" cy="566928"/>
          </a:xfrm>
          <a:prstGeom prst="rect">
            <a:avLst/>
          </a:prstGeom>
          <a:noFill/>
          <a:ln/>
        </p:spPr>
        <p:txBody>
          <a:bodyPr wrap="square" lIns="0" tIns="0" rIns="0" bIns="0" rtlCol="0" anchor="t"/>
          <a:lstStyle/>
          <a:p>
            <a:pPr marL="0" indent="0">
              <a:lnSpc>
                <a:spcPts val="1350"/>
              </a:lnSpc>
              <a:buNone/>
            </a:pPr>
            <a:r>
              <a:rPr lang="en-US" sz="1050" dirty="0">
                <a:solidFill>
                  <a:srgbClr val="1F2937"/>
                </a:solidFill>
                <a:latin typeface="Calibri" pitchFamily="34" charset="0"/>
                <a:ea typeface="Calibri" pitchFamily="34" charset="-122"/>
                <a:cs typeface="Calibri" pitchFamily="34" charset="-120"/>
              </a:rPr>
              <a:t>Page 6 - Business Insights: a written summary covering sales performance, product performance, regional performance, customer intelligence, customer lifetime value and scenario analysis. It correctly describes the scenario pages as showing how the model's predicted sales change under different inputs rather than as measured business outcomes.</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66928"/>
          </a:xfrm>
          <a:prstGeom prst="rect">
            <a:avLst/>
          </a:prstGeom>
          <a:noFill/>
          <a:ln/>
        </p:spPr>
        <p:txBody>
          <a:bodyPr wrap="square" lIns="0" tIns="0" rIns="0" bIns="0" rtlCol="0" anchor="ctr"/>
          <a:lstStyle/>
          <a:p>
            <a:pPr marL="0" indent="0">
              <a:buNone/>
            </a:pPr>
            <a:r>
              <a:rPr lang="en-US" sz="3000" b="1" dirty="0">
                <a:solidFill>
                  <a:srgbClr val="16264A"/>
                </a:solidFill>
                <a:latin typeface="Cambria" pitchFamily="34" charset="0"/>
                <a:ea typeface="Cambria" pitchFamily="34" charset="-122"/>
                <a:cs typeface="Cambria" pitchFamily="34" charset="-120"/>
              </a:rPr>
              <a:t>Performance Evaluation</a:t>
            </a:r>
            <a:endParaRPr lang="en-US" sz="3000" dirty="0"/>
          </a:p>
        </p:txBody>
      </p:sp>
      <p:sp>
        <p:nvSpPr>
          <p:cNvPr id="3" name="Text 1"/>
          <p:cNvSpPr txBox="1"/>
          <p:nvPr/>
        </p:nvSpPr>
        <p:spPr>
          <a:xfrm>
            <a:off x="502920" y="896112"/>
            <a:ext cx="11155680" cy="329184"/>
          </a:xfrm>
          <a:prstGeom prst="rect">
            <a:avLst/>
          </a:prstGeom>
          <a:noFill/>
          <a:ln/>
        </p:spPr>
        <p:txBody>
          <a:bodyPr wrap="square" lIns="0" tIns="0" rIns="0" bIns="0" rtlCol="0" anchor="ctr"/>
          <a:lstStyle/>
          <a:p>
            <a:pPr marL="0" indent="0">
              <a:buNone/>
            </a:pPr>
            <a:r>
              <a:rPr lang="en-US" sz="1300" i="1" dirty="0">
                <a:solidFill>
                  <a:srgbClr val="667085"/>
                </a:solidFill>
                <a:latin typeface="Calibri" pitchFamily="34" charset="0"/>
                <a:ea typeface="Calibri" pitchFamily="34" charset="-122"/>
                <a:cs typeface="Calibri" pitchFamily="34" charset="-120"/>
              </a:rPr>
              <a:t>What was measured, and how the pipeline was validated</a:t>
            </a:r>
            <a:endParaRPr lang="en-US" sz="1300" dirty="0"/>
          </a:p>
        </p:txBody>
      </p:sp>
      <p:sp>
        <p:nvSpPr>
          <p:cNvPr id="4" name="Text 2"/>
          <p:cNvSpPr txBox="1"/>
          <p:nvPr/>
        </p:nvSpPr>
        <p:spPr>
          <a:xfrm>
            <a:off x="502920" y="1371600"/>
            <a:ext cx="5577840" cy="274320"/>
          </a:xfrm>
          <a:prstGeom prst="rect">
            <a:avLst/>
          </a:prstGeom>
          <a:noFill/>
          <a:ln/>
        </p:spPr>
        <p:txBody>
          <a:bodyPr wrap="square" lIns="0" tIns="0" rIns="0" bIns="0" rtlCol="0" anchor="t"/>
          <a:lstStyle/>
          <a:p>
            <a:pPr marL="0" indent="0">
              <a:buNone/>
            </a:pPr>
            <a:r>
              <a:rPr lang="en-US" sz="1400" b="1" dirty="0">
                <a:solidFill>
                  <a:srgbClr val="16264A"/>
                </a:solidFill>
                <a:latin typeface="Cambria" pitchFamily="34" charset="0"/>
                <a:ea typeface="Cambria" pitchFamily="34" charset="-122"/>
                <a:cs typeface="Cambria" pitchFamily="34" charset="-120"/>
              </a:rPr>
              <a:t>Model evaluation</a:t>
            </a:r>
            <a:endParaRPr lang="en-US" sz="1400" dirty="0"/>
          </a:p>
        </p:txBody>
      </p:sp>
      <p:sp>
        <p:nvSpPr>
          <p:cNvPr id="5" name="Text 3"/>
          <p:cNvSpPr txBox="1"/>
          <p:nvPr/>
        </p:nvSpPr>
        <p:spPr>
          <a:xfrm>
            <a:off x="521208" y="1682496"/>
            <a:ext cx="5541264" cy="160020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Held-out testing: 10,258 rows never seen during training, fixed seed for reproducibility</a:t>
            </a:r>
            <a:endParaRPr lang="en-US" sz="1150" dirty="0"/>
          </a:p>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Three complementary regression metrics reported for all four models</a:t>
            </a:r>
            <a:endParaRPr lang="en-US" sz="1150" dirty="0"/>
          </a:p>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Actual-versus-predicted scatter plots saved for every model, giving a visual residual check</a:t>
            </a:r>
            <a:endParaRPr lang="en-US" sz="1150" dirty="0"/>
          </a:p>
          <a:p>
            <a:pPr marL="342900" indent="-342900">
              <a:lnSpc>
                <a:spcPts val="1700"/>
              </a:lnSpc>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Clustering evaluated separately using silhouette scores across k = 2 to 6</a:t>
            </a:r>
            <a:endParaRPr lang="en-US" sz="1150" dirty="0"/>
          </a:p>
        </p:txBody>
      </p:sp>
      <p:graphicFrame>
        <p:nvGraphicFramePr>
          <p:cNvPr id="6" name="Chart 0"/>
          <p:cNvGraphicFramePr/>
          <p:nvPr/>
        </p:nvGraphicFramePr>
        <p:xfrm>
          <a:off x="502920" y="3200400"/>
          <a:ext cx="5577840"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502920" y="5559552"/>
            <a:ext cx="5577840" cy="274320"/>
          </a:xfrm>
          <a:prstGeom prst="rect">
            <a:avLst/>
          </a:prstGeom>
          <a:noFill/>
          <a:ln/>
        </p:spPr>
        <p:txBody>
          <a:bodyPr wrap="square" lIns="0" tIns="0" rIns="0" bIns="0" rtlCol="0" anchor="ctr"/>
          <a:lstStyle/>
          <a:p>
            <a:pPr marL="0" indent="0" algn="ctr">
              <a:buNone/>
            </a:pPr>
            <a:r>
              <a:rPr lang="en-US" sz="1000" i="1" dirty="0">
                <a:solidFill>
                  <a:srgbClr val="667085"/>
                </a:solidFill>
                <a:latin typeface="Calibri" pitchFamily="34" charset="0"/>
                <a:ea typeface="Calibri" pitchFamily="34" charset="-122"/>
                <a:cs typeface="Calibri" pitchFamily="34" charset="-120"/>
              </a:rPr>
              <a:t>Figure 6: RMSE comparison, values from Model_Comparison.xlsx</a:t>
            </a:r>
            <a:endParaRPr lang="en-US" sz="1000" dirty="0"/>
          </a:p>
        </p:txBody>
      </p:sp>
      <p:sp>
        <p:nvSpPr>
          <p:cNvPr id="8" name="Text 5"/>
          <p:cNvSpPr txBox="1"/>
          <p:nvPr/>
        </p:nvSpPr>
        <p:spPr>
          <a:xfrm>
            <a:off x="6355080" y="1371600"/>
            <a:ext cx="5349240" cy="274320"/>
          </a:xfrm>
          <a:prstGeom prst="rect">
            <a:avLst/>
          </a:prstGeom>
          <a:noFill/>
          <a:ln/>
        </p:spPr>
        <p:txBody>
          <a:bodyPr wrap="square" lIns="0" tIns="0" rIns="0" bIns="0" rtlCol="0" anchor="t"/>
          <a:lstStyle/>
          <a:p>
            <a:pPr marL="0" indent="0">
              <a:buNone/>
            </a:pPr>
            <a:r>
              <a:rPr lang="en-US" sz="1400" b="1" dirty="0">
                <a:solidFill>
                  <a:srgbClr val="16264A"/>
                </a:solidFill>
                <a:latin typeface="Cambria" pitchFamily="34" charset="0"/>
                <a:ea typeface="Cambria" pitchFamily="34" charset="-122"/>
                <a:cs typeface="Cambria" pitchFamily="34" charset="-120"/>
              </a:rPr>
              <a:t>Limitations and possible sources of error</a:t>
            </a:r>
            <a:endParaRPr lang="en-US" sz="1400" dirty="0"/>
          </a:p>
        </p:txBody>
      </p:sp>
      <p:sp>
        <p:nvSpPr>
          <p:cNvPr id="9" name="Text 6"/>
          <p:cNvSpPr txBox="1"/>
          <p:nvPr/>
        </p:nvSpPr>
        <p:spPr>
          <a:xfrm>
            <a:off x="6373368" y="1682496"/>
            <a:ext cx="5312664" cy="342900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No cross-validation: metrics come from a single train/test split, so they carry sampling variance</a:t>
            </a:r>
            <a:endParaRPr lang="en-US" sz="1100" dirty="0"/>
          </a:p>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No hyperparameter tuning: all four models use library defaults, so the comparison reflects default behaviour rather than tuned potential</a:t>
            </a:r>
            <a:endParaRPr lang="en-US" sz="1100" dirty="0"/>
          </a:p>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IQR capping removes the hardest cases before training, which inflates apparent performance relative to raw data</a:t>
            </a:r>
            <a:endParaRPr lang="en-US" sz="1100" dirty="0"/>
          </a:p>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Possible leakage risk: Shipping Cost is a predictor of Sales and is often derived from order value; its inclusion may make the task easier than genuine forecasting</a:t>
            </a:r>
            <a:endParaRPr lang="en-US" sz="1100" dirty="0"/>
          </a:p>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No temporal split: rows spanning 2011-2014 were shuffled randomly, so the model interpolates rather than forecasts forward</a:t>
            </a:r>
            <a:endParaRPr lang="en-US" sz="1100" dirty="0"/>
          </a:p>
          <a:p>
            <a:pPr marL="342900" indent="-342900">
              <a:lnSpc>
                <a:spcPts val="1700"/>
              </a:lnSpc>
              <a:spcAft>
                <a:spcPts val="700"/>
              </a:spcAft>
              <a:buSzPct val="100000"/>
              <a:buChar char="•"/>
            </a:pPr>
            <a:r>
              <a:rPr lang="en-US" sz="1100" dirty="0">
                <a:solidFill>
                  <a:srgbClr val="1F2937"/>
                </a:solidFill>
                <a:latin typeface="Calibri" pitchFamily="34" charset="0"/>
                <a:ea typeface="Calibri" pitchFamily="34" charset="-122"/>
                <a:cs typeface="Calibri" pitchFamily="34" charset="-120"/>
              </a:rPr>
              <a:t>Scenario predictions have no ground truth; the counterfactual discount levels were never observed</a:t>
            </a:r>
            <a:endParaRPr lang="en-US" sz="1100" dirty="0"/>
          </a:p>
        </p:txBody>
      </p:sp>
      <p:sp>
        <p:nvSpPr>
          <p:cNvPr id="10" name="Text 7"/>
          <p:cNvSpPr txBox="1"/>
          <p:nvPr/>
        </p:nvSpPr>
        <p:spPr>
          <a:xfrm>
            <a:off x="6355080" y="4956048"/>
            <a:ext cx="5349240" cy="274320"/>
          </a:xfrm>
          <a:prstGeom prst="rect">
            <a:avLst/>
          </a:prstGeom>
          <a:noFill/>
          <a:ln/>
        </p:spPr>
        <p:txBody>
          <a:bodyPr wrap="square" lIns="0" tIns="0" rIns="0" bIns="0" rtlCol="0" anchor="t"/>
          <a:lstStyle/>
          <a:p>
            <a:pPr marL="0" indent="0">
              <a:buNone/>
            </a:pPr>
            <a:r>
              <a:rPr lang="en-US" sz="1300" b="1" dirty="0">
                <a:solidFill>
                  <a:srgbClr val="16264A"/>
                </a:solidFill>
                <a:latin typeface="Cambria" pitchFamily="34" charset="0"/>
                <a:ea typeface="Cambria" pitchFamily="34" charset="-122"/>
                <a:cs typeface="Cambria" pitchFamily="34" charset="-120"/>
              </a:rPr>
              <a:t>Data quality validation</a:t>
            </a:r>
            <a:endParaRPr lang="en-US" sz="1300" dirty="0"/>
          </a:p>
        </p:txBody>
      </p:sp>
      <p:sp>
        <p:nvSpPr>
          <p:cNvPr id="11" name="Shape 8"/>
          <p:cNvSpPr/>
          <p:nvPr/>
        </p:nvSpPr>
        <p:spPr>
          <a:xfrm>
            <a:off x="6355080" y="5285232"/>
            <a:ext cx="1261872" cy="749808"/>
          </a:xfrm>
          <a:prstGeom prst="roundRect">
            <a:avLst>
              <a:gd name="adj" fmla="val 7317"/>
            </a:avLst>
          </a:prstGeom>
          <a:solidFill>
            <a:srgbClr val="F4F6FA"/>
          </a:solidFill>
          <a:ln w="12700">
            <a:solidFill>
              <a:srgbClr val="F4F6FA"/>
            </a:solidFill>
            <a:prstDash val="solid"/>
          </a:ln>
        </p:spPr>
      </p:sp>
      <p:sp>
        <p:nvSpPr>
          <p:cNvPr id="12" name="Text 9"/>
          <p:cNvSpPr txBox="1"/>
          <p:nvPr/>
        </p:nvSpPr>
        <p:spPr>
          <a:xfrm>
            <a:off x="6355080" y="5349240"/>
            <a:ext cx="1261872" cy="310896"/>
          </a:xfrm>
          <a:prstGeom prst="rect">
            <a:avLst/>
          </a:prstGeom>
          <a:noFill/>
          <a:ln/>
        </p:spPr>
        <p:txBody>
          <a:bodyPr wrap="square" lIns="0" tIns="0" rIns="0" bIns="0" rtlCol="0" anchor="ctr"/>
          <a:lstStyle/>
          <a:p>
            <a:pPr marL="0" indent="0" algn="ctr">
              <a:buNone/>
            </a:pPr>
            <a:r>
              <a:rPr lang="en-US" sz="1500" b="1" dirty="0">
                <a:solidFill>
                  <a:srgbClr val="16264A"/>
                </a:solidFill>
                <a:latin typeface="Cambria" pitchFamily="34" charset="0"/>
                <a:ea typeface="Cambria" pitchFamily="34" charset="-122"/>
                <a:cs typeface="Cambria" pitchFamily="34" charset="-120"/>
              </a:rPr>
              <a:t>51,290</a:t>
            </a:r>
            <a:endParaRPr lang="en-US" sz="1500" dirty="0"/>
          </a:p>
        </p:txBody>
      </p:sp>
      <p:sp>
        <p:nvSpPr>
          <p:cNvPr id="13" name="Text 10"/>
          <p:cNvSpPr txBox="1"/>
          <p:nvPr/>
        </p:nvSpPr>
        <p:spPr>
          <a:xfrm>
            <a:off x="6355080" y="5660136"/>
            <a:ext cx="1261872" cy="292608"/>
          </a:xfrm>
          <a:prstGeom prst="rect">
            <a:avLst/>
          </a:prstGeom>
          <a:noFill/>
          <a:ln/>
        </p:spPr>
        <p:txBody>
          <a:bodyPr wrap="square" lIns="0" tIns="0" rIns="0" bIns="0" rtlCol="0" anchor="ctr"/>
          <a:lstStyle/>
          <a:p>
            <a:pPr marL="0" indent="0" algn="ctr">
              <a:buNone/>
            </a:pPr>
            <a:r>
              <a:rPr lang="en-US" sz="900" dirty="0">
                <a:solidFill>
                  <a:srgbClr val="667085"/>
                </a:solidFill>
                <a:latin typeface="Calibri" pitchFamily="34" charset="0"/>
                <a:ea typeface="Calibri" pitchFamily="34" charset="-122"/>
                <a:cs typeface="Calibri" pitchFamily="34" charset="-120"/>
              </a:rPr>
              <a:t>rows end to end</a:t>
            </a:r>
            <a:endParaRPr lang="en-US" sz="900" dirty="0"/>
          </a:p>
        </p:txBody>
      </p:sp>
      <p:sp>
        <p:nvSpPr>
          <p:cNvPr id="14" name="Shape 11"/>
          <p:cNvSpPr/>
          <p:nvPr/>
        </p:nvSpPr>
        <p:spPr>
          <a:xfrm>
            <a:off x="7717536" y="5285232"/>
            <a:ext cx="1261872" cy="749808"/>
          </a:xfrm>
          <a:prstGeom prst="roundRect">
            <a:avLst>
              <a:gd name="adj" fmla="val 7317"/>
            </a:avLst>
          </a:prstGeom>
          <a:solidFill>
            <a:srgbClr val="F4F6FA"/>
          </a:solidFill>
          <a:ln w="12700">
            <a:solidFill>
              <a:srgbClr val="F4F6FA"/>
            </a:solidFill>
            <a:prstDash val="solid"/>
          </a:ln>
        </p:spPr>
      </p:sp>
      <p:sp>
        <p:nvSpPr>
          <p:cNvPr id="15" name="Text 12"/>
          <p:cNvSpPr txBox="1"/>
          <p:nvPr/>
        </p:nvSpPr>
        <p:spPr>
          <a:xfrm>
            <a:off x="7717536" y="5349240"/>
            <a:ext cx="1261872" cy="310896"/>
          </a:xfrm>
          <a:prstGeom prst="rect">
            <a:avLst/>
          </a:prstGeom>
          <a:noFill/>
          <a:ln/>
        </p:spPr>
        <p:txBody>
          <a:bodyPr wrap="square" lIns="0" tIns="0" rIns="0" bIns="0" rtlCol="0" anchor="ctr"/>
          <a:lstStyle/>
          <a:p>
            <a:pPr marL="0" indent="0" algn="ctr">
              <a:buNone/>
            </a:pPr>
            <a:r>
              <a:rPr lang="en-US" sz="1500" b="1" dirty="0">
                <a:solidFill>
                  <a:srgbClr val="16264A"/>
                </a:solidFill>
                <a:latin typeface="Cambria" pitchFamily="34" charset="0"/>
                <a:ea typeface="Cambria" pitchFamily="34" charset="-122"/>
                <a:cs typeface="Cambria" pitchFamily="34" charset="-120"/>
              </a:rPr>
              <a:t>0</a:t>
            </a:r>
            <a:endParaRPr lang="en-US" sz="1500" dirty="0"/>
          </a:p>
        </p:txBody>
      </p:sp>
      <p:sp>
        <p:nvSpPr>
          <p:cNvPr id="16" name="Text 13"/>
          <p:cNvSpPr txBox="1"/>
          <p:nvPr/>
        </p:nvSpPr>
        <p:spPr>
          <a:xfrm>
            <a:off x="7717536" y="5660136"/>
            <a:ext cx="1261872" cy="292608"/>
          </a:xfrm>
          <a:prstGeom prst="rect">
            <a:avLst/>
          </a:prstGeom>
          <a:noFill/>
          <a:ln/>
        </p:spPr>
        <p:txBody>
          <a:bodyPr wrap="square" lIns="0" tIns="0" rIns="0" bIns="0" rtlCol="0" anchor="ctr"/>
          <a:lstStyle/>
          <a:p>
            <a:pPr marL="0" indent="0" algn="ctr">
              <a:buNone/>
            </a:pPr>
            <a:r>
              <a:rPr lang="en-US" sz="900" dirty="0">
                <a:solidFill>
                  <a:srgbClr val="667085"/>
                </a:solidFill>
                <a:latin typeface="Calibri" pitchFamily="34" charset="0"/>
                <a:ea typeface="Calibri" pitchFamily="34" charset="-122"/>
                <a:cs typeface="Calibri" pitchFamily="34" charset="-120"/>
              </a:rPr>
              <a:t>missing values</a:t>
            </a:r>
            <a:endParaRPr lang="en-US" sz="900" dirty="0"/>
          </a:p>
        </p:txBody>
      </p:sp>
      <p:sp>
        <p:nvSpPr>
          <p:cNvPr id="17" name="Shape 14"/>
          <p:cNvSpPr/>
          <p:nvPr/>
        </p:nvSpPr>
        <p:spPr>
          <a:xfrm>
            <a:off x="9079992" y="5285232"/>
            <a:ext cx="1261872" cy="749808"/>
          </a:xfrm>
          <a:prstGeom prst="roundRect">
            <a:avLst>
              <a:gd name="adj" fmla="val 7317"/>
            </a:avLst>
          </a:prstGeom>
          <a:solidFill>
            <a:srgbClr val="F4F6FA"/>
          </a:solidFill>
          <a:ln w="12700">
            <a:solidFill>
              <a:srgbClr val="F4F6FA"/>
            </a:solidFill>
            <a:prstDash val="solid"/>
          </a:ln>
        </p:spPr>
      </p:sp>
      <p:sp>
        <p:nvSpPr>
          <p:cNvPr id="18" name="Text 15"/>
          <p:cNvSpPr txBox="1"/>
          <p:nvPr/>
        </p:nvSpPr>
        <p:spPr>
          <a:xfrm>
            <a:off x="9079992" y="5349240"/>
            <a:ext cx="1261872" cy="310896"/>
          </a:xfrm>
          <a:prstGeom prst="rect">
            <a:avLst/>
          </a:prstGeom>
          <a:noFill/>
          <a:ln/>
        </p:spPr>
        <p:txBody>
          <a:bodyPr wrap="square" lIns="0" tIns="0" rIns="0" bIns="0" rtlCol="0" anchor="ctr"/>
          <a:lstStyle/>
          <a:p>
            <a:pPr marL="0" indent="0" algn="ctr">
              <a:buNone/>
            </a:pPr>
            <a:r>
              <a:rPr lang="en-US" sz="1500" b="1" dirty="0">
                <a:solidFill>
                  <a:srgbClr val="16264A"/>
                </a:solidFill>
                <a:latin typeface="Cambria" pitchFamily="34" charset="0"/>
                <a:ea typeface="Cambria" pitchFamily="34" charset="-122"/>
                <a:cs typeface="Cambria" pitchFamily="34" charset="-120"/>
              </a:rPr>
              <a:t>0</a:t>
            </a:r>
            <a:endParaRPr lang="en-US" sz="1500" dirty="0"/>
          </a:p>
        </p:txBody>
      </p:sp>
      <p:sp>
        <p:nvSpPr>
          <p:cNvPr id="19" name="Text 16"/>
          <p:cNvSpPr txBox="1"/>
          <p:nvPr/>
        </p:nvSpPr>
        <p:spPr>
          <a:xfrm>
            <a:off x="9079992" y="5660136"/>
            <a:ext cx="1261872" cy="292608"/>
          </a:xfrm>
          <a:prstGeom prst="rect">
            <a:avLst/>
          </a:prstGeom>
          <a:noFill/>
          <a:ln/>
        </p:spPr>
        <p:txBody>
          <a:bodyPr wrap="square" lIns="0" tIns="0" rIns="0" bIns="0" rtlCol="0" anchor="ctr"/>
          <a:lstStyle/>
          <a:p>
            <a:pPr marL="0" indent="0" algn="ctr">
              <a:buNone/>
            </a:pPr>
            <a:r>
              <a:rPr lang="en-US" sz="900" dirty="0">
                <a:solidFill>
                  <a:srgbClr val="667085"/>
                </a:solidFill>
                <a:latin typeface="Calibri" pitchFamily="34" charset="0"/>
                <a:ea typeface="Calibri" pitchFamily="34" charset="-122"/>
                <a:cs typeface="Calibri" pitchFamily="34" charset="-120"/>
              </a:rPr>
              <a:t>duplicate rows</a:t>
            </a:r>
            <a:endParaRPr lang="en-US" sz="900" dirty="0"/>
          </a:p>
        </p:txBody>
      </p:sp>
      <p:sp>
        <p:nvSpPr>
          <p:cNvPr id="20" name="Shape 17"/>
          <p:cNvSpPr/>
          <p:nvPr/>
        </p:nvSpPr>
        <p:spPr>
          <a:xfrm>
            <a:off x="10442448" y="5285232"/>
            <a:ext cx="1261872" cy="749808"/>
          </a:xfrm>
          <a:prstGeom prst="roundRect">
            <a:avLst>
              <a:gd name="adj" fmla="val 7317"/>
            </a:avLst>
          </a:prstGeom>
          <a:solidFill>
            <a:srgbClr val="F4F6FA"/>
          </a:solidFill>
          <a:ln w="12700">
            <a:solidFill>
              <a:srgbClr val="F4F6FA"/>
            </a:solidFill>
            <a:prstDash val="solid"/>
          </a:ln>
        </p:spPr>
      </p:sp>
      <p:sp>
        <p:nvSpPr>
          <p:cNvPr id="21" name="Text 18"/>
          <p:cNvSpPr txBox="1"/>
          <p:nvPr/>
        </p:nvSpPr>
        <p:spPr>
          <a:xfrm>
            <a:off x="10442448" y="5349240"/>
            <a:ext cx="1261872" cy="310896"/>
          </a:xfrm>
          <a:prstGeom prst="rect">
            <a:avLst/>
          </a:prstGeom>
          <a:noFill/>
          <a:ln/>
        </p:spPr>
        <p:txBody>
          <a:bodyPr wrap="square" lIns="0" tIns="0" rIns="0" bIns="0" rtlCol="0" anchor="ctr"/>
          <a:lstStyle/>
          <a:p>
            <a:pPr marL="0" indent="0" algn="ctr">
              <a:buNone/>
            </a:pPr>
            <a:r>
              <a:rPr lang="en-US" sz="1500" b="1" dirty="0">
                <a:solidFill>
                  <a:srgbClr val="16264A"/>
                </a:solidFill>
                <a:latin typeface="Cambria" pitchFamily="34" charset="0"/>
                <a:ea typeface="Cambria" pitchFamily="34" charset="-122"/>
                <a:cs typeface="Cambria" pitchFamily="34" charset="-120"/>
              </a:rPr>
              <a:t>0</a:t>
            </a:r>
            <a:endParaRPr lang="en-US" sz="1500" dirty="0"/>
          </a:p>
        </p:txBody>
      </p:sp>
      <p:sp>
        <p:nvSpPr>
          <p:cNvPr id="22" name="Text 19"/>
          <p:cNvSpPr txBox="1"/>
          <p:nvPr/>
        </p:nvSpPr>
        <p:spPr>
          <a:xfrm>
            <a:off x="10442448" y="5660136"/>
            <a:ext cx="1261872" cy="292608"/>
          </a:xfrm>
          <a:prstGeom prst="rect">
            <a:avLst/>
          </a:prstGeom>
          <a:noFill/>
          <a:ln/>
        </p:spPr>
        <p:txBody>
          <a:bodyPr wrap="square" lIns="0" tIns="0" rIns="0" bIns="0" rtlCol="0" anchor="ctr"/>
          <a:lstStyle/>
          <a:p>
            <a:pPr marL="0" indent="0" algn="ctr">
              <a:buNone/>
            </a:pPr>
            <a:r>
              <a:rPr lang="en-US" sz="900" dirty="0">
                <a:solidFill>
                  <a:srgbClr val="667085"/>
                </a:solidFill>
                <a:latin typeface="Calibri" pitchFamily="34" charset="0"/>
                <a:ea typeface="Calibri" pitchFamily="34" charset="-122"/>
                <a:cs typeface="Calibri" pitchFamily="34" charset="-120"/>
              </a:rPr>
              <a:t>invalid dates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66928"/>
          </a:xfrm>
          <a:prstGeom prst="rect">
            <a:avLst/>
          </a:prstGeom>
          <a:noFill/>
          <a:ln/>
        </p:spPr>
        <p:txBody>
          <a:bodyPr wrap="square" lIns="0" tIns="0" rIns="0" bIns="0" rtlCol="0" anchor="ctr"/>
          <a:lstStyle/>
          <a:p>
            <a:pPr marL="0" indent="0">
              <a:buNone/>
            </a:pPr>
            <a:r>
              <a:rPr lang="en-US" sz="3000" b="1" dirty="0">
                <a:solidFill>
                  <a:srgbClr val="16264A"/>
                </a:solidFill>
                <a:latin typeface="Cambria" pitchFamily="34" charset="0"/>
                <a:ea typeface="Cambria" pitchFamily="34" charset="-122"/>
                <a:cs typeface="Cambria" pitchFamily="34" charset="-120"/>
              </a:rPr>
              <a:t>Research Context and Contribution</a:t>
            </a:r>
            <a:endParaRPr lang="en-US" sz="3000" dirty="0"/>
          </a:p>
        </p:txBody>
      </p:sp>
      <p:sp>
        <p:nvSpPr>
          <p:cNvPr id="3" name="Text 1"/>
          <p:cNvSpPr txBox="1"/>
          <p:nvPr/>
        </p:nvSpPr>
        <p:spPr>
          <a:xfrm>
            <a:off x="502920" y="896112"/>
            <a:ext cx="11155680" cy="329184"/>
          </a:xfrm>
          <a:prstGeom prst="rect">
            <a:avLst/>
          </a:prstGeom>
          <a:noFill/>
          <a:ln/>
        </p:spPr>
        <p:txBody>
          <a:bodyPr wrap="square" lIns="0" tIns="0" rIns="0" bIns="0" rtlCol="0" anchor="ctr"/>
          <a:lstStyle/>
          <a:p>
            <a:pPr marL="0" indent="0">
              <a:buNone/>
            </a:pPr>
            <a:r>
              <a:rPr lang="en-US" sz="1300" i="1" dirty="0">
                <a:solidFill>
                  <a:srgbClr val="667085"/>
                </a:solidFill>
                <a:latin typeface="Calibri" pitchFamily="34" charset="0"/>
                <a:ea typeface="Calibri" pitchFamily="34" charset="-122"/>
                <a:cs typeface="Calibri" pitchFamily="34" charset="-120"/>
              </a:rPr>
              <a:t>Framed cautiously - no claim of worldwide novelty is made</a:t>
            </a:r>
            <a:endParaRPr lang="en-US" sz="1300" dirty="0"/>
          </a:p>
        </p:txBody>
      </p:sp>
      <p:sp>
        <p:nvSpPr>
          <p:cNvPr id="4" name="Shape 2"/>
          <p:cNvSpPr/>
          <p:nvPr/>
        </p:nvSpPr>
        <p:spPr>
          <a:xfrm>
            <a:off x="502920" y="1371600"/>
            <a:ext cx="3547872" cy="3017520"/>
          </a:xfrm>
          <a:prstGeom prst="roundRect">
            <a:avLst>
              <a:gd name="adj" fmla="val 1818"/>
            </a:avLst>
          </a:prstGeom>
          <a:solidFill>
            <a:srgbClr val="EDF1F8"/>
          </a:solidFill>
          <a:ln w="12700">
            <a:solidFill>
              <a:srgbClr val="EDF1F8"/>
            </a:solidFill>
            <a:prstDash val="solid"/>
          </a:ln>
        </p:spPr>
      </p:sp>
      <p:sp>
        <p:nvSpPr>
          <p:cNvPr id="5" name="Text 3"/>
          <p:cNvSpPr txBox="1"/>
          <p:nvPr/>
        </p:nvSpPr>
        <p:spPr>
          <a:xfrm>
            <a:off x="667512" y="1463040"/>
            <a:ext cx="3246120" cy="274320"/>
          </a:xfrm>
          <a:prstGeom prst="rect">
            <a:avLst/>
          </a:prstGeom>
          <a:noFill/>
          <a:ln/>
        </p:spPr>
        <p:txBody>
          <a:bodyPr wrap="square" lIns="0" tIns="0" rIns="0" bIns="0" rtlCol="0" anchor="ctr"/>
          <a:lstStyle/>
          <a:p>
            <a:pPr marL="0" indent="0">
              <a:buNone/>
            </a:pPr>
            <a:r>
              <a:rPr lang="en-US" sz="1300" b="1" dirty="0">
                <a:solidFill>
                  <a:srgbClr val="16264A"/>
                </a:solidFill>
                <a:latin typeface="Cambria" pitchFamily="34" charset="0"/>
                <a:ea typeface="Cambria" pitchFamily="34" charset="-122"/>
                <a:cs typeface="Cambria" pitchFamily="34" charset="-120"/>
              </a:rPr>
              <a:t>Existing approach</a:t>
            </a:r>
            <a:endParaRPr lang="en-US" sz="1300" dirty="0"/>
          </a:p>
        </p:txBody>
      </p:sp>
      <p:sp>
        <p:nvSpPr>
          <p:cNvPr id="6" name="Text 4"/>
          <p:cNvSpPr txBox="1"/>
          <p:nvPr/>
        </p:nvSpPr>
        <p:spPr>
          <a:xfrm>
            <a:off x="667512" y="1773936"/>
            <a:ext cx="3246120" cy="246888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050" dirty="0">
                <a:solidFill>
                  <a:srgbClr val="1F2937"/>
                </a:solidFill>
                <a:latin typeface="Calibri" pitchFamily="34" charset="0"/>
                <a:ea typeface="Calibri" pitchFamily="34" charset="-122"/>
                <a:cs typeface="Calibri" pitchFamily="34" charset="-120"/>
              </a:rPr>
              <a:t>Retail reporting is historically descriptive: periodic sales and profit summaries</a:t>
            </a:r>
            <a:endParaRPr lang="en-US" sz="1050" dirty="0"/>
          </a:p>
          <a:p>
            <a:pPr marL="342900" indent="-342900">
              <a:lnSpc>
                <a:spcPts val="1700"/>
              </a:lnSpc>
              <a:spcAft>
                <a:spcPts val="700"/>
              </a:spcAft>
              <a:buSzPct val="100000"/>
              <a:buChar char="•"/>
            </a:pPr>
            <a:r>
              <a:rPr lang="en-US" sz="1050" dirty="0">
                <a:solidFill>
                  <a:srgbClr val="1F2937"/>
                </a:solidFill>
                <a:latin typeface="Calibri" pitchFamily="34" charset="0"/>
                <a:ea typeface="Calibri" pitchFamily="34" charset="-122"/>
                <a:cs typeface="Calibri" pitchFamily="34" charset="-120"/>
              </a:rPr>
              <a:t>Segmentation, if performed, is usually demographic or by business unit</a:t>
            </a:r>
            <a:endParaRPr lang="en-US" sz="1050" dirty="0"/>
          </a:p>
          <a:p>
            <a:pPr marL="342900" indent="-342900">
              <a:lnSpc>
                <a:spcPts val="1700"/>
              </a:lnSpc>
              <a:spcAft>
                <a:spcPts val="700"/>
              </a:spcAft>
              <a:buSzPct val="100000"/>
              <a:buChar char="•"/>
            </a:pPr>
            <a:r>
              <a:rPr lang="en-US" sz="1050" dirty="0">
                <a:solidFill>
                  <a:srgbClr val="1F2937"/>
                </a:solidFill>
                <a:latin typeface="Calibri" pitchFamily="34" charset="0"/>
                <a:ea typeface="Calibri" pitchFamily="34" charset="-122"/>
                <a:cs typeface="Calibri" pitchFamily="34" charset="-120"/>
              </a:rPr>
              <a:t>Discount decisions rest on experience and margin rules of thumb</a:t>
            </a:r>
            <a:endParaRPr lang="en-US" sz="1050" dirty="0"/>
          </a:p>
          <a:p>
            <a:pPr marL="342900" indent="-342900">
              <a:lnSpc>
                <a:spcPts val="1700"/>
              </a:lnSpc>
              <a:spcAft>
                <a:spcPts val="700"/>
              </a:spcAft>
              <a:buSzPct val="100000"/>
              <a:buChar char="•"/>
            </a:pPr>
            <a:r>
              <a:rPr lang="en-US" sz="1050" dirty="0">
                <a:solidFill>
                  <a:srgbClr val="1F2937"/>
                </a:solidFill>
                <a:latin typeface="Calibri" pitchFamily="34" charset="0"/>
                <a:ea typeface="Calibri" pitchFamily="34" charset="-122"/>
                <a:cs typeface="Calibri" pitchFamily="34" charset="-120"/>
              </a:rPr>
              <a:t>Analytical outputs stay in spreadsheets, separate from any model</a:t>
            </a:r>
            <a:endParaRPr lang="en-US" sz="1050" dirty="0"/>
          </a:p>
        </p:txBody>
      </p:sp>
      <p:sp>
        <p:nvSpPr>
          <p:cNvPr id="7" name="Shape 5"/>
          <p:cNvSpPr/>
          <p:nvPr/>
        </p:nvSpPr>
        <p:spPr>
          <a:xfrm>
            <a:off x="4279392" y="1371600"/>
            <a:ext cx="3648456" cy="3017520"/>
          </a:xfrm>
          <a:prstGeom prst="roundRect">
            <a:avLst>
              <a:gd name="adj" fmla="val 1818"/>
            </a:avLst>
          </a:prstGeom>
          <a:solidFill>
            <a:srgbClr val="EDF1F8"/>
          </a:solidFill>
          <a:ln w="12700">
            <a:solidFill>
              <a:srgbClr val="EDF1F8"/>
            </a:solidFill>
            <a:prstDash val="solid"/>
          </a:ln>
        </p:spPr>
      </p:sp>
      <p:sp>
        <p:nvSpPr>
          <p:cNvPr id="8" name="Text 6"/>
          <p:cNvSpPr txBox="1"/>
          <p:nvPr/>
        </p:nvSpPr>
        <p:spPr>
          <a:xfrm>
            <a:off x="4443984" y="1463040"/>
            <a:ext cx="3337560" cy="274320"/>
          </a:xfrm>
          <a:prstGeom prst="rect">
            <a:avLst/>
          </a:prstGeom>
          <a:noFill/>
          <a:ln/>
        </p:spPr>
        <p:txBody>
          <a:bodyPr wrap="square" lIns="0" tIns="0" rIns="0" bIns="0" rtlCol="0" anchor="ctr"/>
          <a:lstStyle/>
          <a:p>
            <a:pPr marL="0" indent="0">
              <a:buNone/>
            </a:pPr>
            <a:r>
              <a:rPr lang="en-US" sz="1300" b="1" dirty="0">
                <a:solidFill>
                  <a:srgbClr val="16264A"/>
                </a:solidFill>
                <a:latin typeface="Cambria" pitchFamily="34" charset="0"/>
                <a:ea typeface="Cambria" pitchFamily="34" charset="-122"/>
                <a:cs typeface="Cambria" pitchFamily="34" charset="-120"/>
              </a:rPr>
              <a:t>This project's approach</a:t>
            </a:r>
            <a:endParaRPr lang="en-US" sz="1300" dirty="0"/>
          </a:p>
        </p:txBody>
      </p:sp>
      <p:sp>
        <p:nvSpPr>
          <p:cNvPr id="9" name="Text 7"/>
          <p:cNvSpPr txBox="1"/>
          <p:nvPr/>
        </p:nvSpPr>
        <p:spPr>
          <a:xfrm>
            <a:off x="4443984" y="1773936"/>
            <a:ext cx="3337560" cy="246888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050" dirty="0">
                <a:solidFill>
                  <a:srgbClr val="1F2937"/>
                </a:solidFill>
                <a:latin typeface="Calibri" pitchFamily="34" charset="0"/>
                <a:ea typeface="Calibri" pitchFamily="34" charset="-122"/>
                <a:cs typeface="Calibri" pitchFamily="34" charset="-120"/>
              </a:rPr>
              <a:t>Descriptive EDA and predictive modelling in one reproducible pipeline</a:t>
            </a:r>
            <a:endParaRPr lang="en-US" sz="1050" dirty="0"/>
          </a:p>
          <a:p>
            <a:pPr marL="342900" indent="-342900">
              <a:lnSpc>
                <a:spcPts val="1700"/>
              </a:lnSpc>
              <a:spcAft>
                <a:spcPts val="700"/>
              </a:spcAft>
              <a:buSzPct val="100000"/>
              <a:buChar char="•"/>
            </a:pPr>
            <a:r>
              <a:rPr lang="en-US" sz="1050" dirty="0">
                <a:solidFill>
                  <a:srgbClr val="1F2937"/>
                </a:solidFill>
                <a:latin typeface="Calibri" pitchFamily="34" charset="0"/>
                <a:ea typeface="Calibri" pitchFamily="34" charset="-122"/>
                <a:cs typeface="Calibri" pitchFamily="34" charset="-120"/>
              </a:rPr>
              <a:t>Behavioural segmentation via both K-Means and RFM scoring</a:t>
            </a:r>
            <a:endParaRPr lang="en-US" sz="1050" dirty="0"/>
          </a:p>
          <a:p>
            <a:pPr marL="342900" indent="-342900">
              <a:lnSpc>
                <a:spcPts val="1700"/>
              </a:lnSpc>
              <a:spcAft>
                <a:spcPts val="700"/>
              </a:spcAft>
              <a:buSzPct val="100000"/>
              <a:buChar char="•"/>
            </a:pPr>
            <a:r>
              <a:rPr lang="en-US" sz="1050" dirty="0">
                <a:solidFill>
                  <a:srgbClr val="1F2937"/>
                </a:solidFill>
                <a:latin typeface="Calibri" pitchFamily="34" charset="0"/>
                <a:ea typeface="Calibri" pitchFamily="34" charset="-122"/>
                <a:cs typeface="Calibri" pitchFamily="34" charset="-120"/>
              </a:rPr>
              <a:t>CLV estimation layered on the RFM output</a:t>
            </a:r>
            <a:endParaRPr lang="en-US" sz="1050" dirty="0"/>
          </a:p>
          <a:p>
            <a:pPr marL="342900" indent="-342900">
              <a:lnSpc>
                <a:spcPts val="1700"/>
              </a:lnSpc>
              <a:spcAft>
                <a:spcPts val="700"/>
              </a:spcAft>
              <a:buSzPct val="100000"/>
              <a:buChar char="•"/>
            </a:pPr>
            <a:r>
              <a:rPr lang="en-US" sz="1050" dirty="0">
                <a:solidFill>
                  <a:srgbClr val="1F2937"/>
                </a:solidFill>
                <a:latin typeface="Calibri" pitchFamily="34" charset="0"/>
                <a:ea typeface="Calibri" pitchFamily="34" charset="-122"/>
                <a:cs typeface="Calibri" pitchFamily="34" charset="-120"/>
              </a:rPr>
              <a:t>A trained model reused as a simulation engine for discount and quantity</a:t>
            </a:r>
            <a:endParaRPr lang="en-US" sz="1050" dirty="0"/>
          </a:p>
          <a:p>
            <a:pPr marL="342900" indent="-342900">
              <a:lnSpc>
                <a:spcPts val="1700"/>
              </a:lnSpc>
              <a:spcAft>
                <a:spcPts val="700"/>
              </a:spcAft>
              <a:buSzPct val="100000"/>
              <a:buChar char="•"/>
            </a:pPr>
            <a:r>
              <a:rPr lang="en-US" sz="1050" dirty="0">
                <a:solidFill>
                  <a:srgbClr val="1F2937"/>
                </a:solidFill>
                <a:latin typeface="Calibri" pitchFamily="34" charset="0"/>
                <a:ea typeface="Calibri" pitchFamily="34" charset="-122"/>
                <a:cs typeface="Calibri" pitchFamily="34" charset="-120"/>
              </a:rPr>
              <a:t>All strands surfaced in a single six-page dashboard</a:t>
            </a:r>
            <a:endParaRPr lang="en-US" sz="1050" dirty="0"/>
          </a:p>
        </p:txBody>
      </p:sp>
      <p:sp>
        <p:nvSpPr>
          <p:cNvPr id="10" name="Shape 8"/>
          <p:cNvSpPr/>
          <p:nvPr/>
        </p:nvSpPr>
        <p:spPr>
          <a:xfrm>
            <a:off x="8156448" y="1371600"/>
            <a:ext cx="3547872" cy="3017520"/>
          </a:xfrm>
          <a:prstGeom prst="roundRect">
            <a:avLst>
              <a:gd name="adj" fmla="val 1818"/>
            </a:avLst>
          </a:prstGeom>
          <a:solidFill>
            <a:srgbClr val="F4F6FA"/>
          </a:solidFill>
          <a:ln w="12700">
            <a:solidFill>
              <a:srgbClr val="F4F6FA"/>
            </a:solidFill>
            <a:prstDash val="solid"/>
          </a:ln>
        </p:spPr>
      </p:sp>
      <p:sp>
        <p:nvSpPr>
          <p:cNvPr id="11" name="Text 9"/>
          <p:cNvSpPr txBox="1"/>
          <p:nvPr/>
        </p:nvSpPr>
        <p:spPr>
          <a:xfrm>
            <a:off x="8321040" y="1463040"/>
            <a:ext cx="3246120" cy="274320"/>
          </a:xfrm>
          <a:prstGeom prst="rect">
            <a:avLst/>
          </a:prstGeom>
          <a:noFill/>
          <a:ln/>
        </p:spPr>
        <p:txBody>
          <a:bodyPr wrap="square" lIns="0" tIns="0" rIns="0" bIns="0" rtlCol="0" anchor="ctr"/>
          <a:lstStyle/>
          <a:p>
            <a:pPr marL="0" indent="0">
              <a:buNone/>
            </a:pPr>
            <a:r>
              <a:rPr lang="en-US" sz="1300" b="1" dirty="0">
                <a:solidFill>
                  <a:srgbClr val="16264A"/>
                </a:solidFill>
                <a:latin typeface="Cambria" pitchFamily="34" charset="0"/>
                <a:ea typeface="Cambria" pitchFamily="34" charset="-122"/>
                <a:cs typeface="Cambria" pitchFamily="34" charset="-120"/>
              </a:rPr>
              <a:t>Where the contribution lies</a:t>
            </a:r>
            <a:endParaRPr lang="en-US" sz="1300" dirty="0"/>
          </a:p>
        </p:txBody>
      </p:sp>
      <p:sp>
        <p:nvSpPr>
          <p:cNvPr id="12" name="Text 10"/>
          <p:cNvSpPr txBox="1"/>
          <p:nvPr/>
        </p:nvSpPr>
        <p:spPr>
          <a:xfrm>
            <a:off x="8321040" y="1773936"/>
            <a:ext cx="3246120" cy="2468880"/>
          </a:xfrm>
          <a:prstGeom prst="rect">
            <a:avLst/>
          </a:prstGeom>
          <a:noFill/>
          <a:ln/>
        </p:spPr>
        <p:txBody>
          <a:bodyPr wrap="square" lIns="0" tIns="0" rIns="0" bIns="0" rtlCol="0" anchor="ctr"/>
          <a:lstStyle/>
          <a:p>
            <a:pPr marL="0" indent="0">
              <a:lnSpc>
                <a:spcPts val="1400"/>
              </a:lnSpc>
              <a:buNone/>
            </a:pPr>
            <a:r>
              <a:rPr lang="en-US" sz="1050" dirty="0">
                <a:solidFill>
                  <a:srgbClr val="1F2937"/>
                </a:solidFill>
                <a:latin typeface="Calibri" pitchFamily="34" charset="0"/>
                <a:ea typeface="Calibri" pitchFamily="34" charset="-122"/>
                <a:cs typeface="Calibri" pitchFamily="34" charset="-120"/>
              </a:rPr>
              <a:t>Each individual component - regression on retail data, RFM, CLV, K-Means, Power BI reporting - is well established in the literature and in commercial practice. The contribution here is integrative rather than methodological: assembling these components into one traceable pipeline on a single dataset, where the model trained for prediction is the same artefact reused for scenario simulation, and where every stage writes an inspectable output.</a:t>
            </a:r>
            <a:endParaRPr lang="en-US" sz="1050" dirty="0"/>
          </a:p>
        </p:txBody>
      </p:sp>
      <p:sp>
        <p:nvSpPr>
          <p:cNvPr id="13" name="Shape 11"/>
          <p:cNvSpPr/>
          <p:nvPr/>
        </p:nvSpPr>
        <p:spPr>
          <a:xfrm>
            <a:off x="502920" y="4572000"/>
            <a:ext cx="11201400" cy="1554480"/>
          </a:xfrm>
          <a:prstGeom prst="roundRect">
            <a:avLst>
              <a:gd name="adj" fmla="val 3529"/>
            </a:avLst>
          </a:prstGeom>
          <a:solidFill>
            <a:srgbClr val="F4F6FA"/>
          </a:solidFill>
          <a:ln w="12700">
            <a:solidFill>
              <a:srgbClr val="F4F6FA"/>
            </a:solidFill>
            <a:prstDash val="solid"/>
          </a:ln>
        </p:spPr>
      </p:sp>
      <p:sp>
        <p:nvSpPr>
          <p:cNvPr id="14" name="Text 12"/>
          <p:cNvSpPr txBox="1"/>
          <p:nvPr/>
        </p:nvSpPr>
        <p:spPr>
          <a:xfrm>
            <a:off x="667512" y="4663440"/>
            <a:ext cx="5486400" cy="274320"/>
          </a:xfrm>
          <a:prstGeom prst="rect">
            <a:avLst/>
          </a:prstGeom>
          <a:noFill/>
          <a:ln/>
        </p:spPr>
        <p:txBody>
          <a:bodyPr wrap="square" lIns="0" tIns="0" rIns="0" bIns="0" rtlCol="0" anchor="ctr"/>
          <a:lstStyle/>
          <a:p>
            <a:pPr marL="0" indent="0">
              <a:buNone/>
            </a:pPr>
            <a:r>
              <a:rPr lang="en-US" sz="1300" b="1" dirty="0">
                <a:solidFill>
                  <a:srgbClr val="16264A"/>
                </a:solidFill>
                <a:latin typeface="Cambria" pitchFamily="34" charset="0"/>
                <a:ea typeface="Cambria" pitchFamily="34" charset="-122"/>
                <a:cs typeface="Cambria" pitchFamily="34" charset="-120"/>
              </a:rPr>
              <a:t>Research gap addressed, stated carefully</a:t>
            </a:r>
            <a:endParaRPr lang="en-US" sz="1300" dirty="0"/>
          </a:p>
        </p:txBody>
      </p:sp>
      <p:sp>
        <p:nvSpPr>
          <p:cNvPr id="15" name="Text 13"/>
          <p:cNvSpPr txBox="1"/>
          <p:nvPr/>
        </p:nvSpPr>
        <p:spPr>
          <a:xfrm>
            <a:off x="667512" y="4956048"/>
            <a:ext cx="10835640" cy="1097280"/>
          </a:xfrm>
          <a:prstGeom prst="rect">
            <a:avLst/>
          </a:prstGeom>
          <a:noFill/>
          <a:ln/>
        </p:spPr>
        <p:txBody>
          <a:bodyPr wrap="square" lIns="0" tIns="0" rIns="0" bIns="0" rtlCol="0" anchor="ctr"/>
          <a:lstStyle/>
          <a:p>
            <a:pPr marL="0" indent="0">
              <a:lnSpc>
                <a:spcPts val="1500"/>
              </a:lnSpc>
              <a:buNone/>
            </a:pPr>
            <a:r>
              <a:rPr lang="en-US" sz="1100" dirty="0">
                <a:solidFill>
                  <a:srgbClr val="1F2937"/>
                </a:solidFill>
                <a:latin typeface="Calibri" pitchFamily="34" charset="0"/>
                <a:ea typeface="Calibri" pitchFamily="34" charset="-122"/>
                <a:cs typeface="Calibri" pitchFamily="34" charset="-120"/>
              </a:rPr>
              <a:t>Much applied retail analytics work treats prediction, customer segmentation and lifetime value as separate exercises with separate outputs. This project demonstrates an end-to-end linkage between them on one dataset. It does not claim to introduce a new algorithm, a new CLV formulation, or a result that is novel in the published literature. A formal literature review would be required before making any stronger claim, and the scenario component in particular would need a causal design to support prescriptive recommendations.</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66928"/>
          </a:xfrm>
          <a:prstGeom prst="rect">
            <a:avLst/>
          </a:prstGeom>
          <a:noFill/>
          <a:ln/>
        </p:spPr>
        <p:txBody>
          <a:bodyPr wrap="square" lIns="0" tIns="0" rIns="0" bIns="0" rtlCol="0" anchor="ctr"/>
          <a:lstStyle/>
          <a:p>
            <a:pPr marL="0" indent="0">
              <a:buNone/>
            </a:pPr>
            <a:r>
              <a:rPr lang="en-US" sz="3000" b="1" dirty="0">
                <a:solidFill>
                  <a:srgbClr val="16264A"/>
                </a:solidFill>
                <a:latin typeface="Cambria" pitchFamily="34" charset="0"/>
                <a:ea typeface="Cambria" pitchFamily="34" charset="-122"/>
                <a:cs typeface="Cambria" pitchFamily="34" charset="-120"/>
              </a:rPr>
              <a:t>Limitations</a:t>
            </a:r>
            <a:endParaRPr lang="en-US" sz="3000" dirty="0"/>
          </a:p>
        </p:txBody>
      </p:sp>
      <p:sp>
        <p:nvSpPr>
          <p:cNvPr id="3" name="Text 1"/>
          <p:cNvSpPr txBox="1"/>
          <p:nvPr/>
        </p:nvSpPr>
        <p:spPr>
          <a:xfrm>
            <a:off x="502920" y="896112"/>
            <a:ext cx="11155680" cy="329184"/>
          </a:xfrm>
          <a:prstGeom prst="rect">
            <a:avLst/>
          </a:prstGeom>
          <a:noFill/>
          <a:ln/>
        </p:spPr>
        <p:txBody>
          <a:bodyPr wrap="square" lIns="0" tIns="0" rIns="0" bIns="0" rtlCol="0" anchor="ctr"/>
          <a:lstStyle/>
          <a:p>
            <a:pPr marL="0" indent="0">
              <a:buNone/>
            </a:pPr>
            <a:r>
              <a:rPr lang="en-US" sz="1300" i="1" dirty="0">
                <a:solidFill>
                  <a:srgbClr val="667085"/>
                </a:solidFill>
                <a:latin typeface="Calibri" pitchFamily="34" charset="0"/>
                <a:ea typeface="Calibri" pitchFamily="34" charset="-122"/>
                <a:cs typeface="Calibri" pitchFamily="34" charset="-120"/>
              </a:rPr>
              <a:t>Stated explicitly so that the results are read correctly</a:t>
            </a:r>
            <a:endParaRPr lang="en-US" sz="1300" dirty="0"/>
          </a:p>
        </p:txBody>
      </p:sp>
      <p:sp>
        <p:nvSpPr>
          <p:cNvPr id="4" name="Shape 2"/>
          <p:cNvSpPr/>
          <p:nvPr/>
        </p:nvSpPr>
        <p:spPr>
          <a:xfrm>
            <a:off x="502920" y="1325880"/>
            <a:ext cx="11201400" cy="621792"/>
          </a:xfrm>
          <a:prstGeom prst="roundRect">
            <a:avLst>
              <a:gd name="adj" fmla="val 8824"/>
            </a:avLst>
          </a:prstGeom>
          <a:solidFill>
            <a:srgbClr val="F4F6FA"/>
          </a:solidFill>
          <a:ln w="12700">
            <a:solidFill>
              <a:srgbClr val="F4F6FA"/>
            </a:solidFill>
            <a:prstDash val="solid"/>
          </a:ln>
        </p:spPr>
      </p:sp>
      <p:sp>
        <p:nvSpPr>
          <p:cNvPr id="5" name="Text 3"/>
          <p:cNvSpPr txBox="1"/>
          <p:nvPr/>
        </p:nvSpPr>
        <p:spPr>
          <a:xfrm>
            <a:off x="658368" y="1362456"/>
            <a:ext cx="1417320" cy="548640"/>
          </a:xfrm>
          <a:prstGeom prst="rect">
            <a:avLst/>
          </a:prstGeom>
          <a:noFill/>
          <a:ln/>
        </p:spPr>
        <p:txBody>
          <a:bodyPr wrap="square" lIns="0" tIns="0" rIns="0" bIns="0" rtlCol="0" anchor="ctr"/>
          <a:lstStyle/>
          <a:p>
            <a:pPr marL="0" indent="0">
              <a:buNone/>
            </a:pPr>
            <a:r>
              <a:rPr lang="en-US" sz="1200" b="1" dirty="0">
                <a:solidFill>
                  <a:srgbClr val="B3453C"/>
                </a:solidFill>
                <a:latin typeface="Cambria" pitchFamily="34" charset="0"/>
                <a:ea typeface="Cambria" pitchFamily="34" charset="-122"/>
                <a:cs typeface="Cambria" pitchFamily="34" charset="-120"/>
              </a:rPr>
              <a:t>Data</a:t>
            </a:r>
            <a:endParaRPr lang="en-US" sz="1200" dirty="0"/>
          </a:p>
        </p:txBody>
      </p:sp>
      <p:sp>
        <p:nvSpPr>
          <p:cNvPr id="6" name="Text 4"/>
          <p:cNvSpPr txBox="1"/>
          <p:nvPr/>
        </p:nvSpPr>
        <p:spPr>
          <a:xfrm>
            <a:off x="2121408" y="1353312"/>
            <a:ext cx="9418320" cy="566928"/>
          </a:xfrm>
          <a:prstGeom prst="rect">
            <a:avLst/>
          </a:prstGeom>
          <a:noFill/>
          <a:ln/>
        </p:spPr>
        <p:txBody>
          <a:bodyPr wrap="square" lIns="0" tIns="0" rIns="0" bIns="0" rtlCol="0" anchor="ctr"/>
          <a:lstStyle/>
          <a:p>
            <a:pPr marL="0" indent="0">
              <a:lnSpc>
                <a:spcPts val="1300"/>
              </a:lnSpc>
              <a:buNone/>
            </a:pPr>
            <a:r>
              <a:rPr lang="en-US" sz="1050" dirty="0">
                <a:solidFill>
                  <a:srgbClr val="1F2937"/>
                </a:solidFill>
                <a:latin typeface="Calibri" pitchFamily="34" charset="0"/>
                <a:ea typeface="Calibri" pitchFamily="34" charset="-122"/>
                <a:cs typeface="Calibri" pitchFamily="34" charset="-120"/>
              </a:rPr>
              <a:t>IQR capping reduces total sales by about 30% and profit by about 37% versus the raw file. Every headline figure in this deck is a post-capping value.</a:t>
            </a:r>
            <a:endParaRPr lang="en-US" sz="1050" dirty="0"/>
          </a:p>
        </p:txBody>
      </p:sp>
      <p:sp>
        <p:nvSpPr>
          <p:cNvPr id="7" name="Shape 5"/>
          <p:cNvSpPr/>
          <p:nvPr/>
        </p:nvSpPr>
        <p:spPr>
          <a:xfrm>
            <a:off x="502920" y="2011680"/>
            <a:ext cx="11201400" cy="621792"/>
          </a:xfrm>
          <a:prstGeom prst="roundRect">
            <a:avLst>
              <a:gd name="adj" fmla="val 8824"/>
            </a:avLst>
          </a:prstGeom>
          <a:solidFill>
            <a:srgbClr val="F4F6FA"/>
          </a:solidFill>
          <a:ln w="12700">
            <a:solidFill>
              <a:srgbClr val="F4F6FA"/>
            </a:solidFill>
            <a:prstDash val="solid"/>
          </a:ln>
        </p:spPr>
      </p:sp>
      <p:sp>
        <p:nvSpPr>
          <p:cNvPr id="8" name="Text 6"/>
          <p:cNvSpPr txBox="1"/>
          <p:nvPr/>
        </p:nvSpPr>
        <p:spPr>
          <a:xfrm>
            <a:off x="658368" y="2048256"/>
            <a:ext cx="1417320" cy="548640"/>
          </a:xfrm>
          <a:prstGeom prst="rect">
            <a:avLst/>
          </a:prstGeom>
          <a:noFill/>
          <a:ln/>
        </p:spPr>
        <p:txBody>
          <a:bodyPr wrap="square" lIns="0" tIns="0" rIns="0" bIns="0" rtlCol="0" anchor="ctr"/>
          <a:lstStyle/>
          <a:p>
            <a:pPr marL="0" indent="0">
              <a:buNone/>
            </a:pPr>
            <a:r>
              <a:rPr lang="en-US" sz="1200" b="1" dirty="0">
                <a:solidFill>
                  <a:srgbClr val="16264A"/>
                </a:solidFill>
                <a:latin typeface="Cambria" pitchFamily="34" charset="0"/>
                <a:ea typeface="Cambria" pitchFamily="34" charset="-122"/>
                <a:cs typeface="Cambria" pitchFamily="34" charset="-120"/>
              </a:rPr>
              <a:t>Modelling</a:t>
            </a:r>
            <a:endParaRPr lang="en-US" sz="1200" dirty="0"/>
          </a:p>
        </p:txBody>
      </p:sp>
      <p:sp>
        <p:nvSpPr>
          <p:cNvPr id="9" name="Text 7"/>
          <p:cNvSpPr txBox="1"/>
          <p:nvPr/>
        </p:nvSpPr>
        <p:spPr>
          <a:xfrm>
            <a:off x="2121408" y="2039112"/>
            <a:ext cx="9418320" cy="566928"/>
          </a:xfrm>
          <a:prstGeom prst="rect">
            <a:avLst/>
          </a:prstGeom>
          <a:noFill/>
          <a:ln/>
        </p:spPr>
        <p:txBody>
          <a:bodyPr wrap="square" lIns="0" tIns="0" rIns="0" bIns="0" rtlCol="0" anchor="ctr"/>
          <a:lstStyle/>
          <a:p>
            <a:pPr marL="0" indent="0">
              <a:lnSpc>
                <a:spcPts val="1300"/>
              </a:lnSpc>
              <a:buNone/>
            </a:pPr>
            <a:r>
              <a:rPr lang="en-US" sz="1050" dirty="0">
                <a:solidFill>
                  <a:srgbClr val="1F2937"/>
                </a:solidFill>
                <a:latin typeface="Calibri" pitchFamily="34" charset="0"/>
                <a:ea typeface="Calibri" pitchFamily="34" charset="-122"/>
                <a:cs typeface="Calibri" pitchFamily="34" charset="-120"/>
              </a:rPr>
              <a:t>Single train/test split, default hyperparameters, no cross-validation. Shipping Cost may leak information about Sales.</a:t>
            </a:r>
            <a:endParaRPr lang="en-US" sz="1050" dirty="0"/>
          </a:p>
        </p:txBody>
      </p:sp>
      <p:sp>
        <p:nvSpPr>
          <p:cNvPr id="10" name="Shape 8"/>
          <p:cNvSpPr/>
          <p:nvPr/>
        </p:nvSpPr>
        <p:spPr>
          <a:xfrm>
            <a:off x="502920" y="2697480"/>
            <a:ext cx="11201400" cy="621792"/>
          </a:xfrm>
          <a:prstGeom prst="roundRect">
            <a:avLst>
              <a:gd name="adj" fmla="val 8824"/>
            </a:avLst>
          </a:prstGeom>
          <a:solidFill>
            <a:srgbClr val="F4F6FA"/>
          </a:solidFill>
          <a:ln w="12700">
            <a:solidFill>
              <a:srgbClr val="F4F6FA"/>
            </a:solidFill>
            <a:prstDash val="solid"/>
          </a:ln>
        </p:spPr>
      </p:sp>
      <p:sp>
        <p:nvSpPr>
          <p:cNvPr id="11" name="Text 9"/>
          <p:cNvSpPr txBox="1"/>
          <p:nvPr/>
        </p:nvSpPr>
        <p:spPr>
          <a:xfrm>
            <a:off x="658368" y="2734056"/>
            <a:ext cx="1417320" cy="548640"/>
          </a:xfrm>
          <a:prstGeom prst="rect">
            <a:avLst/>
          </a:prstGeom>
          <a:noFill/>
          <a:ln/>
        </p:spPr>
        <p:txBody>
          <a:bodyPr wrap="square" lIns="0" tIns="0" rIns="0" bIns="0" rtlCol="0" anchor="ctr"/>
          <a:lstStyle/>
          <a:p>
            <a:pPr marL="0" indent="0">
              <a:buNone/>
            </a:pPr>
            <a:r>
              <a:rPr lang="en-US" sz="1200" b="1" dirty="0">
                <a:solidFill>
                  <a:srgbClr val="16264A"/>
                </a:solidFill>
                <a:latin typeface="Cambria" pitchFamily="34" charset="0"/>
                <a:ea typeface="Cambria" pitchFamily="34" charset="-122"/>
                <a:cs typeface="Cambria" pitchFamily="34" charset="-120"/>
              </a:rPr>
              <a:t>Temporal</a:t>
            </a:r>
            <a:endParaRPr lang="en-US" sz="1200" dirty="0"/>
          </a:p>
        </p:txBody>
      </p:sp>
      <p:sp>
        <p:nvSpPr>
          <p:cNvPr id="12" name="Text 10"/>
          <p:cNvSpPr txBox="1"/>
          <p:nvPr/>
        </p:nvSpPr>
        <p:spPr>
          <a:xfrm>
            <a:off x="2121408" y="2724912"/>
            <a:ext cx="9418320" cy="566928"/>
          </a:xfrm>
          <a:prstGeom prst="rect">
            <a:avLst/>
          </a:prstGeom>
          <a:noFill/>
          <a:ln/>
        </p:spPr>
        <p:txBody>
          <a:bodyPr wrap="square" lIns="0" tIns="0" rIns="0" bIns="0" rtlCol="0" anchor="ctr"/>
          <a:lstStyle/>
          <a:p>
            <a:pPr marL="0" indent="0">
              <a:lnSpc>
                <a:spcPts val="1300"/>
              </a:lnSpc>
              <a:buNone/>
            </a:pPr>
            <a:r>
              <a:rPr lang="en-US" sz="1050" dirty="0">
                <a:solidFill>
                  <a:srgbClr val="1F2937"/>
                </a:solidFill>
                <a:latin typeface="Calibri" pitchFamily="34" charset="0"/>
                <a:ea typeface="Calibri" pitchFamily="34" charset="-122"/>
                <a:cs typeface="Calibri" pitchFamily="34" charset="-120"/>
              </a:rPr>
              <a:t>Rows are split randomly rather than chronologically, so the model interpolates within 2011-2014 and has not been tested as a forward forecaster.</a:t>
            </a:r>
            <a:endParaRPr lang="en-US" sz="1050" dirty="0"/>
          </a:p>
        </p:txBody>
      </p:sp>
      <p:sp>
        <p:nvSpPr>
          <p:cNvPr id="13" name="Shape 11"/>
          <p:cNvSpPr/>
          <p:nvPr/>
        </p:nvSpPr>
        <p:spPr>
          <a:xfrm>
            <a:off x="502920" y="3383280"/>
            <a:ext cx="11201400" cy="621792"/>
          </a:xfrm>
          <a:prstGeom prst="roundRect">
            <a:avLst>
              <a:gd name="adj" fmla="val 8824"/>
            </a:avLst>
          </a:prstGeom>
          <a:solidFill>
            <a:srgbClr val="F4F6FA"/>
          </a:solidFill>
          <a:ln w="12700">
            <a:solidFill>
              <a:srgbClr val="F4F6FA"/>
            </a:solidFill>
            <a:prstDash val="solid"/>
          </a:ln>
        </p:spPr>
      </p:sp>
      <p:sp>
        <p:nvSpPr>
          <p:cNvPr id="14" name="Text 12"/>
          <p:cNvSpPr txBox="1"/>
          <p:nvPr/>
        </p:nvSpPr>
        <p:spPr>
          <a:xfrm>
            <a:off x="658368" y="3419856"/>
            <a:ext cx="1417320" cy="548640"/>
          </a:xfrm>
          <a:prstGeom prst="rect">
            <a:avLst/>
          </a:prstGeom>
          <a:noFill/>
          <a:ln/>
        </p:spPr>
        <p:txBody>
          <a:bodyPr wrap="square" lIns="0" tIns="0" rIns="0" bIns="0" rtlCol="0" anchor="ctr"/>
          <a:lstStyle/>
          <a:p>
            <a:pPr marL="0" indent="0">
              <a:buNone/>
            </a:pPr>
            <a:r>
              <a:rPr lang="en-US" sz="1200" b="1" dirty="0">
                <a:solidFill>
                  <a:srgbClr val="16264A"/>
                </a:solidFill>
                <a:latin typeface="Cambria" pitchFamily="34" charset="0"/>
                <a:ea typeface="Cambria" pitchFamily="34" charset="-122"/>
                <a:cs typeface="Cambria" pitchFamily="34" charset="-120"/>
              </a:rPr>
              <a:t>Scenarios</a:t>
            </a:r>
            <a:endParaRPr lang="en-US" sz="1200" dirty="0"/>
          </a:p>
        </p:txBody>
      </p:sp>
      <p:sp>
        <p:nvSpPr>
          <p:cNvPr id="15" name="Text 13"/>
          <p:cNvSpPr txBox="1"/>
          <p:nvPr/>
        </p:nvSpPr>
        <p:spPr>
          <a:xfrm>
            <a:off x="2121408" y="3410712"/>
            <a:ext cx="9418320" cy="566928"/>
          </a:xfrm>
          <a:prstGeom prst="rect">
            <a:avLst/>
          </a:prstGeom>
          <a:noFill/>
          <a:ln/>
        </p:spPr>
        <p:txBody>
          <a:bodyPr wrap="square" lIns="0" tIns="0" rIns="0" bIns="0" rtlCol="0" anchor="ctr"/>
          <a:lstStyle/>
          <a:p>
            <a:pPr marL="0" indent="0">
              <a:lnSpc>
                <a:spcPts val="1300"/>
              </a:lnSpc>
              <a:buNone/>
            </a:pPr>
            <a:r>
              <a:rPr lang="en-US" sz="1050" dirty="0">
                <a:solidFill>
                  <a:srgbClr val="1F2937"/>
                </a:solidFill>
                <a:latin typeface="Calibri" pitchFamily="34" charset="0"/>
                <a:ea typeface="Calibri" pitchFamily="34" charset="-122"/>
                <a:cs typeface="Calibri" pitchFamily="34" charset="-120"/>
              </a:rPr>
              <a:t>Outputs are model predictions under altered inputs, not causal effects. Quantity predictions saturate above the capped training range, which is why 10 and 12 units return identical values.</a:t>
            </a:r>
            <a:endParaRPr lang="en-US" sz="1050" dirty="0"/>
          </a:p>
        </p:txBody>
      </p:sp>
      <p:sp>
        <p:nvSpPr>
          <p:cNvPr id="16" name="Shape 14"/>
          <p:cNvSpPr/>
          <p:nvPr/>
        </p:nvSpPr>
        <p:spPr>
          <a:xfrm>
            <a:off x="502920" y="4069080"/>
            <a:ext cx="11201400" cy="621792"/>
          </a:xfrm>
          <a:prstGeom prst="roundRect">
            <a:avLst>
              <a:gd name="adj" fmla="val 8824"/>
            </a:avLst>
          </a:prstGeom>
          <a:solidFill>
            <a:srgbClr val="F4F6FA"/>
          </a:solidFill>
          <a:ln w="12700">
            <a:solidFill>
              <a:srgbClr val="F4F6FA"/>
            </a:solidFill>
            <a:prstDash val="solid"/>
          </a:ln>
        </p:spPr>
      </p:sp>
      <p:sp>
        <p:nvSpPr>
          <p:cNvPr id="17" name="Text 15"/>
          <p:cNvSpPr txBox="1"/>
          <p:nvPr/>
        </p:nvSpPr>
        <p:spPr>
          <a:xfrm>
            <a:off x="658368" y="4105656"/>
            <a:ext cx="1417320" cy="548640"/>
          </a:xfrm>
          <a:prstGeom prst="rect">
            <a:avLst/>
          </a:prstGeom>
          <a:noFill/>
          <a:ln/>
        </p:spPr>
        <p:txBody>
          <a:bodyPr wrap="square" lIns="0" tIns="0" rIns="0" bIns="0" rtlCol="0" anchor="ctr"/>
          <a:lstStyle/>
          <a:p>
            <a:pPr marL="0" indent="0">
              <a:buNone/>
            </a:pPr>
            <a:r>
              <a:rPr lang="en-US" sz="1200" b="1" dirty="0">
                <a:solidFill>
                  <a:srgbClr val="16264A"/>
                </a:solidFill>
                <a:latin typeface="Cambria" pitchFamily="34" charset="0"/>
                <a:ea typeface="Cambria" pitchFamily="34" charset="-122"/>
                <a:cs typeface="Cambria" pitchFamily="34" charset="-120"/>
              </a:rPr>
              <a:t>CLV</a:t>
            </a:r>
            <a:endParaRPr lang="en-US" sz="1200" dirty="0"/>
          </a:p>
        </p:txBody>
      </p:sp>
      <p:sp>
        <p:nvSpPr>
          <p:cNvPr id="18" name="Text 16"/>
          <p:cNvSpPr txBox="1"/>
          <p:nvPr/>
        </p:nvSpPr>
        <p:spPr>
          <a:xfrm>
            <a:off x="2121408" y="4096512"/>
            <a:ext cx="9418320" cy="566928"/>
          </a:xfrm>
          <a:prstGeom prst="rect">
            <a:avLst/>
          </a:prstGeom>
          <a:noFill/>
          <a:ln/>
        </p:spPr>
        <p:txBody>
          <a:bodyPr wrap="square" lIns="0" tIns="0" rIns="0" bIns="0" rtlCol="0" anchor="ctr"/>
          <a:lstStyle/>
          <a:p>
            <a:pPr marL="0" indent="0">
              <a:lnSpc>
                <a:spcPts val="1300"/>
              </a:lnSpc>
              <a:buNone/>
            </a:pPr>
            <a:r>
              <a:rPr lang="en-US" sz="1050" dirty="0">
                <a:solidFill>
                  <a:srgbClr val="1F2937"/>
                </a:solidFill>
                <a:latin typeface="Calibri" pitchFamily="34" charset="0"/>
                <a:ea typeface="Calibri" pitchFamily="34" charset="-122"/>
                <a:cs typeface="Calibri" pitchFamily="34" charset="-120"/>
              </a:rPr>
              <a:t>A historical behavioural estimate. Lifespan derived from Recency inflates the value of lapsed customers; no churn, margin or discount rate is modelled.</a:t>
            </a:r>
            <a:endParaRPr lang="en-US" sz="1050" dirty="0"/>
          </a:p>
        </p:txBody>
      </p:sp>
      <p:sp>
        <p:nvSpPr>
          <p:cNvPr id="19" name="Shape 17"/>
          <p:cNvSpPr/>
          <p:nvPr/>
        </p:nvSpPr>
        <p:spPr>
          <a:xfrm>
            <a:off x="502920" y="4754880"/>
            <a:ext cx="11201400" cy="621792"/>
          </a:xfrm>
          <a:prstGeom prst="roundRect">
            <a:avLst>
              <a:gd name="adj" fmla="val 8824"/>
            </a:avLst>
          </a:prstGeom>
          <a:solidFill>
            <a:srgbClr val="F4F6FA"/>
          </a:solidFill>
          <a:ln w="12700">
            <a:solidFill>
              <a:srgbClr val="F4F6FA"/>
            </a:solidFill>
            <a:prstDash val="solid"/>
          </a:ln>
        </p:spPr>
      </p:sp>
      <p:sp>
        <p:nvSpPr>
          <p:cNvPr id="20" name="Text 18"/>
          <p:cNvSpPr txBox="1"/>
          <p:nvPr/>
        </p:nvSpPr>
        <p:spPr>
          <a:xfrm>
            <a:off x="658368" y="4791456"/>
            <a:ext cx="1417320" cy="548640"/>
          </a:xfrm>
          <a:prstGeom prst="rect">
            <a:avLst/>
          </a:prstGeom>
          <a:noFill/>
          <a:ln/>
        </p:spPr>
        <p:txBody>
          <a:bodyPr wrap="square" lIns="0" tIns="0" rIns="0" bIns="0" rtlCol="0" anchor="ctr"/>
          <a:lstStyle/>
          <a:p>
            <a:pPr marL="0" indent="0">
              <a:buNone/>
            </a:pPr>
            <a:r>
              <a:rPr lang="en-US" sz="1200" b="1" dirty="0">
                <a:solidFill>
                  <a:srgbClr val="16264A"/>
                </a:solidFill>
                <a:latin typeface="Cambria" pitchFamily="34" charset="0"/>
                <a:ea typeface="Cambria" pitchFamily="34" charset="-122"/>
                <a:cs typeface="Cambria" pitchFamily="34" charset="-120"/>
              </a:rPr>
              <a:t>Pipeline</a:t>
            </a:r>
            <a:endParaRPr lang="en-US" sz="1200" dirty="0"/>
          </a:p>
        </p:txBody>
      </p:sp>
      <p:sp>
        <p:nvSpPr>
          <p:cNvPr id="21" name="Text 19"/>
          <p:cNvSpPr txBox="1"/>
          <p:nvPr/>
        </p:nvSpPr>
        <p:spPr>
          <a:xfrm>
            <a:off x="2121408" y="4782312"/>
            <a:ext cx="9418320" cy="566928"/>
          </a:xfrm>
          <a:prstGeom prst="rect">
            <a:avLst/>
          </a:prstGeom>
          <a:noFill/>
          <a:ln/>
        </p:spPr>
        <p:txBody>
          <a:bodyPr wrap="square" lIns="0" tIns="0" rIns="0" bIns="0" rtlCol="0" anchor="ctr"/>
          <a:lstStyle/>
          <a:p>
            <a:pPr marL="0" indent="0">
              <a:lnSpc>
                <a:spcPts val="1300"/>
              </a:lnSpc>
              <a:buNone/>
            </a:pPr>
            <a:r>
              <a:rPr lang="en-US" sz="1050" dirty="0">
                <a:solidFill>
                  <a:srgbClr val="1F2937"/>
                </a:solidFill>
                <a:latin typeface="Calibri" pitchFamily="34" charset="0"/>
                <a:ea typeface="Calibri" pitchFamily="34" charset="-122"/>
                <a:cs typeface="Calibri" pitchFamily="34" charset="-120"/>
              </a:rPr>
              <a:t>Scripts use absolute Windows paths and are run individually; main.py is empty, so there is no single orchestrated entry point. Dashboard refresh is manual.</a:t>
            </a:r>
            <a:endParaRPr lang="en-US" sz="1050" dirty="0"/>
          </a:p>
        </p:txBody>
      </p:sp>
      <p:sp>
        <p:nvSpPr>
          <p:cNvPr id="22" name="Shape 20"/>
          <p:cNvSpPr/>
          <p:nvPr/>
        </p:nvSpPr>
        <p:spPr>
          <a:xfrm>
            <a:off x="502920" y="5440680"/>
            <a:ext cx="11201400" cy="621792"/>
          </a:xfrm>
          <a:prstGeom prst="roundRect">
            <a:avLst>
              <a:gd name="adj" fmla="val 8824"/>
            </a:avLst>
          </a:prstGeom>
          <a:solidFill>
            <a:srgbClr val="F4F6FA"/>
          </a:solidFill>
          <a:ln w="12700">
            <a:solidFill>
              <a:srgbClr val="F4F6FA"/>
            </a:solidFill>
            <a:prstDash val="solid"/>
          </a:ln>
        </p:spPr>
      </p:sp>
      <p:sp>
        <p:nvSpPr>
          <p:cNvPr id="23" name="Text 21"/>
          <p:cNvSpPr txBox="1"/>
          <p:nvPr/>
        </p:nvSpPr>
        <p:spPr>
          <a:xfrm>
            <a:off x="658368" y="5477256"/>
            <a:ext cx="1417320" cy="548640"/>
          </a:xfrm>
          <a:prstGeom prst="rect">
            <a:avLst/>
          </a:prstGeom>
          <a:noFill/>
          <a:ln/>
        </p:spPr>
        <p:txBody>
          <a:bodyPr wrap="square" lIns="0" tIns="0" rIns="0" bIns="0" rtlCol="0" anchor="ctr"/>
          <a:lstStyle/>
          <a:p>
            <a:pPr marL="0" indent="0">
              <a:buNone/>
            </a:pPr>
            <a:r>
              <a:rPr lang="en-US" sz="1200" b="1" dirty="0">
                <a:solidFill>
                  <a:srgbClr val="16264A"/>
                </a:solidFill>
                <a:latin typeface="Cambria" pitchFamily="34" charset="0"/>
                <a:ea typeface="Cambria" pitchFamily="34" charset="-122"/>
                <a:cs typeface="Cambria" pitchFamily="34" charset="-120"/>
              </a:rPr>
              <a:t>Dashboard</a:t>
            </a:r>
            <a:endParaRPr lang="en-US" sz="1200" dirty="0"/>
          </a:p>
        </p:txBody>
      </p:sp>
      <p:sp>
        <p:nvSpPr>
          <p:cNvPr id="24" name="Text 22"/>
          <p:cNvSpPr txBox="1"/>
          <p:nvPr/>
        </p:nvSpPr>
        <p:spPr>
          <a:xfrm>
            <a:off x="2121408" y="5468112"/>
            <a:ext cx="9418320" cy="566928"/>
          </a:xfrm>
          <a:prstGeom prst="rect">
            <a:avLst/>
          </a:prstGeom>
          <a:noFill/>
          <a:ln/>
        </p:spPr>
        <p:txBody>
          <a:bodyPr wrap="square" lIns="0" tIns="0" rIns="0" bIns="0" rtlCol="0" anchor="ctr"/>
          <a:lstStyle/>
          <a:p>
            <a:pPr marL="0" indent="0">
              <a:lnSpc>
                <a:spcPts val="1300"/>
              </a:lnSpc>
              <a:buNone/>
            </a:pPr>
            <a:r>
              <a:rPr lang="en-US" sz="1050" dirty="0">
                <a:solidFill>
                  <a:srgbClr val="1F2937"/>
                </a:solidFill>
                <a:latin typeface="Calibri" pitchFamily="34" charset="0"/>
                <a:ea typeface="Calibri" pitchFamily="34" charset="-122"/>
                <a:cs typeface="Calibri" pitchFamily="34" charset="-120"/>
              </a:rPr>
              <a:t>Power BI imports static extracts. No live or scheduled refresh was configured, so the report reflects the state of the files at import time.</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16264A"/>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1115568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Conclusion and Future Scope</a:t>
            </a:r>
            <a:endParaRPr lang="en-US" sz="3000" dirty="0"/>
          </a:p>
        </p:txBody>
      </p:sp>
      <p:sp>
        <p:nvSpPr>
          <p:cNvPr id="3" name="Text 1"/>
          <p:cNvSpPr txBox="1"/>
          <p:nvPr/>
        </p:nvSpPr>
        <p:spPr>
          <a:xfrm>
            <a:off x="502920" y="932688"/>
            <a:ext cx="11155680" cy="292608"/>
          </a:xfrm>
          <a:prstGeom prst="rect">
            <a:avLst/>
          </a:prstGeom>
          <a:noFill/>
          <a:ln/>
        </p:spPr>
        <p:txBody>
          <a:bodyPr wrap="square" lIns="0" tIns="0" rIns="0" bIns="0" rtlCol="0" anchor="ctr"/>
          <a:lstStyle/>
          <a:p>
            <a:pPr marL="0" indent="0">
              <a:buNone/>
            </a:pPr>
            <a:r>
              <a:rPr lang="en-US" sz="1300" i="1" dirty="0">
                <a:solidFill>
                  <a:srgbClr val="8FA3CC"/>
                </a:solidFill>
                <a:latin typeface="Calibri" pitchFamily="34" charset="0"/>
                <a:ea typeface="Calibri" pitchFamily="34" charset="-122"/>
                <a:cs typeface="Calibri" pitchFamily="34" charset="-120"/>
              </a:rPr>
              <a:t>Separating what was built from what is proposed</a:t>
            </a:r>
            <a:endParaRPr lang="en-US" sz="1300" dirty="0"/>
          </a:p>
        </p:txBody>
      </p:sp>
      <p:sp>
        <p:nvSpPr>
          <p:cNvPr id="4" name="Shape 2"/>
          <p:cNvSpPr/>
          <p:nvPr/>
        </p:nvSpPr>
        <p:spPr>
          <a:xfrm>
            <a:off x="502920" y="1508760"/>
            <a:ext cx="5577840" cy="4160520"/>
          </a:xfrm>
          <a:prstGeom prst="roundRect">
            <a:avLst>
              <a:gd name="adj" fmla="val 1538"/>
            </a:avLst>
          </a:prstGeom>
          <a:solidFill>
            <a:srgbClr val="233A6B"/>
          </a:solidFill>
          <a:ln w="12700">
            <a:solidFill>
              <a:srgbClr val="233A6B"/>
            </a:solidFill>
            <a:prstDash val="solid"/>
          </a:ln>
        </p:spPr>
      </p:sp>
      <p:sp>
        <p:nvSpPr>
          <p:cNvPr id="5" name="Text 3"/>
          <p:cNvSpPr txBox="1"/>
          <p:nvPr/>
        </p:nvSpPr>
        <p:spPr>
          <a:xfrm>
            <a:off x="685800" y="1645920"/>
            <a:ext cx="5212080" cy="292608"/>
          </a:xfrm>
          <a:prstGeom prst="rect">
            <a:avLst/>
          </a:prstGeom>
          <a:noFill/>
          <a:ln/>
        </p:spPr>
        <p:txBody>
          <a:bodyPr wrap="square" lIns="0" tIns="0" rIns="0" bIns="0" rtlCol="0" anchor="ctr"/>
          <a:lstStyle/>
          <a:p>
            <a:pPr marL="0" indent="0">
              <a:buNone/>
            </a:pPr>
            <a:r>
              <a:rPr lang="en-US" sz="1500" b="1" dirty="0">
                <a:solidFill>
                  <a:srgbClr val="E8A33D"/>
                </a:solidFill>
                <a:latin typeface="Cambria" pitchFamily="34" charset="0"/>
                <a:ea typeface="Cambria" pitchFamily="34" charset="-122"/>
                <a:cs typeface="Cambria" pitchFamily="34" charset="-120"/>
              </a:rPr>
              <a:t>Delivered in this project</a:t>
            </a:r>
            <a:endParaRPr lang="en-US" sz="1500" dirty="0"/>
          </a:p>
        </p:txBody>
      </p:sp>
      <p:sp>
        <p:nvSpPr>
          <p:cNvPr id="6" name="Text 4"/>
          <p:cNvSpPr txBox="1"/>
          <p:nvPr/>
        </p:nvSpPr>
        <p:spPr>
          <a:xfrm>
            <a:off x="685800" y="2011680"/>
            <a:ext cx="5212080" cy="3520440"/>
          </a:xfrm>
          <a:prstGeom prst="rect">
            <a:avLst/>
          </a:prstGeom>
          <a:noFill/>
          <a:ln/>
        </p:spPr>
        <p:txBody>
          <a:bodyPr wrap="square" lIns="0" tIns="0" rIns="0" bIns="0" rtlCol="0" anchor="t"/>
          <a:lstStyle/>
          <a:p>
            <a:pPr marL="342900" indent="-342900">
              <a:lnSpc>
                <a:spcPts val="1400"/>
              </a:lnSpc>
              <a:spcAft>
                <a:spcPts val="500"/>
              </a:spcAft>
              <a:buSzPct val="100000"/>
              <a:buChar char="•"/>
            </a:pPr>
            <a:r>
              <a:rPr lang="en-US" sz="1050" dirty="0">
                <a:solidFill>
                  <a:srgbClr val="CADCFC"/>
                </a:solidFill>
                <a:latin typeface="Calibri" pitchFamily="34" charset="0"/>
                <a:ea typeface="Calibri" pitchFamily="34" charset="-122"/>
                <a:cs typeface="Calibri" pitchFamily="34" charset="-120"/>
              </a:rPr>
              <a:t>A reproducible preprocessing stage that validates 51,290 records to zero missing values and zero duplicates</a:t>
            </a:r>
            <a:endParaRPr lang="en-US" sz="1050" dirty="0"/>
          </a:p>
          <a:p>
            <a:pPr marL="342900" indent="-342900">
              <a:lnSpc>
                <a:spcPts val="1400"/>
              </a:lnSpc>
              <a:spcAft>
                <a:spcPts val="500"/>
              </a:spcAft>
              <a:buSzPct val="100000"/>
              <a:buChar char="•"/>
            </a:pPr>
            <a:r>
              <a:rPr lang="en-US" sz="1050" dirty="0">
                <a:solidFill>
                  <a:srgbClr val="CADCFC"/>
                </a:solidFill>
                <a:latin typeface="Calibri" pitchFamily="34" charset="0"/>
                <a:ea typeface="Calibri" pitchFamily="34" charset="-122"/>
                <a:cs typeface="Calibri" pitchFamily="34" charset="-120"/>
              </a:rPr>
              <a:t>An EDA layer producing 24 result tables and more than 30 saved charts</a:t>
            </a:r>
            <a:endParaRPr lang="en-US" sz="1050" dirty="0"/>
          </a:p>
          <a:p>
            <a:pPr marL="342900" indent="-342900">
              <a:lnSpc>
                <a:spcPts val="1400"/>
              </a:lnSpc>
              <a:spcAft>
                <a:spcPts val="500"/>
              </a:spcAft>
              <a:buSzPct val="100000"/>
              <a:buChar char="•"/>
            </a:pPr>
            <a:r>
              <a:rPr lang="en-US" sz="1050" dirty="0">
                <a:solidFill>
                  <a:srgbClr val="CADCFC"/>
                </a:solidFill>
                <a:latin typeface="Calibri" pitchFamily="34" charset="0"/>
                <a:ea typeface="Calibri" pitchFamily="34" charset="-122"/>
                <a:cs typeface="Calibri" pitchFamily="34" charset="-120"/>
              </a:rPr>
              <a:t>27 engineered features and a documented feature screening study</a:t>
            </a:r>
            <a:endParaRPr lang="en-US" sz="1050" dirty="0"/>
          </a:p>
          <a:p>
            <a:pPr marL="342900" indent="-342900">
              <a:lnSpc>
                <a:spcPts val="1400"/>
              </a:lnSpc>
              <a:spcAft>
                <a:spcPts val="500"/>
              </a:spcAft>
              <a:buSzPct val="100000"/>
              <a:buChar char="•"/>
            </a:pPr>
            <a:r>
              <a:rPr lang="en-US" sz="1050" dirty="0">
                <a:solidFill>
                  <a:srgbClr val="CADCFC"/>
                </a:solidFill>
                <a:latin typeface="Calibri" pitchFamily="34" charset="0"/>
                <a:ea typeface="Calibri" pitchFamily="34" charset="-122"/>
                <a:cs typeface="Calibri" pitchFamily="34" charset="-120"/>
              </a:rPr>
              <a:t>Four regression models compared on identical data, with XGBoost best at MAE 32.85, RMSE 57.04 and R squared 0.9116</a:t>
            </a:r>
            <a:endParaRPr lang="en-US" sz="1050" dirty="0"/>
          </a:p>
          <a:p>
            <a:pPr marL="342900" indent="-342900">
              <a:lnSpc>
                <a:spcPts val="1400"/>
              </a:lnSpc>
              <a:spcAft>
                <a:spcPts val="500"/>
              </a:spcAft>
              <a:buSzPct val="100000"/>
              <a:buChar char="•"/>
            </a:pPr>
            <a:r>
              <a:rPr lang="en-US" sz="1050" dirty="0">
                <a:solidFill>
                  <a:srgbClr val="CADCFC"/>
                </a:solidFill>
                <a:latin typeface="Calibri" pitchFamily="34" charset="0"/>
                <a:ea typeface="Calibri" pitchFamily="34" charset="-122"/>
                <a:cs typeface="Calibri" pitchFamily="34" charset="-120"/>
              </a:rPr>
              <a:t>K-Means clustering (k = 2, silhouette 0.667) and RFM scoring of all 1,590 customers</a:t>
            </a:r>
            <a:endParaRPr lang="en-US" sz="1050" dirty="0"/>
          </a:p>
          <a:p>
            <a:pPr marL="342900" indent="-342900">
              <a:lnSpc>
                <a:spcPts val="1400"/>
              </a:lnSpc>
              <a:spcAft>
                <a:spcPts val="500"/>
              </a:spcAft>
              <a:buSzPct val="100000"/>
              <a:buChar char="•"/>
            </a:pPr>
            <a:r>
              <a:rPr lang="en-US" sz="1050" dirty="0">
                <a:solidFill>
                  <a:srgbClr val="CADCFC"/>
                </a:solidFill>
                <a:latin typeface="Calibri" pitchFamily="34" charset="0"/>
                <a:ea typeface="Calibri" pitchFamily="34" charset="-122"/>
                <a:cs typeface="Calibri" pitchFamily="34" charset="-120"/>
              </a:rPr>
              <a:t>CLV estimation totalling 8.87 M with a three-band classification</a:t>
            </a:r>
            <a:endParaRPr lang="en-US" sz="1050" dirty="0"/>
          </a:p>
          <a:p>
            <a:pPr marL="342900" indent="-342900">
              <a:lnSpc>
                <a:spcPts val="1400"/>
              </a:lnSpc>
              <a:spcAft>
                <a:spcPts val="500"/>
              </a:spcAft>
              <a:buSzPct val="100000"/>
              <a:buChar char="•"/>
            </a:pPr>
            <a:r>
              <a:rPr lang="en-US" sz="1050" dirty="0">
                <a:solidFill>
                  <a:srgbClr val="CADCFC"/>
                </a:solidFill>
                <a:latin typeface="Calibri" pitchFamily="34" charset="0"/>
                <a:ea typeface="Calibri" pitchFamily="34" charset="-122"/>
                <a:cs typeface="Calibri" pitchFamily="34" charset="-120"/>
              </a:rPr>
              <a:t>Discount and quantity scenario simulation using the persisted model</a:t>
            </a:r>
            <a:endParaRPr lang="en-US" sz="1050" dirty="0"/>
          </a:p>
          <a:p>
            <a:pPr marL="342900" indent="-342900">
              <a:lnSpc>
                <a:spcPts val="1400"/>
              </a:lnSpc>
              <a:spcAft>
                <a:spcPts val="500"/>
              </a:spcAft>
              <a:buSzPct val="100000"/>
              <a:buChar char="•"/>
            </a:pPr>
            <a:r>
              <a:rPr lang="en-US" sz="1050" dirty="0">
                <a:solidFill>
                  <a:srgbClr val="CADCFC"/>
                </a:solidFill>
                <a:latin typeface="Calibri" pitchFamily="34" charset="0"/>
                <a:ea typeface="Calibri" pitchFamily="34" charset="-122"/>
                <a:cs typeface="Calibri" pitchFamily="34" charset="-120"/>
              </a:rPr>
              <a:t>A six-page Power BI dashboard over MySQL and Excel sources</a:t>
            </a:r>
            <a:endParaRPr lang="en-US" sz="1050" dirty="0"/>
          </a:p>
        </p:txBody>
      </p:sp>
      <p:sp>
        <p:nvSpPr>
          <p:cNvPr id="7" name="Shape 5"/>
          <p:cNvSpPr/>
          <p:nvPr/>
        </p:nvSpPr>
        <p:spPr>
          <a:xfrm>
            <a:off x="6355080" y="1508760"/>
            <a:ext cx="5349240" cy="4160520"/>
          </a:xfrm>
          <a:prstGeom prst="roundRect">
            <a:avLst>
              <a:gd name="adj" fmla="val 1538"/>
            </a:avLst>
          </a:prstGeom>
          <a:solidFill>
            <a:srgbClr val="233A6B"/>
          </a:solidFill>
          <a:ln w="12700">
            <a:solidFill>
              <a:srgbClr val="233A6B"/>
            </a:solidFill>
            <a:prstDash val="solid"/>
          </a:ln>
        </p:spPr>
      </p:sp>
      <p:sp>
        <p:nvSpPr>
          <p:cNvPr id="8" name="Text 6"/>
          <p:cNvSpPr txBox="1"/>
          <p:nvPr/>
        </p:nvSpPr>
        <p:spPr>
          <a:xfrm>
            <a:off x="6537960" y="1645920"/>
            <a:ext cx="5029200" cy="292608"/>
          </a:xfrm>
          <a:prstGeom prst="rect">
            <a:avLst/>
          </a:prstGeom>
          <a:noFill/>
          <a:ln/>
        </p:spPr>
        <p:txBody>
          <a:bodyPr wrap="square" lIns="0" tIns="0" rIns="0" bIns="0" rtlCol="0" anchor="ctr"/>
          <a:lstStyle/>
          <a:p>
            <a:pPr marL="0" indent="0">
              <a:buNone/>
            </a:pPr>
            <a:r>
              <a:rPr lang="en-US" sz="1500" b="1" dirty="0">
                <a:solidFill>
                  <a:srgbClr val="E8A33D"/>
                </a:solidFill>
                <a:latin typeface="Cambria" pitchFamily="34" charset="0"/>
                <a:ea typeface="Cambria" pitchFamily="34" charset="-122"/>
                <a:cs typeface="Cambria" pitchFamily="34" charset="-120"/>
              </a:rPr>
              <a:t>Proposed future work (not implemented)</a:t>
            </a:r>
            <a:endParaRPr lang="en-US" sz="1500" dirty="0"/>
          </a:p>
        </p:txBody>
      </p:sp>
      <p:sp>
        <p:nvSpPr>
          <p:cNvPr id="9" name="Text 7"/>
          <p:cNvSpPr txBox="1"/>
          <p:nvPr/>
        </p:nvSpPr>
        <p:spPr>
          <a:xfrm>
            <a:off x="6537960" y="2011680"/>
            <a:ext cx="5029200" cy="3520440"/>
          </a:xfrm>
          <a:prstGeom prst="rect">
            <a:avLst/>
          </a:prstGeom>
          <a:noFill/>
          <a:ln/>
        </p:spPr>
        <p:txBody>
          <a:bodyPr wrap="square" lIns="0" tIns="0" rIns="0" bIns="0" rtlCol="0" anchor="t"/>
          <a:lstStyle/>
          <a:p>
            <a:pPr marL="342900" indent="-342900">
              <a:lnSpc>
                <a:spcPts val="1400"/>
              </a:lnSpc>
              <a:spcAft>
                <a:spcPts val="500"/>
              </a:spcAft>
              <a:buSzPct val="100000"/>
              <a:buChar char="•"/>
            </a:pPr>
            <a:r>
              <a:rPr lang="en-US" sz="1050" dirty="0">
                <a:solidFill>
                  <a:srgbClr val="CADCFC"/>
                </a:solidFill>
                <a:latin typeface="Calibri" pitchFamily="34" charset="0"/>
                <a:ea typeface="Calibri" pitchFamily="34" charset="-122"/>
                <a:cs typeface="Calibri" pitchFamily="34" charset="-120"/>
              </a:rPr>
              <a:t>Cross-validation and hyperparameter tuning to give more reliable and better-optimised metrics</a:t>
            </a:r>
            <a:endParaRPr lang="en-US" sz="1050" dirty="0"/>
          </a:p>
          <a:p>
            <a:pPr marL="342900" indent="-342900">
              <a:lnSpc>
                <a:spcPts val="1400"/>
              </a:lnSpc>
              <a:spcAft>
                <a:spcPts val="500"/>
              </a:spcAft>
              <a:buSzPct val="100000"/>
              <a:buChar char="•"/>
            </a:pPr>
            <a:r>
              <a:rPr lang="en-US" sz="1050" dirty="0">
                <a:solidFill>
                  <a:srgbClr val="CADCFC"/>
                </a:solidFill>
                <a:latin typeface="Calibri" pitchFamily="34" charset="0"/>
                <a:ea typeface="Calibri" pitchFamily="34" charset="-122"/>
                <a:cs typeface="Calibri" pitchFamily="34" charset="-120"/>
              </a:rPr>
              <a:t>A chronological train/test split, and time-series forecasting (ARIMA, Prophet or LSTM) for genuine demand prediction</a:t>
            </a:r>
            <a:endParaRPr lang="en-US" sz="1050" dirty="0"/>
          </a:p>
          <a:p>
            <a:pPr marL="342900" indent="-342900">
              <a:lnSpc>
                <a:spcPts val="1400"/>
              </a:lnSpc>
              <a:spcAft>
                <a:spcPts val="500"/>
              </a:spcAft>
              <a:buSzPct val="100000"/>
              <a:buChar char="•"/>
            </a:pPr>
            <a:r>
              <a:rPr lang="en-US" sz="1050" dirty="0">
                <a:solidFill>
                  <a:srgbClr val="CADCFC"/>
                </a:solidFill>
                <a:latin typeface="Calibri" pitchFamily="34" charset="0"/>
                <a:ea typeface="Calibri" pitchFamily="34" charset="-122"/>
                <a:cs typeface="Calibri" pitchFamily="34" charset="-120"/>
              </a:rPr>
              <a:t>Probabilistic CLV models such as BG/NBD with Gamma-Gamma, incorporating churn and margin</a:t>
            </a:r>
            <a:endParaRPr lang="en-US" sz="1050" dirty="0"/>
          </a:p>
          <a:p>
            <a:pPr marL="342900" indent="-342900">
              <a:lnSpc>
                <a:spcPts val="1400"/>
              </a:lnSpc>
              <a:spcAft>
                <a:spcPts val="500"/>
              </a:spcAft>
              <a:buSzPct val="100000"/>
              <a:buChar char="•"/>
            </a:pPr>
            <a:r>
              <a:rPr lang="en-US" sz="1050" dirty="0">
                <a:solidFill>
                  <a:srgbClr val="CADCFC"/>
                </a:solidFill>
                <a:latin typeface="Calibri" pitchFamily="34" charset="0"/>
                <a:ea typeface="Calibri" pitchFamily="34" charset="-122"/>
                <a:cs typeface="Calibri" pitchFamily="34" charset="-120"/>
              </a:rPr>
              <a:t>A causal design for discount effects - uplift modelling or a controlled pricing experiment</a:t>
            </a:r>
            <a:endParaRPr lang="en-US" sz="1050" dirty="0"/>
          </a:p>
          <a:p>
            <a:pPr marL="342900" indent="-342900">
              <a:lnSpc>
                <a:spcPts val="1400"/>
              </a:lnSpc>
              <a:spcAft>
                <a:spcPts val="500"/>
              </a:spcAft>
              <a:buSzPct val="100000"/>
              <a:buChar char="•"/>
            </a:pPr>
            <a:r>
              <a:rPr lang="en-US" sz="1050" dirty="0">
                <a:solidFill>
                  <a:srgbClr val="CADCFC"/>
                </a:solidFill>
                <a:latin typeface="Calibri" pitchFamily="34" charset="0"/>
                <a:ea typeface="Calibri" pitchFamily="34" charset="-122"/>
                <a:cs typeface="Calibri" pitchFamily="34" charset="-120"/>
              </a:rPr>
              <a:t>Finer customer segmentation, including RFM-cluster hybrids and segment-specific models</a:t>
            </a:r>
            <a:endParaRPr lang="en-US" sz="1050" dirty="0"/>
          </a:p>
          <a:p>
            <a:pPr marL="342900" indent="-342900">
              <a:lnSpc>
                <a:spcPts val="1400"/>
              </a:lnSpc>
              <a:spcAft>
                <a:spcPts val="500"/>
              </a:spcAft>
              <a:buSzPct val="100000"/>
              <a:buChar char="•"/>
            </a:pPr>
            <a:r>
              <a:rPr lang="en-US" sz="1050" dirty="0">
                <a:solidFill>
                  <a:srgbClr val="CADCFC"/>
                </a:solidFill>
                <a:latin typeface="Calibri" pitchFamily="34" charset="0"/>
                <a:ea typeface="Calibri" pitchFamily="34" charset="-122"/>
                <a:cs typeface="Calibri" pitchFamily="34" charset="-120"/>
              </a:rPr>
              <a:t>Model deployment as an API so predictions can be served rather than replayed offline</a:t>
            </a:r>
            <a:endParaRPr lang="en-US" sz="1050" dirty="0"/>
          </a:p>
          <a:p>
            <a:pPr marL="342900" indent="-342900">
              <a:lnSpc>
                <a:spcPts val="1400"/>
              </a:lnSpc>
              <a:spcAft>
                <a:spcPts val="500"/>
              </a:spcAft>
              <a:buSzPct val="100000"/>
              <a:buChar char="•"/>
            </a:pPr>
            <a:r>
              <a:rPr lang="en-US" sz="1050" dirty="0">
                <a:solidFill>
                  <a:srgbClr val="CADCFC"/>
                </a:solidFill>
                <a:latin typeface="Calibri" pitchFamily="34" charset="0"/>
                <a:ea typeface="Calibri" pitchFamily="34" charset="-122"/>
                <a:cs typeface="Calibri" pitchFamily="34" charset="-120"/>
              </a:rPr>
              <a:t>Scheduled or DirectQuery refresh to move the dashboard from static extracts toward live reporting</a:t>
            </a:r>
            <a:endParaRPr lang="en-US" sz="1050" dirty="0"/>
          </a:p>
        </p:txBody>
      </p:sp>
      <p:sp>
        <p:nvSpPr>
          <p:cNvPr id="10" name="Text 8"/>
          <p:cNvSpPr txBox="1"/>
          <p:nvPr/>
        </p:nvSpPr>
        <p:spPr>
          <a:xfrm>
            <a:off x="502920" y="5870448"/>
            <a:ext cx="11155680" cy="365760"/>
          </a:xfrm>
          <a:prstGeom prst="rect">
            <a:avLst/>
          </a:prstGeom>
          <a:noFill/>
          <a:ln/>
        </p:spPr>
        <p:txBody>
          <a:bodyPr wrap="square" lIns="0" tIns="0" rIns="0" bIns="0" rtlCol="0" anchor="ctr"/>
          <a:lstStyle/>
          <a:p>
            <a:pPr marL="0" indent="0" algn="ctr">
              <a:buNone/>
            </a:pPr>
            <a:r>
              <a:rPr lang="en-US" sz="1050" i="1" dirty="0">
                <a:solidFill>
                  <a:srgbClr val="8FA3CC"/>
                </a:solidFill>
                <a:latin typeface="Calibri" pitchFamily="34" charset="0"/>
                <a:ea typeface="Calibri" pitchFamily="34" charset="-122"/>
                <a:cs typeface="Calibri" pitchFamily="34" charset="-120"/>
              </a:rPr>
              <a:t>All figures quoted in this presentation were extracted directly from the project output files. Values affected by outlier capping are identified as such.</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5447</Words>
  <Application>Microsoft Office PowerPoint</Application>
  <PresentationFormat>Widescreen</PresentationFormat>
  <Paragraphs>693</Paragraphs>
  <Slides>25</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Analytics - Project Review 2</dc:title>
  <dc:subject>PptxGenJS Presentation</dc:subject>
  <dc:creator>Retail Analytics Project</dc:creator>
  <cp:lastModifiedBy>Sri Hansika Saraf</cp:lastModifiedBy>
  <cp:revision>2</cp:revision>
  <dcterms:created xsi:type="dcterms:W3CDTF">2026-09-18T15:30:54Z</dcterms:created>
  <dcterms:modified xsi:type="dcterms:W3CDTF">2026-09-19T05:37:47Z</dcterms:modified>
</cp:coreProperties>
</file>