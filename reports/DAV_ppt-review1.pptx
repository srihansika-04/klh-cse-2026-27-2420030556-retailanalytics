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6" r:id="rId2"/>
    <p:sldId id="260" r:id="rId3"/>
    <p:sldId id="321" r:id="rId4"/>
    <p:sldId id="278" r:id="rId5"/>
    <p:sldId id="332" r:id="rId6"/>
    <p:sldId id="330" r:id="rId7"/>
    <p:sldId id="331" r:id="rId8"/>
    <p:sldId id="322" r:id="rId9"/>
    <p:sldId id="323" r:id="rId10"/>
    <p:sldId id="324" r:id="rId11"/>
    <p:sldId id="277" r:id="rId12"/>
    <p:sldId id="329" r:id="rId13"/>
    <p:sldId id="327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4D873-47AE-45E8-91B4-BF219562CD3D}" v="4" dt="2026-08-16T04:57:48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Hansika Saraf" userId="853678b18a0aa9d5" providerId="LiveId" clId="{D173137B-D079-4E81-8106-2102DAC5600E}"/>
    <pc:docChg chg="modSld">
      <pc:chgData name="Sri Hansika Saraf" userId="853678b18a0aa9d5" providerId="LiveId" clId="{D173137B-D079-4E81-8106-2102DAC5600E}" dt="2026-08-16T04:58:18.954" v="10" actId="14734"/>
      <pc:docMkLst>
        <pc:docMk/>
      </pc:docMkLst>
      <pc:sldChg chg="modSp mod">
        <pc:chgData name="Sri Hansika Saraf" userId="853678b18a0aa9d5" providerId="LiveId" clId="{D173137B-D079-4E81-8106-2102DAC5600E}" dt="2026-08-16T04:58:18.954" v="10" actId="14734"/>
        <pc:sldMkLst>
          <pc:docMk/>
          <pc:sldMk cId="523035505" sldId="329"/>
        </pc:sldMkLst>
        <pc:graphicFrameChg chg="mod modGraphic">
          <ac:chgData name="Sri Hansika Saraf" userId="853678b18a0aa9d5" providerId="LiveId" clId="{D173137B-D079-4E81-8106-2102DAC5600E}" dt="2026-08-16T04:58:18.954" v="10" actId="14734"/>
          <ac:graphicFrameMkLst>
            <pc:docMk/>
            <pc:sldMk cId="523035505" sldId="329"/>
            <ac:graphicFrameMk id="8" creationId="{6FE47FC0-6FED-296C-142B-172B6CB3FF7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Review-1 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i="1" dirty="0">
                <a:latin typeface="Times New Roman" panose="02020603050405020304" pitchFamily="18" charset="0"/>
                <a:cs typeface="Times New Roman" pitchFamily="18" charset="0"/>
              </a:rPr>
              <a:t>Project title: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Analytics and Customer Intelligence Framework Using Machine Learning and Business Intelligence</a:t>
            </a:r>
            <a:endParaRPr lang="en-US" sz="2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25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8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Submitted 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8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No:9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IN" sz="8000" dirty="0">
                <a:solidFill>
                  <a:schemeClr val="tx1"/>
                </a:solidFill>
              </a:rPr>
              <a:t>Sri Hansika-2420030556</a:t>
            </a:r>
            <a:br>
              <a:rPr lang="en-IN" sz="8000" dirty="0">
                <a:solidFill>
                  <a:schemeClr val="tx1"/>
                </a:solidFill>
              </a:rPr>
            </a:br>
            <a:br>
              <a:rPr lang="en-IN" sz="8000" dirty="0">
                <a:solidFill>
                  <a:schemeClr val="tx1"/>
                </a:solidFill>
              </a:rPr>
            </a:br>
            <a:r>
              <a:rPr lang="en-IN" sz="8000" dirty="0">
                <a:solidFill>
                  <a:schemeClr val="tx1"/>
                </a:solidFill>
              </a:rPr>
              <a:t>J. Madhura-2420030535</a:t>
            </a:r>
            <a:br>
              <a:rPr lang="en-IN" sz="8000" dirty="0">
                <a:solidFill>
                  <a:schemeClr val="tx1"/>
                </a:solidFill>
              </a:rPr>
            </a:br>
            <a:br>
              <a:rPr lang="en-IN" sz="8000" dirty="0">
                <a:solidFill>
                  <a:schemeClr val="tx1"/>
                </a:solidFill>
              </a:rPr>
            </a:br>
            <a:r>
              <a:rPr lang="en-IN" sz="8000" dirty="0">
                <a:solidFill>
                  <a:schemeClr val="tx1"/>
                </a:solidFill>
              </a:rPr>
              <a:t>R. Lokesh-2420030534</a:t>
            </a:r>
            <a:br>
              <a:rPr lang="en-IN" sz="8000" dirty="0">
                <a:solidFill>
                  <a:schemeClr val="tx1"/>
                </a:solidFill>
              </a:rPr>
            </a:br>
            <a:br>
              <a:rPr lang="en-IN" sz="8000" dirty="0">
                <a:solidFill>
                  <a:schemeClr val="tx1"/>
                </a:solidFill>
              </a:rPr>
            </a:br>
            <a:r>
              <a:rPr lang="en-IN" sz="8000" dirty="0">
                <a:solidFill>
                  <a:schemeClr val="tx1"/>
                </a:solidFill>
              </a:rPr>
              <a:t>G. Charan-2420080042</a:t>
            </a:r>
          </a:p>
          <a:p>
            <a:pPr>
              <a:lnSpc>
                <a:spcPct val="80000"/>
              </a:lnSpc>
              <a:defRPr/>
            </a:pPr>
            <a:endParaRPr lang="en-US" sz="8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8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Esteemed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8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Mrs. </a:t>
            </a:r>
            <a:r>
              <a:rPr lang="en-US" sz="8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Dr.Swapnika</a:t>
            </a:r>
            <a:endParaRPr lang="en-US" sz="8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8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8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8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51053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Research gaps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Novelty/Innovation/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Feseability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Tools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plan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KL University - KL University added a ...">
            <a:extLst>
              <a:ext uri="{FF2B5EF4-FFF2-40B4-BE49-F238E27FC236}">
                <a16:creationId xmlns:a16="http://schemas.microsoft.com/office/drawing/2014/main" id="{154AAD93-F561-3EB7-AC6D-1CA95D4F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Retail organizations generate large volumes of sales data, but traditional reporting provides limited actionable insights. Existing approaches mainly focus on sales prediction and customer segmentation. There is a need for an integrated framework combining ML-based sales prediction, CLV analysis, and What-If Business Analysis to support better retail decision-making.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6B3E532B-262E-C51E-B262-51474FA4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047"/>
            <a:ext cx="8229600" cy="4873118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dirty="0"/>
              <a:t>The project proposes a </a:t>
            </a:r>
            <a:r>
              <a:rPr lang="en-IN" b="1" dirty="0"/>
              <a:t>Retail Sales Analytics and Customer Intelligence Framework</a:t>
            </a:r>
            <a:r>
              <a:rPr lang="en-IN" dirty="0"/>
              <a:t> that transforms retail sales data into actionable business insights. 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Superstore Sales Dataset</a:t>
            </a:r>
            <a:r>
              <a:rPr lang="en-IN" dirty="0"/>
              <a:t> is </a:t>
            </a:r>
            <a:r>
              <a:rPr lang="en-IN" dirty="0" err="1"/>
              <a:t>preprocessed</a:t>
            </a:r>
            <a:r>
              <a:rPr lang="en-IN" dirty="0"/>
              <a:t> using Python, NumPy, and Pandas, followed by EDA and statistical analysis using Matplotlib and Seaborn to identify sales, customer, product, and regional patterns. </a:t>
            </a:r>
          </a:p>
          <a:p>
            <a:pPr lvl="0"/>
            <a:r>
              <a:rPr lang="en-IN" dirty="0"/>
              <a:t>Machine learning models including </a:t>
            </a:r>
            <a:r>
              <a:rPr lang="en-IN" b="1" dirty="0"/>
              <a:t>Linear Regression, Decision Tree, Random Forest, </a:t>
            </a:r>
            <a:r>
              <a:rPr lang="en-IN" b="1" dirty="0" err="1"/>
              <a:t>XGBoost</a:t>
            </a:r>
            <a:r>
              <a:rPr lang="en-IN" b="1" dirty="0"/>
              <a:t>, and K-Means</a:t>
            </a:r>
            <a:r>
              <a:rPr lang="en-IN" dirty="0"/>
              <a:t> are applied for sales prediction and customer segmentation, with </a:t>
            </a:r>
            <a:r>
              <a:rPr lang="en-IN" b="1" dirty="0" err="1"/>
              <a:t>XGBoost</a:t>
            </a:r>
            <a:r>
              <a:rPr lang="en-IN" b="1" dirty="0"/>
              <a:t> used as the primary model</a:t>
            </a:r>
            <a:r>
              <a:rPr lang="en-IN" dirty="0"/>
              <a:t> for sales prediction. </a:t>
            </a:r>
          </a:p>
          <a:p>
            <a:pPr lvl="0"/>
            <a:r>
              <a:rPr lang="en-IN" dirty="0"/>
              <a:t>The framework incorporates </a:t>
            </a:r>
            <a:r>
              <a:rPr lang="en-IN" b="1" dirty="0"/>
              <a:t>Customer Lifetime Value (CLV) Prediction</a:t>
            </a:r>
            <a:r>
              <a:rPr lang="en-IN" dirty="0"/>
              <a:t> to estimate future customer value using purchasing </a:t>
            </a:r>
            <a:r>
              <a:rPr lang="en-IN" dirty="0" err="1"/>
              <a:t>behavior</a:t>
            </a:r>
            <a:r>
              <a:rPr lang="en-IN" dirty="0"/>
              <a:t> and RFM-based features. </a:t>
            </a:r>
          </a:p>
          <a:p>
            <a:pPr lvl="0"/>
            <a:r>
              <a:rPr lang="en-IN" b="1" dirty="0"/>
              <a:t>What-If Business Analysis</a:t>
            </a:r>
            <a:r>
              <a:rPr lang="en-IN" dirty="0"/>
              <a:t> is integrated with Power BI to </a:t>
            </a:r>
            <a:r>
              <a:rPr lang="en-IN" dirty="0" err="1"/>
              <a:t>analyze</a:t>
            </a:r>
            <a:r>
              <a:rPr lang="en-IN" dirty="0"/>
              <a:t> how changes in variables such as discount and quantity can affect predicted sales, supporting scenario-based decision-making.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1E575F83-B8A9-AC71-4FC2-2CD9F72D2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BC9E-05C6-C02A-EFDE-6541EB8A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B51E-3AC4-E768-9CE9-88ED858A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16DA86F4-51E4-BEBE-327C-309CB7D83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DBBFB7-2BB6-4C84-25F9-3488E1CCC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45" y="1600200"/>
            <a:ext cx="599171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4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EEE2-8931-6A1D-4942-EA6A243F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AA26C-7320-79B5-6683-80FB9091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25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2E4FA72C-FF5F-D186-3C6C-07387BFDD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FF5608C-BB5C-095E-3DAD-6A3E23861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010565"/>
              </p:ext>
            </p:extLst>
          </p:nvPr>
        </p:nvGraphicFramePr>
        <p:xfrm>
          <a:off x="685800" y="914400"/>
          <a:ext cx="800100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833">
                  <a:extLst>
                    <a:ext uri="{9D8B030D-6E8A-4147-A177-3AD203B41FA5}">
                      <a16:colId xmlns:a16="http://schemas.microsoft.com/office/drawing/2014/main" val="736436225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131851015"/>
                    </a:ext>
                  </a:extLst>
                </a:gridCol>
                <a:gridCol w="874183">
                  <a:extLst>
                    <a:ext uri="{9D8B030D-6E8A-4147-A177-3AD203B41FA5}">
                      <a16:colId xmlns:a16="http://schemas.microsoft.com/office/drawing/2014/main" val="3928324700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1766211352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3912732013"/>
                    </a:ext>
                  </a:extLst>
                </a:gridCol>
              </a:tblGrid>
              <a:tr h="276088">
                <a:tc>
                  <a:txBody>
                    <a:bodyPr/>
                    <a:lstStyle/>
                    <a:p>
                      <a:r>
                        <a:rPr lang="en-IN" sz="1200" dirty="0" err="1"/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Paper Title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Key Focus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Limitations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222421"/>
                  </a:ext>
                </a:extLst>
              </a:tr>
              <a:tr h="104913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Unlocking Retail Insights: Predictive </a:t>
                      </a:r>
                      <a:r>
                        <a:rPr lang="en-IN" sz="1200" dirty="0" err="1"/>
                        <a:t>Modeling</a:t>
                      </a:r>
                      <a:r>
                        <a:rPr lang="en-IN" sz="1200" dirty="0"/>
                        <a:t> and Customer Segmentation Through Data Analytics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2025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Predictive </a:t>
                      </a:r>
                      <a:r>
                        <a:rPr lang="en-IN" sz="1200" dirty="0" err="1"/>
                        <a:t>modeling</a:t>
                      </a:r>
                      <a:r>
                        <a:rPr lang="en-IN" sz="1200" dirty="0"/>
                        <a:t> and customer segmentation using ML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Focuses mainly on prediction and segmentation; limited integration with BI dashboards, SQL, and actionable business recommendations.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32966"/>
                  </a:ext>
                </a:extLst>
              </a:tr>
              <a:tr h="85587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Predictive </a:t>
                      </a:r>
                      <a:r>
                        <a:rPr lang="en-IN" sz="1200" dirty="0" err="1"/>
                        <a:t>modeling</a:t>
                      </a:r>
                      <a:r>
                        <a:rPr lang="en-IN" sz="1200" dirty="0"/>
                        <a:t> and customer segmentation using ML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2025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Comparison and evaluation of ML models for sales forecasting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Focuses primarily on ML model comparison; limited customer intelligence, visualization, and recommendation capabilities.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6861"/>
                  </a:ext>
                </a:extLst>
              </a:tr>
              <a:tr h="104913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Customer Profiling, Segmentation, and Sales Prediction Using AI in Direct Marketing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2025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AI-based customer profiling, segmentation and sales prediction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Focuses on direct marketing; limited emphasis on product performance, regional analysis, inventory optimization, and BI integration.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299202"/>
                  </a:ext>
                </a:extLst>
              </a:tr>
              <a:tr h="124239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 Dynamic Customer Segmentation Approach by Combining LRFMS and Multivariate Time Series Clustering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Dynamic customer segmentation using LRFMS and time-series clustering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Mainly focuses on customer segmentation; does not extensively address sales prediction, product analysis, or end-to-end business intelligence.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414433"/>
                  </a:ext>
                </a:extLst>
              </a:tr>
              <a:tr h="124239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 Comprehensive Framework for Customer Segmentation and Predictive Analytics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2025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Integrated customer segmentation and predictive analytics framework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Integrates segmentation and prediction but has limited emphasis on SQL, Power BI, explainability, and automated business recommendations.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702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69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E505-832C-5FB4-0A30-0706C19C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CBA7-8559-8BF0-DFF3-45913D94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B2D2A993-E9EE-737F-E0DB-A3BB3ED94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F3DFD38-AA92-FD1E-5724-29C8775E5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506546"/>
              </p:ext>
            </p:extLst>
          </p:nvPr>
        </p:nvGraphicFramePr>
        <p:xfrm>
          <a:off x="457200" y="1219200"/>
          <a:ext cx="8229600" cy="546779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4265766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10986038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997536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44993383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70910953"/>
                    </a:ext>
                  </a:extLst>
                </a:gridCol>
              </a:tblGrid>
              <a:tr h="488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Focus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8565"/>
                  </a:ext>
                </a:extLst>
              </a:tr>
              <a:tr h="107403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Revolutionizing Retail Analytics: Advancing Inventory and Customer Insights with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inventory management, customer insights and demand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inventory and demand forecasting; limited integration of comprehensive sales analytics, model comparison, and business recommendations.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08526"/>
                  </a:ext>
                </a:extLst>
              </a:tr>
              <a:tr h="107403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Consumer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the Retail Sector Using RFM Segmentation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RFM-based customer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 and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customer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RFM segmentation; limited product, regional, sales forecasting, and dashboard integration.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861582"/>
                  </a:ext>
                </a:extLst>
              </a:tr>
              <a:tr h="87875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Exploration of Clustering Algorithms for Customer Segmentation in the UK Retail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of clustering algorithms for customer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clustering and customer segmentation; limited predictive sales analysis and integration with broader retail analytics.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860078"/>
                  </a:ext>
                </a:extLst>
              </a:tr>
              <a:tr h="87875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Segmentation with Clustering Methods in the Retail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 techniques and customer-based marketing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Concentrates on segmentation and marketing; limited sales prediction, product analysis, SQL integration, and BI dashboards.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850119"/>
                  </a:ext>
                </a:extLst>
              </a:tr>
              <a:tr h="107403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Omni-channel Customer Segmentation: A Personalized Customer Journey Perspective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Omni-channel customer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personalized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customer segmentation and personalization; limited inventory, regional performance, sales forecasting, and recommendation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56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46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End-to-End Analytics Framework Integrating Python, Preprocessing, EDA, ML, SQL &amp; Power    BI To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&amp; Product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enhance Interactive Dashboards for Sales, Customer, Product &amp; Regional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Customer Lifetime Value (CLV), by Estimate future customer value using historical purchasing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RFM-based features.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impact of changes in business variables such as discount and quantity on predicted sales using interactive Power BI scenarios.</a:t>
            </a:r>
          </a:p>
          <a:p>
            <a:r>
              <a:rPr lang="en-IN" dirty="0"/>
              <a:t>To develop and evaluate the proposed Retail Sales and Customer Intelligence Model (RSCIM) using </a:t>
            </a:r>
            <a:r>
              <a:rPr lang="en-IN" dirty="0" err="1"/>
              <a:t>XGBoost</a:t>
            </a:r>
            <a:r>
              <a:rPr lang="en-IN" dirty="0"/>
              <a:t> as the primary machine-learning algorithm for Sales Prediction.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27453570-3BFE-3A77-1CEE-43D49BE1A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Research gaps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dirty="0"/>
              <a:t>Lack of comprehensive integration of Data Analytics, ML, SQL &amp; BI. </a:t>
            </a:r>
          </a:p>
          <a:p>
            <a:pPr lvl="0"/>
            <a:r>
              <a:rPr lang="en-IN" sz="2000" dirty="0"/>
              <a:t>Insufficient customer and product intelligence alongside sales prediction. </a:t>
            </a:r>
          </a:p>
          <a:p>
            <a:pPr lvl="0"/>
            <a:r>
              <a:rPr lang="en-IN" sz="2000" dirty="0"/>
              <a:t>Inadequate comparative evaluation of multiple ML models. </a:t>
            </a:r>
          </a:p>
          <a:p>
            <a:pPr lvl="0"/>
            <a:r>
              <a:rPr lang="en-IN" sz="2000" dirty="0"/>
              <a:t>Limited focus on future customer value prediction, such as CLV. </a:t>
            </a:r>
          </a:p>
          <a:p>
            <a:pPr lvl="0"/>
            <a:r>
              <a:rPr lang="en-IN" sz="2000" dirty="0"/>
              <a:t>Insufficient interactive scenario-based analysis for business decision-making. </a:t>
            </a:r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7B124834-835C-413E-6C86-F2D9E7224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463" y="0"/>
            <a:ext cx="1042063" cy="1046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6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Novelty</a:t>
            </a:r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D8235238-4868-4893-E0D5-8AFC826B0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24"/>
            <a:ext cx="990600" cy="9944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2126AB-40CB-B825-E019-6D3957C00910}"/>
              </a:ext>
            </a:extLst>
          </p:cNvPr>
          <p:cNvSpPr txBox="1"/>
          <p:nvPr/>
        </p:nvSpPr>
        <p:spPr>
          <a:xfrm>
            <a:off x="448574" y="1676400"/>
            <a:ext cx="8008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Customer Lifetime Value (CLV) Prediction</a:t>
            </a:r>
            <a:r>
              <a:rPr lang="en-IN" dirty="0"/>
              <a:t> to estimate the future value of customers based on their purchasing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RFM-based features</a:t>
            </a:r>
            <a:r>
              <a:rPr lang="en-IN" dirty="0"/>
              <a:t> such as Recency, Frequency, and Monetary value for customer value estimation.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Identifies </a:t>
            </a:r>
            <a:r>
              <a:rPr lang="en-IN" b="1" dirty="0"/>
              <a:t>high-value, medium-value, and low-value customers</a:t>
            </a:r>
            <a:r>
              <a:rPr lang="en-IN" dirty="0"/>
              <a:t> based on predicted CLV.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improved </a:t>
            </a:r>
            <a:r>
              <a:rPr lang="en-IN" b="1" dirty="0"/>
              <a:t>customer retention and targeted marketing strategies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Scenario-Based Business Analysis</a:t>
            </a:r>
            <a:r>
              <a:rPr lang="en-IN" dirty="0"/>
              <a:t> to evaluate the impact of changing business variables on predicted sales.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Allows users to modify parameters such as </a:t>
            </a:r>
            <a:r>
              <a:rPr lang="en-IN" b="1" dirty="0"/>
              <a:t>discount and quantity</a:t>
            </a:r>
            <a:r>
              <a:rPr lang="en-IN" dirty="0"/>
              <a:t> and observe changes in predicted sales.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interactive scenario analysis</a:t>
            </a:r>
            <a:r>
              <a:rPr lang="en-IN" dirty="0"/>
              <a:t> through Power BI.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Integrates </a:t>
            </a:r>
            <a:r>
              <a:rPr lang="en-IN" b="1" dirty="0"/>
              <a:t>predictive customer intelligence with interactive business decision-making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Feasibility of the Project</a:t>
            </a:r>
            <a:endParaRPr lang="en-IN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Technical Feasibility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project can be developed using Python, Pandas, NumPy, Matplotlib, Seaborn, Scikit-learn, MySQL, and Power BI.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Superstore dataset provides sufficient sales, customer, product, profit, and regional data.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required tools are accessible and suitable for the proposed analytics and ML tasks.</a:t>
            </a:r>
          </a:p>
          <a:p>
            <a:pPr marL="0" indent="0">
              <a:buNone/>
            </a:pPr>
            <a:b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Economic Feasibility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 tools used are free or have accessible academic/free versions.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dataset is publicly available.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 specialized hardware is required.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Development can be performed using existing computers.</a:t>
            </a:r>
          </a:p>
          <a:p>
            <a:pPr marL="0" indent="0">
              <a:buNone/>
            </a:pP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Operational Feasibility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system provides easy-to-understand Power BI dashboards and business insights.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can help retailers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sales, customers, products, and regions.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recommendation module can support data-driven decision-making.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Schedule Feasibility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project can be completed in phases: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Data Collection → Preprocessing → EDA → ML → SQL → Recommendation Module → Power BI → Testing &amp; Documentation.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Each phase can be developed and integrated progressively.</a:t>
            </a:r>
          </a:p>
          <a:p>
            <a:pPr marL="0" indent="0">
              <a:buNone/>
            </a:pP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9AD860E8-A95C-36B1-4988-A1BECA1F7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313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1B9F-3FEE-89E3-FAEA-D94DF9C2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"/>
            <a:ext cx="5638800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Project Plan</a:t>
            </a:r>
            <a:endParaRPr lang="en-IN" b="1" dirty="0">
              <a:solidFill>
                <a:schemeClr val="accent1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FE47FC0-6FED-296C-142B-172B6CB3F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443358"/>
              </p:ext>
            </p:extLst>
          </p:nvPr>
        </p:nvGraphicFramePr>
        <p:xfrm>
          <a:off x="152400" y="609601"/>
          <a:ext cx="8458200" cy="5597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2802764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37444669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268317582"/>
                    </a:ext>
                  </a:extLst>
                </a:gridCol>
              </a:tblGrid>
              <a:tr h="3531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30049"/>
                  </a:ext>
                </a:extLst>
              </a:tr>
              <a:tr h="86600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Collection &amp; Preprocessing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and clean the Superstore dataset by handling missing values, duplicates, outliers, and transforming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785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Phase-2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 &amp; 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sales, customers, products, and regions using statistical methods and visualizations.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834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ML models for sales prediction and customer segmentation, then evaluate and compare their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941888"/>
                  </a:ext>
                </a:extLst>
              </a:tr>
              <a:tr h="9640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&amp; Business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data in MySQL, perform queries and analysis, and create Power BI dashboards for business insights.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9773"/>
                  </a:ext>
                </a:extLst>
              </a:tr>
              <a:tr h="6180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Phase-5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CLV, Scenario Analysis &amp; Finalization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Develop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Lifetime Value (CLV) Prediction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Perform RFM-based customer value analysis • Identify High/Medium/Low-value customers • Implement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Scenario-Based Business Analysis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impact of discount and quantity on predicted sales • Integrate all modules • Validate results • Final report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47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3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 rot="19821540"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1377</Words>
  <Application>Microsoft Office PowerPoint</Application>
  <PresentationFormat>On-screen Show (4:3)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A Project Review-1      Project title: Retail Sales Analytics and Customer Intelligence Framework Using Machine Learning and Business Intelligence</vt:lpstr>
      <vt:lpstr>Outline of the presentation</vt:lpstr>
      <vt:lpstr>Problem Statement </vt:lpstr>
      <vt:lpstr>Abstract</vt:lpstr>
      <vt:lpstr>Project flow diagram</vt:lpstr>
      <vt:lpstr>Literature Survey</vt:lpstr>
      <vt:lpstr>Literature Survey</vt:lpstr>
      <vt:lpstr>Objectives with justification </vt:lpstr>
      <vt:lpstr>Research gaps </vt:lpstr>
      <vt:lpstr>Novelty</vt:lpstr>
      <vt:lpstr>Feasibility of the Project</vt:lpstr>
      <vt:lpstr>Project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Sri Hansika Saraf</cp:lastModifiedBy>
  <cp:revision>205</cp:revision>
  <dcterms:created xsi:type="dcterms:W3CDTF">2006-08-16T00:00:00Z</dcterms:created>
  <dcterms:modified xsi:type="dcterms:W3CDTF">2026-08-16T04:58:25Z</dcterms:modified>
</cp:coreProperties>
</file>